
<file path=[Content_Types].xml><?xml version="1.0" encoding="utf-8"?>
<Types xmlns="http://schemas.openxmlformats.org/package/2006/content-types">
  <Override PartName="/ppt/slides/slide6.xml" ContentType="application/vnd.openxmlformats-officedocument.presentationml.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68" r:id="rId3"/>
    <p:sldId id="257" r:id="rId4"/>
    <p:sldId id="260" r:id="rId5"/>
    <p:sldId id="281" r:id="rId6"/>
    <p:sldId id="284" r:id="rId7"/>
    <p:sldId id="273" r:id="rId8"/>
    <p:sldId id="277" r:id="rId9"/>
    <p:sldId id="262" r:id="rId10"/>
    <p:sldId id="285" r:id="rId11"/>
    <p:sldId id="287" r:id="rId12"/>
    <p:sldId id="288" r:id="rId13"/>
    <p:sldId id="289" r:id="rId14"/>
    <p:sldId id="290" r:id="rId15"/>
    <p:sldId id="286" r:id="rId16"/>
    <p:sldId id="291" r:id="rId17"/>
    <p:sldId id="292" r:id="rId18"/>
    <p:sldId id="293" r:id="rId19"/>
    <p:sldId id="272" r:id="rId20"/>
    <p:sldId id="279" r:id="rId21"/>
    <p:sldId id="264" r:id="rId22"/>
    <p:sldId id="275" r:id="rId23"/>
    <p:sldId id="265" r:id="rId24"/>
    <p:sldId id="266" r:id="rId25"/>
    <p:sldId id="267" r:id="rId26"/>
  </p:sldIdLst>
  <p:sldSz cx="7556500" cy="10693400"/>
  <p:notesSz cx="7556500" cy="10693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07" autoAdjust="0"/>
    <p:restoredTop sz="94595" autoAdjust="0"/>
  </p:normalViewPr>
  <p:slideViewPr>
    <p:cSldViewPr>
      <p:cViewPr>
        <p:scale>
          <a:sx n="50" d="100"/>
          <a:sy n="50" d="100"/>
        </p:scale>
        <p:origin x="-2635"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35B733-5B87-49B2-B510-283F3E9809AD}" type="doc">
      <dgm:prSet loTypeId="urn:microsoft.com/office/officeart/2005/8/layout/bProcess4" loCatId="process" qsTypeId="urn:microsoft.com/office/officeart/2005/8/quickstyle/simple1" qsCatId="simple" csTypeId="urn:microsoft.com/office/officeart/2005/8/colors/accent1_2" csCatId="accent1"/>
      <dgm:spPr/>
      <dgm:t>
        <a:bodyPr/>
        <a:lstStyle/>
        <a:p>
          <a:endParaRPr lang="en-US"/>
        </a:p>
      </dgm:t>
    </dgm:pt>
    <dgm:pt modelId="{BA37C853-C896-49C1-8D23-53F37A0B56F1}">
      <dgm:prSet custT="1"/>
      <dgm:spPr/>
      <dgm:t>
        <a:bodyPr/>
        <a:lstStyle/>
        <a:p>
          <a:r>
            <a:rPr lang="en-US" sz="1200" dirty="0" smtClean="0">
              <a:latin typeface="Times New Roman" pitchFamily="18" charset="0"/>
              <a:cs typeface="Times New Roman" pitchFamily="18" charset="0"/>
            </a:rPr>
            <a:t>Finger print Sensor</a:t>
          </a:r>
          <a:endParaRPr lang="en-US" sz="1200" dirty="0">
            <a:latin typeface="Times New Roman" pitchFamily="18" charset="0"/>
            <a:cs typeface="Times New Roman" pitchFamily="18" charset="0"/>
          </a:endParaRPr>
        </a:p>
      </dgm:t>
    </dgm:pt>
    <dgm:pt modelId="{1FA23A51-9682-4BB6-BAB8-60AC77179131}" type="parTrans" cxnId="{6C48AC2B-E8CB-4BA1-A0F3-4A1B1E8DEEDC}">
      <dgm:prSet/>
      <dgm:spPr/>
      <dgm:t>
        <a:bodyPr/>
        <a:lstStyle/>
        <a:p>
          <a:endParaRPr lang="en-US"/>
        </a:p>
      </dgm:t>
    </dgm:pt>
    <dgm:pt modelId="{A378986F-B12C-42C0-820B-1554583E801D}" type="sibTrans" cxnId="{6C48AC2B-E8CB-4BA1-A0F3-4A1B1E8DEEDC}">
      <dgm:prSet/>
      <dgm:spPr/>
      <dgm:t>
        <a:bodyPr/>
        <a:lstStyle/>
        <a:p>
          <a:endParaRPr lang="en-US"/>
        </a:p>
      </dgm:t>
    </dgm:pt>
    <dgm:pt modelId="{BC13C280-1A31-41F3-B697-CE74EDEFBCD5}">
      <dgm:prSet custT="1"/>
      <dgm:spPr/>
      <dgm:t>
        <a:bodyPr/>
        <a:lstStyle/>
        <a:p>
          <a:r>
            <a:rPr lang="en-US" sz="1200" dirty="0" err="1" smtClean="0">
              <a:latin typeface="Times New Roman" pitchFamily="18" charset="0"/>
              <a:cs typeface="Times New Roman" pitchFamily="18" charset="0"/>
            </a:rPr>
            <a:t>Arduino</a:t>
          </a:r>
          <a:endParaRPr lang="en-US" sz="1200" dirty="0">
            <a:latin typeface="Times New Roman" pitchFamily="18" charset="0"/>
            <a:cs typeface="Times New Roman" pitchFamily="18" charset="0"/>
          </a:endParaRPr>
        </a:p>
      </dgm:t>
    </dgm:pt>
    <dgm:pt modelId="{364662D6-374A-443A-B7EA-CEB3FC12AC24}" type="parTrans" cxnId="{2CECDED3-4459-4FAD-B9AE-9CCD7B9BFF1F}">
      <dgm:prSet/>
      <dgm:spPr/>
      <dgm:t>
        <a:bodyPr/>
        <a:lstStyle/>
        <a:p>
          <a:endParaRPr lang="en-US"/>
        </a:p>
      </dgm:t>
    </dgm:pt>
    <dgm:pt modelId="{E99C9804-DDD2-47C5-8289-5A632E17E4F1}" type="sibTrans" cxnId="{2CECDED3-4459-4FAD-B9AE-9CCD7B9BFF1F}">
      <dgm:prSet/>
      <dgm:spPr/>
      <dgm:t>
        <a:bodyPr/>
        <a:lstStyle/>
        <a:p>
          <a:endParaRPr lang="en-US"/>
        </a:p>
      </dgm:t>
    </dgm:pt>
    <dgm:pt modelId="{EFEDE8B3-996A-4E40-BE0A-C0D6F1E8648D}">
      <dgm:prSet custT="1"/>
      <dgm:spPr/>
      <dgm:t>
        <a:bodyPr/>
        <a:lstStyle/>
        <a:p>
          <a:r>
            <a:rPr lang="en-US" sz="1200" dirty="0" smtClean="0">
              <a:latin typeface="Times New Roman" pitchFamily="18" charset="0"/>
              <a:cs typeface="Times New Roman" pitchFamily="18" charset="0"/>
            </a:rPr>
            <a:t>5V Relay Module</a:t>
          </a:r>
          <a:endParaRPr lang="en-US" sz="1200" dirty="0">
            <a:latin typeface="Times New Roman" pitchFamily="18" charset="0"/>
            <a:cs typeface="Times New Roman" pitchFamily="18" charset="0"/>
          </a:endParaRPr>
        </a:p>
      </dgm:t>
    </dgm:pt>
    <dgm:pt modelId="{286527C2-9FE8-40FD-B1F7-429AD8B06FD7}" type="parTrans" cxnId="{2E5DF68E-1C54-4E88-80DC-E69457F97FA8}">
      <dgm:prSet/>
      <dgm:spPr/>
      <dgm:t>
        <a:bodyPr/>
        <a:lstStyle/>
        <a:p>
          <a:endParaRPr lang="en-US"/>
        </a:p>
      </dgm:t>
    </dgm:pt>
    <dgm:pt modelId="{851939E6-2F8C-443F-95EB-E3D71BA8186D}" type="sibTrans" cxnId="{2E5DF68E-1C54-4E88-80DC-E69457F97FA8}">
      <dgm:prSet/>
      <dgm:spPr/>
      <dgm:t>
        <a:bodyPr/>
        <a:lstStyle/>
        <a:p>
          <a:endParaRPr lang="en-US"/>
        </a:p>
      </dgm:t>
    </dgm:pt>
    <dgm:pt modelId="{4E17B00F-658C-41FE-A007-DC10F9E37F53}">
      <dgm:prSet custT="1"/>
      <dgm:spPr/>
      <dgm:t>
        <a:bodyPr/>
        <a:lstStyle/>
        <a:p>
          <a:r>
            <a:rPr lang="en-US" sz="1200" dirty="0" smtClean="0">
              <a:latin typeface="Times New Roman" pitchFamily="18" charset="0"/>
              <a:cs typeface="Times New Roman" pitchFamily="18" charset="0"/>
            </a:rPr>
            <a:t>BC547</a:t>
          </a:r>
          <a:endParaRPr lang="en-US" sz="1200" dirty="0">
            <a:latin typeface="Times New Roman" pitchFamily="18" charset="0"/>
            <a:cs typeface="Times New Roman" pitchFamily="18" charset="0"/>
          </a:endParaRPr>
        </a:p>
      </dgm:t>
    </dgm:pt>
    <dgm:pt modelId="{A27551BD-1EDD-4AEC-B43C-A3392DCA3A06}" type="parTrans" cxnId="{6C4FFBEE-2692-4C4F-B495-F663A0E9542F}">
      <dgm:prSet/>
      <dgm:spPr/>
      <dgm:t>
        <a:bodyPr/>
        <a:lstStyle/>
        <a:p>
          <a:endParaRPr lang="en-US"/>
        </a:p>
      </dgm:t>
    </dgm:pt>
    <dgm:pt modelId="{15831E0C-EB29-44A2-A3E9-D2D48E9EA04A}" type="sibTrans" cxnId="{6C4FFBEE-2692-4C4F-B495-F663A0E9542F}">
      <dgm:prSet/>
      <dgm:spPr/>
      <dgm:t>
        <a:bodyPr/>
        <a:lstStyle/>
        <a:p>
          <a:endParaRPr lang="en-US"/>
        </a:p>
      </dgm:t>
    </dgm:pt>
    <dgm:pt modelId="{853AAB11-7633-4830-91FB-2EAAD83A3835}">
      <dgm:prSet custT="1"/>
      <dgm:spPr/>
      <dgm:t>
        <a:bodyPr/>
        <a:lstStyle/>
        <a:p>
          <a:r>
            <a:rPr lang="en-US" sz="1200" b="1" dirty="0" smtClean="0">
              <a:latin typeface="Times New Roman" pitchFamily="18" charset="0"/>
              <a:cs typeface="Times New Roman" pitchFamily="18" charset="0"/>
            </a:rPr>
            <a:t>Laser Light Module</a:t>
          </a:r>
          <a:endParaRPr lang="en-US" sz="1200" dirty="0">
            <a:latin typeface="Times New Roman" pitchFamily="18" charset="0"/>
            <a:cs typeface="Times New Roman" pitchFamily="18" charset="0"/>
          </a:endParaRPr>
        </a:p>
      </dgm:t>
    </dgm:pt>
    <dgm:pt modelId="{AD0D0674-6FD9-4E03-B560-6670F1DCB666}" type="parTrans" cxnId="{9B158EFE-E4C4-4AA0-B71F-A11896973DC7}">
      <dgm:prSet/>
      <dgm:spPr/>
      <dgm:t>
        <a:bodyPr/>
        <a:lstStyle/>
        <a:p>
          <a:endParaRPr lang="en-US"/>
        </a:p>
      </dgm:t>
    </dgm:pt>
    <dgm:pt modelId="{FF4B1BD5-3236-4728-AE6F-C9CDA8BA231E}" type="sibTrans" cxnId="{9B158EFE-E4C4-4AA0-B71F-A11896973DC7}">
      <dgm:prSet/>
      <dgm:spPr/>
      <dgm:t>
        <a:bodyPr/>
        <a:lstStyle/>
        <a:p>
          <a:endParaRPr lang="en-US"/>
        </a:p>
      </dgm:t>
    </dgm:pt>
    <dgm:pt modelId="{6AFD8EAF-08EF-470F-BD58-F91F4AD80361}">
      <dgm:prSet custT="1"/>
      <dgm:spPr/>
      <dgm:t>
        <a:bodyPr/>
        <a:lstStyle/>
        <a:p>
          <a:r>
            <a:rPr lang="en-US" sz="1200" dirty="0" smtClean="0">
              <a:latin typeface="Times New Roman" pitchFamily="18" charset="0"/>
              <a:cs typeface="Times New Roman" pitchFamily="18" charset="0"/>
            </a:rPr>
            <a:t>Laser off    </a:t>
          </a:r>
          <a:endParaRPr lang="en-US" sz="1200" dirty="0">
            <a:latin typeface="Times New Roman" pitchFamily="18" charset="0"/>
            <a:cs typeface="Times New Roman" pitchFamily="18" charset="0"/>
          </a:endParaRPr>
        </a:p>
      </dgm:t>
    </dgm:pt>
    <dgm:pt modelId="{D533B3EF-54A7-4ABF-8CD6-D4A2A7FBA23D}" type="parTrans" cxnId="{EDCA1E6D-E2EB-4BB8-8765-975F1ACDA2F5}">
      <dgm:prSet/>
      <dgm:spPr/>
      <dgm:t>
        <a:bodyPr/>
        <a:lstStyle/>
        <a:p>
          <a:endParaRPr lang="en-US"/>
        </a:p>
      </dgm:t>
    </dgm:pt>
    <dgm:pt modelId="{985B6B7D-FC41-44FF-B5F4-1908F83ED5E8}" type="sibTrans" cxnId="{EDCA1E6D-E2EB-4BB8-8765-975F1ACDA2F5}">
      <dgm:prSet/>
      <dgm:spPr/>
      <dgm:t>
        <a:bodyPr/>
        <a:lstStyle/>
        <a:p>
          <a:endParaRPr lang="en-US"/>
        </a:p>
      </dgm:t>
    </dgm:pt>
    <dgm:pt modelId="{EFA1C6CC-6E32-4C8D-8427-16CB078E20FE}" type="pres">
      <dgm:prSet presAssocID="{0F35B733-5B87-49B2-B510-283F3E9809AD}" presName="Name0" presStyleCnt="0">
        <dgm:presLayoutVars>
          <dgm:dir/>
          <dgm:resizeHandles/>
        </dgm:presLayoutVars>
      </dgm:prSet>
      <dgm:spPr/>
      <dgm:t>
        <a:bodyPr/>
        <a:lstStyle/>
        <a:p>
          <a:endParaRPr lang="en-US"/>
        </a:p>
      </dgm:t>
    </dgm:pt>
    <dgm:pt modelId="{A6DD3786-95FB-4028-9C37-B41EEAE5119E}" type="pres">
      <dgm:prSet presAssocID="{BA37C853-C896-49C1-8D23-53F37A0B56F1}" presName="compNode" presStyleCnt="0"/>
      <dgm:spPr/>
    </dgm:pt>
    <dgm:pt modelId="{957C27A4-4054-4025-B499-BB7B5CACC175}" type="pres">
      <dgm:prSet presAssocID="{BA37C853-C896-49C1-8D23-53F37A0B56F1}" presName="dummyConnPt" presStyleCnt="0"/>
      <dgm:spPr/>
    </dgm:pt>
    <dgm:pt modelId="{C740B09B-B5C4-480C-A034-8EC67D96DBA9}" type="pres">
      <dgm:prSet presAssocID="{BA37C853-C896-49C1-8D23-53F37A0B56F1}" presName="node" presStyleLbl="node1" presStyleIdx="0" presStyleCnt="6">
        <dgm:presLayoutVars>
          <dgm:bulletEnabled val="1"/>
        </dgm:presLayoutVars>
      </dgm:prSet>
      <dgm:spPr/>
      <dgm:t>
        <a:bodyPr/>
        <a:lstStyle/>
        <a:p>
          <a:endParaRPr lang="en-US"/>
        </a:p>
      </dgm:t>
    </dgm:pt>
    <dgm:pt modelId="{B611FE4C-DC6B-49A5-8CD2-7E3F9E15296D}" type="pres">
      <dgm:prSet presAssocID="{A378986F-B12C-42C0-820B-1554583E801D}" presName="sibTrans" presStyleLbl="bgSibTrans2D1" presStyleIdx="0" presStyleCnt="5"/>
      <dgm:spPr/>
      <dgm:t>
        <a:bodyPr/>
        <a:lstStyle/>
        <a:p>
          <a:endParaRPr lang="en-US"/>
        </a:p>
      </dgm:t>
    </dgm:pt>
    <dgm:pt modelId="{40ECB608-84BF-4652-9295-04A46D61146F}" type="pres">
      <dgm:prSet presAssocID="{BC13C280-1A31-41F3-B697-CE74EDEFBCD5}" presName="compNode" presStyleCnt="0"/>
      <dgm:spPr/>
    </dgm:pt>
    <dgm:pt modelId="{559C7334-4E54-4674-8C0B-62C06FC3C92E}" type="pres">
      <dgm:prSet presAssocID="{BC13C280-1A31-41F3-B697-CE74EDEFBCD5}" presName="dummyConnPt" presStyleCnt="0"/>
      <dgm:spPr/>
    </dgm:pt>
    <dgm:pt modelId="{2434C06A-9E74-44A8-8CEA-60F2E3B785C9}" type="pres">
      <dgm:prSet presAssocID="{BC13C280-1A31-41F3-B697-CE74EDEFBCD5}" presName="node" presStyleLbl="node1" presStyleIdx="1" presStyleCnt="6">
        <dgm:presLayoutVars>
          <dgm:bulletEnabled val="1"/>
        </dgm:presLayoutVars>
      </dgm:prSet>
      <dgm:spPr/>
      <dgm:t>
        <a:bodyPr/>
        <a:lstStyle/>
        <a:p>
          <a:endParaRPr lang="en-US"/>
        </a:p>
      </dgm:t>
    </dgm:pt>
    <dgm:pt modelId="{DFBDCEF8-409F-4277-A180-3BF24920D403}" type="pres">
      <dgm:prSet presAssocID="{E99C9804-DDD2-47C5-8289-5A632E17E4F1}" presName="sibTrans" presStyleLbl="bgSibTrans2D1" presStyleIdx="1" presStyleCnt="5"/>
      <dgm:spPr/>
      <dgm:t>
        <a:bodyPr/>
        <a:lstStyle/>
        <a:p>
          <a:endParaRPr lang="en-US"/>
        </a:p>
      </dgm:t>
    </dgm:pt>
    <dgm:pt modelId="{CAEF332B-F1EA-402D-A39D-2268DA619EDD}" type="pres">
      <dgm:prSet presAssocID="{EFEDE8B3-996A-4E40-BE0A-C0D6F1E8648D}" presName="compNode" presStyleCnt="0"/>
      <dgm:spPr/>
    </dgm:pt>
    <dgm:pt modelId="{DB15ABF1-BBA3-493A-AB77-3F4FE74A98AC}" type="pres">
      <dgm:prSet presAssocID="{EFEDE8B3-996A-4E40-BE0A-C0D6F1E8648D}" presName="dummyConnPt" presStyleCnt="0"/>
      <dgm:spPr/>
    </dgm:pt>
    <dgm:pt modelId="{71C64219-2E10-43C7-9D7B-055BDEB8C29B}" type="pres">
      <dgm:prSet presAssocID="{EFEDE8B3-996A-4E40-BE0A-C0D6F1E8648D}" presName="node" presStyleLbl="node1" presStyleIdx="2" presStyleCnt="6" custLinFactNeighborX="2230" custLinFactNeighborY="-513">
        <dgm:presLayoutVars>
          <dgm:bulletEnabled val="1"/>
        </dgm:presLayoutVars>
      </dgm:prSet>
      <dgm:spPr/>
      <dgm:t>
        <a:bodyPr/>
        <a:lstStyle/>
        <a:p>
          <a:endParaRPr lang="en-US"/>
        </a:p>
      </dgm:t>
    </dgm:pt>
    <dgm:pt modelId="{9E2C40CE-DD9B-424B-BB7C-D2722ECB190A}" type="pres">
      <dgm:prSet presAssocID="{851939E6-2F8C-443F-95EB-E3D71BA8186D}" presName="sibTrans" presStyleLbl="bgSibTrans2D1" presStyleIdx="2" presStyleCnt="5"/>
      <dgm:spPr/>
      <dgm:t>
        <a:bodyPr/>
        <a:lstStyle/>
        <a:p>
          <a:endParaRPr lang="en-US"/>
        </a:p>
      </dgm:t>
    </dgm:pt>
    <dgm:pt modelId="{EFB4D1AF-08A3-44A3-AC6D-47DE3677530D}" type="pres">
      <dgm:prSet presAssocID="{4E17B00F-658C-41FE-A007-DC10F9E37F53}" presName="compNode" presStyleCnt="0"/>
      <dgm:spPr/>
    </dgm:pt>
    <dgm:pt modelId="{3A78A91D-E54E-4422-8F8C-1D85A139581B}" type="pres">
      <dgm:prSet presAssocID="{4E17B00F-658C-41FE-A007-DC10F9E37F53}" presName="dummyConnPt" presStyleCnt="0"/>
      <dgm:spPr/>
    </dgm:pt>
    <dgm:pt modelId="{8CD6DED0-5D5E-4176-BB84-01F74A6563D6}" type="pres">
      <dgm:prSet presAssocID="{4E17B00F-658C-41FE-A007-DC10F9E37F53}" presName="node" presStyleLbl="node1" presStyleIdx="3" presStyleCnt="6">
        <dgm:presLayoutVars>
          <dgm:bulletEnabled val="1"/>
        </dgm:presLayoutVars>
      </dgm:prSet>
      <dgm:spPr/>
      <dgm:t>
        <a:bodyPr/>
        <a:lstStyle/>
        <a:p>
          <a:endParaRPr lang="en-US"/>
        </a:p>
      </dgm:t>
    </dgm:pt>
    <dgm:pt modelId="{21576A13-AD65-4469-9988-16F5958714F2}" type="pres">
      <dgm:prSet presAssocID="{15831E0C-EB29-44A2-A3E9-D2D48E9EA04A}" presName="sibTrans" presStyleLbl="bgSibTrans2D1" presStyleIdx="3" presStyleCnt="5"/>
      <dgm:spPr/>
      <dgm:t>
        <a:bodyPr/>
        <a:lstStyle/>
        <a:p>
          <a:endParaRPr lang="en-US"/>
        </a:p>
      </dgm:t>
    </dgm:pt>
    <dgm:pt modelId="{D536922C-749C-47E9-AA8D-B01933A44D92}" type="pres">
      <dgm:prSet presAssocID="{853AAB11-7633-4830-91FB-2EAAD83A3835}" presName="compNode" presStyleCnt="0"/>
      <dgm:spPr/>
    </dgm:pt>
    <dgm:pt modelId="{8969B080-1A16-409C-BAD4-E2E38BA52A20}" type="pres">
      <dgm:prSet presAssocID="{853AAB11-7633-4830-91FB-2EAAD83A3835}" presName="dummyConnPt" presStyleCnt="0"/>
      <dgm:spPr/>
    </dgm:pt>
    <dgm:pt modelId="{870AB90D-FE57-4EA8-8107-69387426120A}" type="pres">
      <dgm:prSet presAssocID="{853AAB11-7633-4830-91FB-2EAAD83A3835}" presName="node" presStyleLbl="node1" presStyleIdx="4" presStyleCnt="6">
        <dgm:presLayoutVars>
          <dgm:bulletEnabled val="1"/>
        </dgm:presLayoutVars>
      </dgm:prSet>
      <dgm:spPr/>
      <dgm:t>
        <a:bodyPr/>
        <a:lstStyle/>
        <a:p>
          <a:endParaRPr lang="en-US"/>
        </a:p>
      </dgm:t>
    </dgm:pt>
    <dgm:pt modelId="{77BA9501-AD97-4ABA-A586-6101215FEBBF}" type="pres">
      <dgm:prSet presAssocID="{FF4B1BD5-3236-4728-AE6F-C9CDA8BA231E}" presName="sibTrans" presStyleLbl="bgSibTrans2D1" presStyleIdx="4" presStyleCnt="5"/>
      <dgm:spPr/>
      <dgm:t>
        <a:bodyPr/>
        <a:lstStyle/>
        <a:p>
          <a:endParaRPr lang="en-US"/>
        </a:p>
      </dgm:t>
    </dgm:pt>
    <dgm:pt modelId="{DC35B21D-EE52-4282-B4DB-41EEFC50D823}" type="pres">
      <dgm:prSet presAssocID="{6AFD8EAF-08EF-470F-BD58-F91F4AD80361}" presName="compNode" presStyleCnt="0"/>
      <dgm:spPr/>
    </dgm:pt>
    <dgm:pt modelId="{25937FF4-80CB-4631-B7B9-0D7C5BE44010}" type="pres">
      <dgm:prSet presAssocID="{6AFD8EAF-08EF-470F-BD58-F91F4AD80361}" presName="dummyConnPt" presStyleCnt="0"/>
      <dgm:spPr/>
    </dgm:pt>
    <dgm:pt modelId="{CCCFB876-2F4B-407C-BB86-0DE1E44CED9A}" type="pres">
      <dgm:prSet presAssocID="{6AFD8EAF-08EF-470F-BD58-F91F4AD80361}" presName="node" presStyleLbl="node1" presStyleIdx="5" presStyleCnt="6">
        <dgm:presLayoutVars>
          <dgm:bulletEnabled val="1"/>
        </dgm:presLayoutVars>
      </dgm:prSet>
      <dgm:spPr/>
      <dgm:t>
        <a:bodyPr/>
        <a:lstStyle/>
        <a:p>
          <a:endParaRPr lang="en-US"/>
        </a:p>
      </dgm:t>
    </dgm:pt>
  </dgm:ptLst>
  <dgm:cxnLst>
    <dgm:cxn modelId="{C524F89F-A5A1-41C6-A3C6-3A71EBF808A0}" type="presOf" srcId="{BA37C853-C896-49C1-8D23-53F37A0B56F1}" destId="{C740B09B-B5C4-480C-A034-8EC67D96DBA9}" srcOrd="0" destOrd="0" presId="urn:microsoft.com/office/officeart/2005/8/layout/bProcess4"/>
    <dgm:cxn modelId="{2CECDED3-4459-4FAD-B9AE-9CCD7B9BFF1F}" srcId="{0F35B733-5B87-49B2-B510-283F3E9809AD}" destId="{BC13C280-1A31-41F3-B697-CE74EDEFBCD5}" srcOrd="1" destOrd="0" parTransId="{364662D6-374A-443A-B7EA-CEB3FC12AC24}" sibTransId="{E99C9804-DDD2-47C5-8289-5A632E17E4F1}"/>
    <dgm:cxn modelId="{2418FF87-29C8-4A7C-B25B-DC35D32B3497}" type="presOf" srcId="{6AFD8EAF-08EF-470F-BD58-F91F4AD80361}" destId="{CCCFB876-2F4B-407C-BB86-0DE1E44CED9A}" srcOrd="0" destOrd="0" presId="urn:microsoft.com/office/officeart/2005/8/layout/bProcess4"/>
    <dgm:cxn modelId="{472F67BD-8B6C-4CDA-81CF-A1FC5C743FD8}" type="presOf" srcId="{0F35B733-5B87-49B2-B510-283F3E9809AD}" destId="{EFA1C6CC-6E32-4C8D-8427-16CB078E20FE}" srcOrd="0" destOrd="0" presId="urn:microsoft.com/office/officeart/2005/8/layout/bProcess4"/>
    <dgm:cxn modelId="{971E746F-C16A-4B21-AB9B-3CD4B9F11D38}" type="presOf" srcId="{A378986F-B12C-42C0-820B-1554583E801D}" destId="{B611FE4C-DC6B-49A5-8CD2-7E3F9E15296D}" srcOrd="0" destOrd="0" presId="urn:microsoft.com/office/officeart/2005/8/layout/bProcess4"/>
    <dgm:cxn modelId="{55F5CC94-55BB-4DBB-8C58-3EC9EDAA04AF}" type="presOf" srcId="{FF4B1BD5-3236-4728-AE6F-C9CDA8BA231E}" destId="{77BA9501-AD97-4ABA-A586-6101215FEBBF}" srcOrd="0" destOrd="0" presId="urn:microsoft.com/office/officeart/2005/8/layout/bProcess4"/>
    <dgm:cxn modelId="{EDCA1E6D-E2EB-4BB8-8765-975F1ACDA2F5}" srcId="{0F35B733-5B87-49B2-B510-283F3E9809AD}" destId="{6AFD8EAF-08EF-470F-BD58-F91F4AD80361}" srcOrd="5" destOrd="0" parTransId="{D533B3EF-54A7-4ABF-8CD6-D4A2A7FBA23D}" sibTransId="{985B6B7D-FC41-44FF-B5F4-1908F83ED5E8}"/>
    <dgm:cxn modelId="{7C56D9AA-3744-49BC-8C13-887001C25A4C}" type="presOf" srcId="{BC13C280-1A31-41F3-B697-CE74EDEFBCD5}" destId="{2434C06A-9E74-44A8-8CEA-60F2E3B785C9}" srcOrd="0" destOrd="0" presId="urn:microsoft.com/office/officeart/2005/8/layout/bProcess4"/>
    <dgm:cxn modelId="{2E5DF68E-1C54-4E88-80DC-E69457F97FA8}" srcId="{0F35B733-5B87-49B2-B510-283F3E9809AD}" destId="{EFEDE8B3-996A-4E40-BE0A-C0D6F1E8648D}" srcOrd="2" destOrd="0" parTransId="{286527C2-9FE8-40FD-B1F7-429AD8B06FD7}" sibTransId="{851939E6-2F8C-443F-95EB-E3D71BA8186D}"/>
    <dgm:cxn modelId="{90B09E5D-CEA6-49ED-9616-779A1A2D2BD5}" type="presOf" srcId="{EFEDE8B3-996A-4E40-BE0A-C0D6F1E8648D}" destId="{71C64219-2E10-43C7-9D7B-055BDEB8C29B}" srcOrd="0" destOrd="0" presId="urn:microsoft.com/office/officeart/2005/8/layout/bProcess4"/>
    <dgm:cxn modelId="{C39BEDDB-F6BB-41E1-AA2C-F54E28895654}" type="presOf" srcId="{E99C9804-DDD2-47C5-8289-5A632E17E4F1}" destId="{DFBDCEF8-409F-4277-A180-3BF24920D403}" srcOrd="0" destOrd="0" presId="urn:microsoft.com/office/officeart/2005/8/layout/bProcess4"/>
    <dgm:cxn modelId="{91F96972-45BF-4A12-995A-37D613FEDA2C}" type="presOf" srcId="{851939E6-2F8C-443F-95EB-E3D71BA8186D}" destId="{9E2C40CE-DD9B-424B-BB7C-D2722ECB190A}" srcOrd="0" destOrd="0" presId="urn:microsoft.com/office/officeart/2005/8/layout/bProcess4"/>
    <dgm:cxn modelId="{32D8DB6F-D0B5-4158-9AB4-812069189BF8}" type="presOf" srcId="{853AAB11-7633-4830-91FB-2EAAD83A3835}" destId="{870AB90D-FE57-4EA8-8107-69387426120A}" srcOrd="0" destOrd="0" presId="urn:microsoft.com/office/officeart/2005/8/layout/bProcess4"/>
    <dgm:cxn modelId="{9B158EFE-E4C4-4AA0-B71F-A11896973DC7}" srcId="{0F35B733-5B87-49B2-B510-283F3E9809AD}" destId="{853AAB11-7633-4830-91FB-2EAAD83A3835}" srcOrd="4" destOrd="0" parTransId="{AD0D0674-6FD9-4E03-B560-6670F1DCB666}" sibTransId="{FF4B1BD5-3236-4728-AE6F-C9CDA8BA231E}"/>
    <dgm:cxn modelId="{1F7D1754-D3E7-40AE-9135-9965FF1EC6B7}" type="presOf" srcId="{15831E0C-EB29-44A2-A3E9-D2D48E9EA04A}" destId="{21576A13-AD65-4469-9988-16F5958714F2}" srcOrd="0" destOrd="0" presId="urn:microsoft.com/office/officeart/2005/8/layout/bProcess4"/>
    <dgm:cxn modelId="{6C48AC2B-E8CB-4BA1-A0F3-4A1B1E8DEEDC}" srcId="{0F35B733-5B87-49B2-B510-283F3E9809AD}" destId="{BA37C853-C896-49C1-8D23-53F37A0B56F1}" srcOrd="0" destOrd="0" parTransId="{1FA23A51-9682-4BB6-BAB8-60AC77179131}" sibTransId="{A378986F-B12C-42C0-820B-1554583E801D}"/>
    <dgm:cxn modelId="{6C4FFBEE-2692-4C4F-B495-F663A0E9542F}" srcId="{0F35B733-5B87-49B2-B510-283F3E9809AD}" destId="{4E17B00F-658C-41FE-A007-DC10F9E37F53}" srcOrd="3" destOrd="0" parTransId="{A27551BD-1EDD-4AEC-B43C-A3392DCA3A06}" sibTransId="{15831E0C-EB29-44A2-A3E9-D2D48E9EA04A}"/>
    <dgm:cxn modelId="{5CD764D5-4EAF-45E3-91EB-AE73F0444BF8}" type="presOf" srcId="{4E17B00F-658C-41FE-A007-DC10F9E37F53}" destId="{8CD6DED0-5D5E-4176-BB84-01F74A6563D6}" srcOrd="0" destOrd="0" presId="urn:microsoft.com/office/officeart/2005/8/layout/bProcess4"/>
    <dgm:cxn modelId="{FC12C878-9B1E-495E-90CA-DE818CE60A7D}" type="presParOf" srcId="{EFA1C6CC-6E32-4C8D-8427-16CB078E20FE}" destId="{A6DD3786-95FB-4028-9C37-B41EEAE5119E}" srcOrd="0" destOrd="0" presId="urn:microsoft.com/office/officeart/2005/8/layout/bProcess4"/>
    <dgm:cxn modelId="{E4761BCF-4654-446C-9D4F-1A3F07DC77FC}" type="presParOf" srcId="{A6DD3786-95FB-4028-9C37-B41EEAE5119E}" destId="{957C27A4-4054-4025-B499-BB7B5CACC175}" srcOrd="0" destOrd="0" presId="urn:microsoft.com/office/officeart/2005/8/layout/bProcess4"/>
    <dgm:cxn modelId="{CEF337E6-1367-460C-88D3-83300526DC13}" type="presParOf" srcId="{A6DD3786-95FB-4028-9C37-B41EEAE5119E}" destId="{C740B09B-B5C4-480C-A034-8EC67D96DBA9}" srcOrd="1" destOrd="0" presId="urn:microsoft.com/office/officeart/2005/8/layout/bProcess4"/>
    <dgm:cxn modelId="{34AAAAF5-981A-4EDF-A608-F637CA21CB89}" type="presParOf" srcId="{EFA1C6CC-6E32-4C8D-8427-16CB078E20FE}" destId="{B611FE4C-DC6B-49A5-8CD2-7E3F9E15296D}" srcOrd="1" destOrd="0" presId="urn:microsoft.com/office/officeart/2005/8/layout/bProcess4"/>
    <dgm:cxn modelId="{597FDA37-3423-4D25-8AC3-A4387B9F640F}" type="presParOf" srcId="{EFA1C6CC-6E32-4C8D-8427-16CB078E20FE}" destId="{40ECB608-84BF-4652-9295-04A46D61146F}" srcOrd="2" destOrd="0" presId="urn:microsoft.com/office/officeart/2005/8/layout/bProcess4"/>
    <dgm:cxn modelId="{89A2032C-81F9-4F0D-994A-AA285C19C6FE}" type="presParOf" srcId="{40ECB608-84BF-4652-9295-04A46D61146F}" destId="{559C7334-4E54-4674-8C0B-62C06FC3C92E}" srcOrd="0" destOrd="0" presId="urn:microsoft.com/office/officeart/2005/8/layout/bProcess4"/>
    <dgm:cxn modelId="{DFA3A91C-A996-4AF5-83D5-FF59DB769F8F}" type="presParOf" srcId="{40ECB608-84BF-4652-9295-04A46D61146F}" destId="{2434C06A-9E74-44A8-8CEA-60F2E3B785C9}" srcOrd="1" destOrd="0" presId="urn:microsoft.com/office/officeart/2005/8/layout/bProcess4"/>
    <dgm:cxn modelId="{4C273007-1152-4C68-950F-30E896C4DDB6}" type="presParOf" srcId="{EFA1C6CC-6E32-4C8D-8427-16CB078E20FE}" destId="{DFBDCEF8-409F-4277-A180-3BF24920D403}" srcOrd="3" destOrd="0" presId="urn:microsoft.com/office/officeart/2005/8/layout/bProcess4"/>
    <dgm:cxn modelId="{A31F1ACC-7729-4E58-83F7-BDD7DC59DB5B}" type="presParOf" srcId="{EFA1C6CC-6E32-4C8D-8427-16CB078E20FE}" destId="{CAEF332B-F1EA-402D-A39D-2268DA619EDD}" srcOrd="4" destOrd="0" presId="urn:microsoft.com/office/officeart/2005/8/layout/bProcess4"/>
    <dgm:cxn modelId="{F64054F6-A634-4F91-BC47-DCA6174E8E89}" type="presParOf" srcId="{CAEF332B-F1EA-402D-A39D-2268DA619EDD}" destId="{DB15ABF1-BBA3-493A-AB77-3F4FE74A98AC}" srcOrd="0" destOrd="0" presId="urn:microsoft.com/office/officeart/2005/8/layout/bProcess4"/>
    <dgm:cxn modelId="{64F40C45-11CB-47D1-B58F-C13B8FFEB52B}" type="presParOf" srcId="{CAEF332B-F1EA-402D-A39D-2268DA619EDD}" destId="{71C64219-2E10-43C7-9D7B-055BDEB8C29B}" srcOrd="1" destOrd="0" presId="urn:microsoft.com/office/officeart/2005/8/layout/bProcess4"/>
    <dgm:cxn modelId="{A3553E1E-5F93-4F67-84DA-93020D90D823}" type="presParOf" srcId="{EFA1C6CC-6E32-4C8D-8427-16CB078E20FE}" destId="{9E2C40CE-DD9B-424B-BB7C-D2722ECB190A}" srcOrd="5" destOrd="0" presId="urn:microsoft.com/office/officeart/2005/8/layout/bProcess4"/>
    <dgm:cxn modelId="{A9F7BA3D-B2BA-4EA5-B3F3-29F9B37CC00B}" type="presParOf" srcId="{EFA1C6CC-6E32-4C8D-8427-16CB078E20FE}" destId="{EFB4D1AF-08A3-44A3-AC6D-47DE3677530D}" srcOrd="6" destOrd="0" presId="urn:microsoft.com/office/officeart/2005/8/layout/bProcess4"/>
    <dgm:cxn modelId="{463B686B-8C5E-4489-9D97-A8BD365D2AA7}" type="presParOf" srcId="{EFB4D1AF-08A3-44A3-AC6D-47DE3677530D}" destId="{3A78A91D-E54E-4422-8F8C-1D85A139581B}" srcOrd="0" destOrd="0" presId="urn:microsoft.com/office/officeart/2005/8/layout/bProcess4"/>
    <dgm:cxn modelId="{B428C10D-AF3E-44B4-B0D2-11392CA61D48}" type="presParOf" srcId="{EFB4D1AF-08A3-44A3-AC6D-47DE3677530D}" destId="{8CD6DED0-5D5E-4176-BB84-01F74A6563D6}" srcOrd="1" destOrd="0" presId="urn:microsoft.com/office/officeart/2005/8/layout/bProcess4"/>
    <dgm:cxn modelId="{18909463-6AE6-40E7-97E0-B510982CD4BD}" type="presParOf" srcId="{EFA1C6CC-6E32-4C8D-8427-16CB078E20FE}" destId="{21576A13-AD65-4469-9988-16F5958714F2}" srcOrd="7" destOrd="0" presId="urn:microsoft.com/office/officeart/2005/8/layout/bProcess4"/>
    <dgm:cxn modelId="{75AED166-101C-4AA7-827C-3E87145BD7C7}" type="presParOf" srcId="{EFA1C6CC-6E32-4C8D-8427-16CB078E20FE}" destId="{D536922C-749C-47E9-AA8D-B01933A44D92}" srcOrd="8" destOrd="0" presId="urn:microsoft.com/office/officeart/2005/8/layout/bProcess4"/>
    <dgm:cxn modelId="{F53BAC82-D35D-4758-BBF7-9C49A13EA261}" type="presParOf" srcId="{D536922C-749C-47E9-AA8D-B01933A44D92}" destId="{8969B080-1A16-409C-BAD4-E2E38BA52A20}" srcOrd="0" destOrd="0" presId="urn:microsoft.com/office/officeart/2005/8/layout/bProcess4"/>
    <dgm:cxn modelId="{839C7B0E-9EE2-4862-A298-035A045B49C3}" type="presParOf" srcId="{D536922C-749C-47E9-AA8D-B01933A44D92}" destId="{870AB90D-FE57-4EA8-8107-69387426120A}" srcOrd="1" destOrd="0" presId="urn:microsoft.com/office/officeart/2005/8/layout/bProcess4"/>
    <dgm:cxn modelId="{0960E693-C1D7-46BD-BF08-896FEA965CDE}" type="presParOf" srcId="{EFA1C6CC-6E32-4C8D-8427-16CB078E20FE}" destId="{77BA9501-AD97-4ABA-A586-6101215FEBBF}" srcOrd="9" destOrd="0" presId="urn:microsoft.com/office/officeart/2005/8/layout/bProcess4"/>
    <dgm:cxn modelId="{2837416C-8B10-407D-AA46-D21C296127F0}" type="presParOf" srcId="{EFA1C6CC-6E32-4C8D-8427-16CB078E20FE}" destId="{DC35B21D-EE52-4282-B4DB-41EEFC50D823}" srcOrd="10" destOrd="0" presId="urn:microsoft.com/office/officeart/2005/8/layout/bProcess4"/>
    <dgm:cxn modelId="{5C435646-434D-4AA8-BABA-16B0291E4A1A}" type="presParOf" srcId="{DC35B21D-EE52-4282-B4DB-41EEFC50D823}" destId="{25937FF4-80CB-4631-B7B9-0D7C5BE44010}" srcOrd="0" destOrd="0" presId="urn:microsoft.com/office/officeart/2005/8/layout/bProcess4"/>
    <dgm:cxn modelId="{16CFAB19-5D52-479A-BDEB-BDC6DD58985B}" type="presParOf" srcId="{DC35B21D-EE52-4282-B4DB-41EEFC50D823}" destId="{CCCFB876-2F4B-407C-BB86-0DE1E44CED9A}" srcOrd="1" destOrd="0" presId="urn:microsoft.com/office/officeart/2005/8/layout/bProcess4"/>
  </dgm:cxnLst>
  <dgm:bg/>
  <dgm:whole/>
</dgm:dataModel>
</file>

<file path=ppt/diagrams/data2.xml><?xml version="1.0" encoding="utf-8"?>
<dgm:dataModel xmlns:dgm="http://schemas.openxmlformats.org/drawingml/2006/diagram" xmlns:a="http://schemas.openxmlformats.org/drawingml/2006/main">
  <dgm:ptLst>
    <dgm:pt modelId="{9E8AD490-E44C-42EF-B913-BA208AEFABCD}" type="doc">
      <dgm:prSet loTypeId="urn:microsoft.com/office/officeart/2005/8/layout/bProcess4" loCatId="process" qsTypeId="urn:microsoft.com/office/officeart/2005/8/quickstyle/simple1" qsCatId="simple" csTypeId="urn:microsoft.com/office/officeart/2005/8/colors/accent1_2" csCatId="accent1"/>
      <dgm:spPr/>
      <dgm:t>
        <a:bodyPr/>
        <a:lstStyle/>
        <a:p>
          <a:endParaRPr lang="en-US"/>
        </a:p>
      </dgm:t>
    </dgm:pt>
    <dgm:pt modelId="{46DD86FB-CB5C-458F-A0AC-9D6FB1C348A7}">
      <dgm:prSet custT="1"/>
      <dgm:spPr/>
      <dgm:t>
        <a:bodyPr/>
        <a:lstStyle/>
        <a:p>
          <a:r>
            <a:rPr lang="en-US" sz="1400" dirty="0" smtClean="0">
              <a:latin typeface="Times New Roman" pitchFamily="18" charset="0"/>
              <a:cs typeface="Times New Roman" pitchFamily="18" charset="0"/>
            </a:rPr>
            <a:t>Laser module on</a:t>
          </a:r>
          <a:endParaRPr lang="en-US" sz="1400" dirty="0">
            <a:latin typeface="Times New Roman" pitchFamily="18" charset="0"/>
            <a:cs typeface="Times New Roman" pitchFamily="18" charset="0"/>
          </a:endParaRPr>
        </a:p>
      </dgm:t>
    </dgm:pt>
    <dgm:pt modelId="{4A9BA462-9B08-49ED-9986-76FBBBDBC603}" type="parTrans" cxnId="{EDCA2E22-5A61-4454-80B2-F7B801FEB059}">
      <dgm:prSet/>
      <dgm:spPr/>
      <dgm:t>
        <a:bodyPr/>
        <a:lstStyle/>
        <a:p>
          <a:endParaRPr lang="en-US"/>
        </a:p>
      </dgm:t>
    </dgm:pt>
    <dgm:pt modelId="{3E9B1956-1070-49F5-93C4-4F79D060FBFC}" type="sibTrans" cxnId="{EDCA2E22-5A61-4454-80B2-F7B801FEB059}">
      <dgm:prSet/>
      <dgm:spPr/>
      <dgm:t>
        <a:bodyPr/>
        <a:lstStyle/>
        <a:p>
          <a:endParaRPr lang="en-US"/>
        </a:p>
      </dgm:t>
    </dgm:pt>
    <dgm:pt modelId="{3B5A41E7-160B-4D38-80D0-B97D0CEB1BA5}">
      <dgm:prSet custT="1"/>
      <dgm:spPr/>
      <dgm:t>
        <a:bodyPr/>
        <a:lstStyle/>
        <a:p>
          <a:r>
            <a:rPr lang="en-US" sz="1600" dirty="0" err="1" smtClean="0">
              <a:latin typeface="Times New Roman" pitchFamily="18" charset="0"/>
              <a:cs typeface="Times New Roman" pitchFamily="18" charset="0"/>
            </a:rPr>
            <a:t>Ldr</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dgm:t>
    </dgm:pt>
    <dgm:pt modelId="{7632DEED-DDE4-4DEF-8389-361677A97A7C}" type="parTrans" cxnId="{88285A19-2088-4061-A846-78843E2A4AFA}">
      <dgm:prSet/>
      <dgm:spPr/>
      <dgm:t>
        <a:bodyPr/>
        <a:lstStyle/>
        <a:p>
          <a:endParaRPr lang="en-US"/>
        </a:p>
      </dgm:t>
    </dgm:pt>
    <dgm:pt modelId="{07F20728-FC18-4FA5-B346-98B4163823D4}" type="sibTrans" cxnId="{88285A19-2088-4061-A846-78843E2A4AFA}">
      <dgm:prSet/>
      <dgm:spPr/>
      <dgm:t>
        <a:bodyPr/>
        <a:lstStyle/>
        <a:p>
          <a:endParaRPr lang="en-US"/>
        </a:p>
      </dgm:t>
    </dgm:pt>
    <dgm:pt modelId="{05045498-7070-4853-AA65-7AE380D86DDC}">
      <dgm:prSet custT="1"/>
      <dgm:spPr/>
      <dgm:t>
        <a:bodyPr/>
        <a:lstStyle/>
        <a:p>
          <a:r>
            <a:rPr lang="en-US" sz="1400" dirty="0" smtClean="0">
              <a:latin typeface="Times New Roman" pitchFamily="18" charset="0"/>
              <a:cs typeface="Times New Roman" pitchFamily="18" charset="0"/>
            </a:rPr>
            <a:t>buzzer</a:t>
          </a:r>
          <a:endParaRPr lang="en-US" sz="1400" dirty="0">
            <a:latin typeface="Times New Roman" pitchFamily="18" charset="0"/>
            <a:cs typeface="Times New Roman" pitchFamily="18" charset="0"/>
          </a:endParaRPr>
        </a:p>
      </dgm:t>
    </dgm:pt>
    <dgm:pt modelId="{8ED8467E-CBDC-4E99-A16B-11C998749881}" type="parTrans" cxnId="{CE84F21C-C455-46F9-B278-8C6CA9FA6412}">
      <dgm:prSet/>
      <dgm:spPr/>
      <dgm:t>
        <a:bodyPr/>
        <a:lstStyle/>
        <a:p>
          <a:endParaRPr lang="en-US"/>
        </a:p>
      </dgm:t>
    </dgm:pt>
    <dgm:pt modelId="{1C693122-D5AB-43B9-B921-12735EFCC27C}" type="sibTrans" cxnId="{CE84F21C-C455-46F9-B278-8C6CA9FA6412}">
      <dgm:prSet/>
      <dgm:spPr/>
      <dgm:t>
        <a:bodyPr/>
        <a:lstStyle/>
        <a:p>
          <a:endParaRPr lang="en-US"/>
        </a:p>
      </dgm:t>
    </dgm:pt>
    <dgm:pt modelId="{9B0E91B6-89A7-4250-AE7D-4E5217C7A3CC}" type="pres">
      <dgm:prSet presAssocID="{9E8AD490-E44C-42EF-B913-BA208AEFABCD}" presName="Name0" presStyleCnt="0">
        <dgm:presLayoutVars>
          <dgm:dir/>
          <dgm:resizeHandles/>
        </dgm:presLayoutVars>
      </dgm:prSet>
      <dgm:spPr/>
      <dgm:t>
        <a:bodyPr/>
        <a:lstStyle/>
        <a:p>
          <a:endParaRPr lang="en-US"/>
        </a:p>
      </dgm:t>
    </dgm:pt>
    <dgm:pt modelId="{99DF87E7-70D7-47F7-BF7E-9FA10F0454E1}" type="pres">
      <dgm:prSet presAssocID="{46DD86FB-CB5C-458F-A0AC-9D6FB1C348A7}" presName="compNode" presStyleCnt="0"/>
      <dgm:spPr/>
    </dgm:pt>
    <dgm:pt modelId="{487C2304-5A59-441F-A281-F1BBAAD746BE}" type="pres">
      <dgm:prSet presAssocID="{46DD86FB-CB5C-458F-A0AC-9D6FB1C348A7}" presName="dummyConnPt" presStyleCnt="0"/>
      <dgm:spPr/>
    </dgm:pt>
    <dgm:pt modelId="{F4D845A2-D05E-4B41-AE2F-B5E2E922D7D8}" type="pres">
      <dgm:prSet presAssocID="{46DD86FB-CB5C-458F-A0AC-9D6FB1C348A7}" presName="node" presStyleLbl="node1" presStyleIdx="0" presStyleCnt="3">
        <dgm:presLayoutVars>
          <dgm:bulletEnabled val="1"/>
        </dgm:presLayoutVars>
      </dgm:prSet>
      <dgm:spPr/>
      <dgm:t>
        <a:bodyPr/>
        <a:lstStyle/>
        <a:p>
          <a:endParaRPr lang="en-US"/>
        </a:p>
      </dgm:t>
    </dgm:pt>
    <dgm:pt modelId="{BE0EBD8F-7118-4208-8BB8-9104BE6A367C}" type="pres">
      <dgm:prSet presAssocID="{3E9B1956-1070-49F5-93C4-4F79D060FBFC}" presName="sibTrans" presStyleLbl="bgSibTrans2D1" presStyleIdx="0" presStyleCnt="2"/>
      <dgm:spPr/>
      <dgm:t>
        <a:bodyPr/>
        <a:lstStyle/>
        <a:p>
          <a:endParaRPr lang="en-US"/>
        </a:p>
      </dgm:t>
    </dgm:pt>
    <dgm:pt modelId="{3F59CB5A-2E02-42B5-BE99-312F13630F36}" type="pres">
      <dgm:prSet presAssocID="{3B5A41E7-160B-4D38-80D0-B97D0CEB1BA5}" presName="compNode" presStyleCnt="0"/>
      <dgm:spPr/>
    </dgm:pt>
    <dgm:pt modelId="{B73B1CB2-6D62-411B-B6B0-D8C9D6226079}" type="pres">
      <dgm:prSet presAssocID="{3B5A41E7-160B-4D38-80D0-B97D0CEB1BA5}" presName="dummyConnPt" presStyleCnt="0"/>
      <dgm:spPr/>
    </dgm:pt>
    <dgm:pt modelId="{31883081-A499-4769-B7FD-B0A769D380C3}" type="pres">
      <dgm:prSet presAssocID="{3B5A41E7-160B-4D38-80D0-B97D0CEB1BA5}" presName="node" presStyleLbl="node1" presStyleIdx="1" presStyleCnt="3">
        <dgm:presLayoutVars>
          <dgm:bulletEnabled val="1"/>
        </dgm:presLayoutVars>
      </dgm:prSet>
      <dgm:spPr/>
      <dgm:t>
        <a:bodyPr/>
        <a:lstStyle/>
        <a:p>
          <a:endParaRPr lang="en-US"/>
        </a:p>
      </dgm:t>
    </dgm:pt>
    <dgm:pt modelId="{C2145798-A59F-4F94-9E51-0B21D5660E1A}" type="pres">
      <dgm:prSet presAssocID="{07F20728-FC18-4FA5-B346-98B4163823D4}" presName="sibTrans" presStyleLbl="bgSibTrans2D1" presStyleIdx="1" presStyleCnt="2"/>
      <dgm:spPr/>
      <dgm:t>
        <a:bodyPr/>
        <a:lstStyle/>
        <a:p>
          <a:endParaRPr lang="en-US"/>
        </a:p>
      </dgm:t>
    </dgm:pt>
    <dgm:pt modelId="{F763E8CA-9687-4AA0-84BC-9530F44C5BEE}" type="pres">
      <dgm:prSet presAssocID="{05045498-7070-4853-AA65-7AE380D86DDC}" presName="compNode" presStyleCnt="0"/>
      <dgm:spPr/>
    </dgm:pt>
    <dgm:pt modelId="{1DFE90C8-661B-4173-97D6-127CB11E839C}" type="pres">
      <dgm:prSet presAssocID="{05045498-7070-4853-AA65-7AE380D86DDC}" presName="dummyConnPt" presStyleCnt="0"/>
      <dgm:spPr/>
    </dgm:pt>
    <dgm:pt modelId="{B7C93552-EA8B-48F5-B594-21EDF605F293}" type="pres">
      <dgm:prSet presAssocID="{05045498-7070-4853-AA65-7AE380D86DDC}" presName="node" presStyleLbl="node1" presStyleIdx="2" presStyleCnt="3">
        <dgm:presLayoutVars>
          <dgm:bulletEnabled val="1"/>
        </dgm:presLayoutVars>
      </dgm:prSet>
      <dgm:spPr/>
      <dgm:t>
        <a:bodyPr/>
        <a:lstStyle/>
        <a:p>
          <a:endParaRPr lang="en-US"/>
        </a:p>
      </dgm:t>
    </dgm:pt>
  </dgm:ptLst>
  <dgm:cxnLst>
    <dgm:cxn modelId="{88285A19-2088-4061-A846-78843E2A4AFA}" srcId="{9E8AD490-E44C-42EF-B913-BA208AEFABCD}" destId="{3B5A41E7-160B-4D38-80D0-B97D0CEB1BA5}" srcOrd="1" destOrd="0" parTransId="{7632DEED-DDE4-4DEF-8389-361677A97A7C}" sibTransId="{07F20728-FC18-4FA5-B346-98B4163823D4}"/>
    <dgm:cxn modelId="{3798D450-0FD8-46DA-B753-09C66B1779D9}" type="presOf" srcId="{46DD86FB-CB5C-458F-A0AC-9D6FB1C348A7}" destId="{F4D845A2-D05E-4B41-AE2F-B5E2E922D7D8}" srcOrd="0" destOrd="0" presId="urn:microsoft.com/office/officeart/2005/8/layout/bProcess4"/>
    <dgm:cxn modelId="{CE84F21C-C455-46F9-B278-8C6CA9FA6412}" srcId="{9E8AD490-E44C-42EF-B913-BA208AEFABCD}" destId="{05045498-7070-4853-AA65-7AE380D86DDC}" srcOrd="2" destOrd="0" parTransId="{8ED8467E-CBDC-4E99-A16B-11C998749881}" sibTransId="{1C693122-D5AB-43B9-B921-12735EFCC27C}"/>
    <dgm:cxn modelId="{3F71A04B-F8F2-4E0E-BBED-58E48652C032}" type="presOf" srcId="{05045498-7070-4853-AA65-7AE380D86DDC}" destId="{B7C93552-EA8B-48F5-B594-21EDF605F293}" srcOrd="0" destOrd="0" presId="urn:microsoft.com/office/officeart/2005/8/layout/bProcess4"/>
    <dgm:cxn modelId="{05970CB4-BA77-4EEF-9ED1-02B48D31CDA1}" type="presOf" srcId="{3B5A41E7-160B-4D38-80D0-B97D0CEB1BA5}" destId="{31883081-A499-4769-B7FD-B0A769D380C3}" srcOrd="0" destOrd="0" presId="urn:microsoft.com/office/officeart/2005/8/layout/bProcess4"/>
    <dgm:cxn modelId="{DA51ED87-E065-404F-A464-F5F3E9033E2A}" type="presOf" srcId="{07F20728-FC18-4FA5-B346-98B4163823D4}" destId="{C2145798-A59F-4F94-9E51-0B21D5660E1A}" srcOrd="0" destOrd="0" presId="urn:microsoft.com/office/officeart/2005/8/layout/bProcess4"/>
    <dgm:cxn modelId="{EDCA2E22-5A61-4454-80B2-F7B801FEB059}" srcId="{9E8AD490-E44C-42EF-B913-BA208AEFABCD}" destId="{46DD86FB-CB5C-458F-A0AC-9D6FB1C348A7}" srcOrd="0" destOrd="0" parTransId="{4A9BA462-9B08-49ED-9986-76FBBBDBC603}" sibTransId="{3E9B1956-1070-49F5-93C4-4F79D060FBFC}"/>
    <dgm:cxn modelId="{EC2B3199-6414-4A5B-AD7A-7E241B272353}" type="presOf" srcId="{3E9B1956-1070-49F5-93C4-4F79D060FBFC}" destId="{BE0EBD8F-7118-4208-8BB8-9104BE6A367C}" srcOrd="0" destOrd="0" presId="urn:microsoft.com/office/officeart/2005/8/layout/bProcess4"/>
    <dgm:cxn modelId="{7DA036C5-BC20-4967-96C4-48A0260DB357}" type="presOf" srcId="{9E8AD490-E44C-42EF-B913-BA208AEFABCD}" destId="{9B0E91B6-89A7-4250-AE7D-4E5217C7A3CC}" srcOrd="0" destOrd="0" presId="urn:microsoft.com/office/officeart/2005/8/layout/bProcess4"/>
    <dgm:cxn modelId="{CCD74B84-2BD1-4F5C-97DB-79FE68A3DDA9}" type="presParOf" srcId="{9B0E91B6-89A7-4250-AE7D-4E5217C7A3CC}" destId="{99DF87E7-70D7-47F7-BF7E-9FA10F0454E1}" srcOrd="0" destOrd="0" presId="urn:microsoft.com/office/officeart/2005/8/layout/bProcess4"/>
    <dgm:cxn modelId="{D5329584-1A3C-4099-BA2C-336C45B78EDE}" type="presParOf" srcId="{99DF87E7-70D7-47F7-BF7E-9FA10F0454E1}" destId="{487C2304-5A59-441F-A281-F1BBAAD746BE}" srcOrd="0" destOrd="0" presId="urn:microsoft.com/office/officeart/2005/8/layout/bProcess4"/>
    <dgm:cxn modelId="{5F56BB51-2F85-4CFB-9B70-8DAFCE19032D}" type="presParOf" srcId="{99DF87E7-70D7-47F7-BF7E-9FA10F0454E1}" destId="{F4D845A2-D05E-4B41-AE2F-B5E2E922D7D8}" srcOrd="1" destOrd="0" presId="urn:microsoft.com/office/officeart/2005/8/layout/bProcess4"/>
    <dgm:cxn modelId="{3128E215-2712-41D5-8B5B-902CD1471D1F}" type="presParOf" srcId="{9B0E91B6-89A7-4250-AE7D-4E5217C7A3CC}" destId="{BE0EBD8F-7118-4208-8BB8-9104BE6A367C}" srcOrd="1" destOrd="0" presId="urn:microsoft.com/office/officeart/2005/8/layout/bProcess4"/>
    <dgm:cxn modelId="{EC3754C0-A786-4832-8209-FC34D34420AF}" type="presParOf" srcId="{9B0E91B6-89A7-4250-AE7D-4E5217C7A3CC}" destId="{3F59CB5A-2E02-42B5-BE99-312F13630F36}" srcOrd="2" destOrd="0" presId="urn:microsoft.com/office/officeart/2005/8/layout/bProcess4"/>
    <dgm:cxn modelId="{2DD222BE-DDC9-43C7-B368-184B647DA267}" type="presParOf" srcId="{3F59CB5A-2E02-42B5-BE99-312F13630F36}" destId="{B73B1CB2-6D62-411B-B6B0-D8C9D6226079}" srcOrd="0" destOrd="0" presId="urn:microsoft.com/office/officeart/2005/8/layout/bProcess4"/>
    <dgm:cxn modelId="{2C7ECF85-F8E5-452E-986C-9B63DCFDE50E}" type="presParOf" srcId="{3F59CB5A-2E02-42B5-BE99-312F13630F36}" destId="{31883081-A499-4769-B7FD-B0A769D380C3}" srcOrd="1" destOrd="0" presId="urn:microsoft.com/office/officeart/2005/8/layout/bProcess4"/>
    <dgm:cxn modelId="{9A8B1913-0174-4190-8D10-5A73ACE041D3}" type="presParOf" srcId="{9B0E91B6-89A7-4250-AE7D-4E5217C7A3CC}" destId="{C2145798-A59F-4F94-9E51-0B21D5660E1A}" srcOrd="3" destOrd="0" presId="urn:microsoft.com/office/officeart/2005/8/layout/bProcess4"/>
    <dgm:cxn modelId="{B9A75BE8-90AA-4405-8712-5F752BD722D7}" type="presParOf" srcId="{9B0E91B6-89A7-4250-AE7D-4E5217C7A3CC}" destId="{F763E8CA-9687-4AA0-84BC-9530F44C5BEE}" srcOrd="4" destOrd="0" presId="urn:microsoft.com/office/officeart/2005/8/layout/bProcess4"/>
    <dgm:cxn modelId="{59F45E69-BFB4-4234-898A-0B26FDA22D5E}" type="presParOf" srcId="{F763E8CA-9687-4AA0-84BC-9530F44C5BEE}" destId="{1DFE90C8-661B-4173-97D6-127CB11E839C}" srcOrd="0" destOrd="0" presId="urn:microsoft.com/office/officeart/2005/8/layout/bProcess4"/>
    <dgm:cxn modelId="{2C55A243-F58F-4ABC-9708-FA4C78AF07B7}" type="presParOf" srcId="{F763E8CA-9687-4AA0-84BC-9530F44C5BEE}" destId="{B7C93552-EA8B-48F5-B594-21EDF605F293}" srcOrd="1" destOrd="0" presId="urn:microsoft.com/office/officeart/2005/8/layout/bProcess4"/>
  </dgm:cxnLst>
  <dgm:bg/>
  <dgm:whole/>
</dgm:dataModel>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79900" y="0"/>
            <a:ext cx="3275013" cy="534988"/>
          </a:xfrm>
          <a:prstGeom prst="rect">
            <a:avLst/>
          </a:prstGeom>
        </p:spPr>
        <p:txBody>
          <a:bodyPr vert="horz" lIns="91440" tIns="45720" rIns="91440" bIns="45720" rtlCol="0"/>
          <a:lstStyle>
            <a:lvl1pPr algn="r">
              <a:defRPr sz="1200"/>
            </a:lvl1pPr>
          </a:lstStyle>
          <a:p>
            <a:fld id="{6C9FBC46-1B16-43F0-9778-B11050866818}" type="datetimeFigureOut">
              <a:rPr lang="en-US" smtClean="0"/>
              <a:pPr/>
              <a:t>12/18/2024</a:t>
            </a:fld>
            <a:endParaRPr lang="en-US"/>
          </a:p>
        </p:txBody>
      </p:sp>
      <p:sp>
        <p:nvSpPr>
          <p:cNvPr id="4" name="Slide Image Placeholder 3"/>
          <p:cNvSpPr>
            <a:spLocks noGrp="1" noRot="1" noChangeAspect="1"/>
          </p:cNvSpPr>
          <p:nvPr>
            <p:ph type="sldImg" idx="2"/>
          </p:nvPr>
        </p:nvSpPr>
        <p:spPr>
          <a:xfrm>
            <a:off x="2360613" y="801688"/>
            <a:ext cx="28352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80000"/>
            <a:ext cx="6045200" cy="481171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6825"/>
            <a:ext cx="3275013" cy="5349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79900" y="10156825"/>
            <a:ext cx="3275013" cy="534988"/>
          </a:xfrm>
          <a:prstGeom prst="rect">
            <a:avLst/>
          </a:prstGeom>
        </p:spPr>
        <p:txBody>
          <a:bodyPr vert="horz" lIns="91440" tIns="45720" rIns="91440" bIns="45720" rtlCol="0" anchor="b"/>
          <a:lstStyle>
            <a:lvl1pPr algn="r">
              <a:defRPr sz="1200"/>
            </a:lvl1pPr>
          </a:lstStyle>
          <a:p>
            <a:fld id="{A99B0200-1D08-4334-BB84-4B4815E2A16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99B0200-1D08-4334-BB84-4B4815E2A162}"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FCC594C-E50A-4327-9F37-F968154AFD56}" type="datetime1">
              <a:rPr lang="en-US" smtClean="0"/>
              <a:pPr/>
              <a:t>12/18/2024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EAA62AB-6C5E-4F0F-BD03-2EDB5E5E8DE0}" type="datetime1">
              <a:rPr lang="en-US" smtClean="0"/>
              <a:pPr/>
              <a:t>12/18/2024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3E4CDE1-5B89-4643-96A3-7B52DDC26DAF}" type="datetime1">
              <a:rPr lang="en-US" smtClean="0"/>
              <a:pPr/>
              <a:t>12/18/2024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972DC4B2-35B4-4735-87DD-1D1F7FF3D658}" type="datetime1">
              <a:rPr lang="en-US" smtClean="0"/>
              <a:pPr/>
              <a:t>12/18/2024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685C077-A2D7-448B-9A85-16EFDF5763EC}" type="datetime1">
              <a:rPr lang="en-US" smtClean="0"/>
              <a:pPr/>
              <a:t>12/18/2024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5D13E93C-3E63-4299-9D94-440B6E0C1C3F}" type="datetime1">
              <a:rPr lang="en-US" smtClean="0"/>
              <a:pPr/>
              <a:t>12/18/2024</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diagramLayout" Target="../diagrams/layout1.xml"/><Relationship Id="rId7" Type="http://schemas.openxmlformats.org/officeDocument/2006/relationships/diagramLayout" Target="../diagrams/layout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openxmlformats.org/officeDocument/2006/relationships/diagramData" Target="../diagrams/data2.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diagramColors" Target="../diagrams/colors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electronicstree.com/arduino-relay-modules-for-proteus/" TargetMode="External"/><Relationship Id="rId2" Type="http://schemas.openxmlformats.org/officeDocument/2006/relationships/hyperlink" Target="http://www.irjet.net/" TargetMode="Externa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hyperlink" Target="https://www.arduinolibraries.info/libraries/adafruit-fingerprint-sensor-library"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17877" y="878233"/>
            <a:ext cx="4415790" cy="5965223"/>
          </a:xfrm>
          <a:prstGeom prst="rect">
            <a:avLst/>
          </a:prstGeom>
        </p:spPr>
        <p:txBody>
          <a:bodyPr vert="horz" wrap="square" lIns="0" tIns="168910" rIns="0" bIns="0" rtlCol="0">
            <a:spAutoFit/>
          </a:bodyPr>
          <a:lstStyle/>
          <a:p>
            <a:pPr marL="6350" algn="ctr">
              <a:lnSpc>
                <a:spcPct val="100000"/>
              </a:lnSpc>
              <a:spcBef>
                <a:spcPts val="965"/>
              </a:spcBef>
            </a:pPr>
            <a:r>
              <a:rPr lang="en-IN" b="1" dirty="0" smtClean="0">
                <a:latin typeface="Times New Roman"/>
                <a:cs typeface="Times New Roman"/>
              </a:rPr>
              <a:t>SMART HOME SECURITY SYSTEM</a:t>
            </a:r>
          </a:p>
          <a:p>
            <a:pPr marL="6350" algn="ctr">
              <a:lnSpc>
                <a:spcPct val="100000"/>
              </a:lnSpc>
              <a:spcBef>
                <a:spcPts val="965"/>
              </a:spcBef>
            </a:pPr>
            <a:r>
              <a:rPr sz="1400" smtClean="0">
                <a:latin typeface="Times New Roman"/>
                <a:cs typeface="Times New Roman"/>
              </a:rPr>
              <a:t>PROJECT</a:t>
            </a:r>
            <a:r>
              <a:rPr sz="1400" spc="-25" smtClean="0">
                <a:latin typeface="Times New Roman"/>
                <a:cs typeface="Times New Roman"/>
              </a:rPr>
              <a:t> </a:t>
            </a:r>
            <a:r>
              <a:rPr sz="1400" spc="-10" dirty="0">
                <a:latin typeface="Times New Roman"/>
                <a:cs typeface="Times New Roman"/>
              </a:rPr>
              <a:t>REPORT</a:t>
            </a:r>
            <a:endParaRPr sz="1400">
              <a:latin typeface="Times New Roman"/>
              <a:cs typeface="Times New Roman"/>
            </a:endParaRPr>
          </a:p>
          <a:p>
            <a:pPr>
              <a:lnSpc>
                <a:spcPct val="100000"/>
              </a:lnSpc>
              <a:spcBef>
                <a:spcPts val="1530"/>
              </a:spcBef>
            </a:pPr>
            <a:endParaRPr sz="1400">
              <a:latin typeface="Times New Roman"/>
              <a:cs typeface="Times New Roman"/>
            </a:endParaRPr>
          </a:p>
          <a:p>
            <a:pPr marL="8890" algn="ctr">
              <a:lnSpc>
                <a:spcPct val="100000"/>
              </a:lnSpc>
            </a:pPr>
            <a:r>
              <a:rPr sz="1400" i="1" dirty="0">
                <a:latin typeface="Times New Roman"/>
                <a:cs typeface="Times New Roman"/>
              </a:rPr>
              <a:t>Submitted</a:t>
            </a:r>
            <a:r>
              <a:rPr sz="1400" i="1" spc="-50" dirty="0">
                <a:latin typeface="Times New Roman"/>
                <a:cs typeface="Times New Roman"/>
              </a:rPr>
              <a:t> </a:t>
            </a:r>
            <a:r>
              <a:rPr sz="1400" i="1" spc="-25" dirty="0">
                <a:latin typeface="Times New Roman"/>
                <a:cs typeface="Times New Roman"/>
              </a:rPr>
              <a:t>by</a:t>
            </a:r>
            <a:endParaRPr sz="1400">
              <a:latin typeface="Times New Roman"/>
              <a:cs typeface="Times New Roman"/>
            </a:endParaRPr>
          </a:p>
          <a:p>
            <a:pPr marL="477520" indent="-342900" algn="ctr">
              <a:lnSpc>
                <a:spcPct val="100000"/>
              </a:lnSpc>
              <a:spcBef>
                <a:spcPts val="725"/>
              </a:spcBef>
              <a:buAutoNum type="alphaUcPeriod" startAt="4"/>
            </a:pPr>
            <a:r>
              <a:rPr lang="en-IN" sz="1600" dirty="0" err="1" smtClean="0">
                <a:latin typeface="Times New Roman"/>
                <a:cs typeface="Times New Roman"/>
              </a:rPr>
              <a:t>Lohith</a:t>
            </a:r>
            <a:r>
              <a:rPr lang="en-IN" sz="1600" dirty="0" smtClean="0">
                <a:latin typeface="Times New Roman"/>
                <a:cs typeface="Times New Roman"/>
              </a:rPr>
              <a:t> Reddy (AM.SC.U4AID24053)</a:t>
            </a:r>
            <a:endParaRPr sz="1600">
              <a:latin typeface="Times New Roman"/>
              <a:cs typeface="Times New Roman"/>
            </a:endParaRPr>
          </a:p>
          <a:p>
            <a:pPr marL="134620" marR="120014" algn="ctr">
              <a:lnSpc>
                <a:spcPct val="191700"/>
              </a:lnSpc>
              <a:spcBef>
                <a:spcPts val="5"/>
              </a:spcBef>
            </a:pPr>
            <a:r>
              <a:rPr lang="en-IN" sz="1600" dirty="0" smtClean="0">
                <a:latin typeface="Times New Roman"/>
                <a:cs typeface="Times New Roman"/>
              </a:rPr>
              <a:t>O.V. </a:t>
            </a:r>
            <a:r>
              <a:rPr lang="en-IN" sz="1600" dirty="0" err="1" smtClean="0">
                <a:latin typeface="Times New Roman"/>
                <a:cs typeface="Times New Roman"/>
              </a:rPr>
              <a:t>Mounish</a:t>
            </a:r>
            <a:r>
              <a:rPr lang="en-IN" sz="1600" dirty="0" smtClean="0">
                <a:latin typeface="Times New Roman"/>
                <a:cs typeface="Times New Roman"/>
              </a:rPr>
              <a:t> Kumar (AM.SC.U4AID24033)</a:t>
            </a:r>
          </a:p>
          <a:p>
            <a:pPr marL="134620" marR="120014" algn="ctr">
              <a:lnSpc>
                <a:spcPct val="191700"/>
              </a:lnSpc>
              <a:spcBef>
                <a:spcPts val="5"/>
              </a:spcBef>
            </a:pPr>
            <a:r>
              <a:rPr lang="en-IN" sz="1600" spc="-10" dirty="0" smtClean="0">
                <a:latin typeface="Times New Roman"/>
                <a:cs typeface="Times New Roman"/>
              </a:rPr>
              <a:t>P. </a:t>
            </a:r>
            <a:r>
              <a:rPr lang="en-IN" sz="1600" spc="-10" dirty="0" err="1" smtClean="0">
                <a:latin typeface="Times New Roman"/>
                <a:cs typeface="Times New Roman"/>
              </a:rPr>
              <a:t>Manikanta</a:t>
            </a:r>
            <a:r>
              <a:rPr lang="en-IN" sz="1600" spc="-10" dirty="0" smtClean="0">
                <a:latin typeface="Times New Roman"/>
                <a:cs typeface="Times New Roman"/>
              </a:rPr>
              <a:t> (AM.SC.U4AID24035)</a:t>
            </a:r>
          </a:p>
          <a:p>
            <a:pPr marL="134620" marR="120014" algn="ctr">
              <a:lnSpc>
                <a:spcPct val="191700"/>
              </a:lnSpc>
              <a:spcBef>
                <a:spcPts val="5"/>
              </a:spcBef>
            </a:pPr>
            <a:r>
              <a:rPr sz="1600" spc="-10" smtClean="0">
                <a:latin typeface="Times New Roman"/>
                <a:cs typeface="Times New Roman"/>
              </a:rPr>
              <a:t> </a:t>
            </a:r>
            <a:r>
              <a:rPr lang="en-IN" sz="1600" spc="-10" dirty="0" smtClean="0">
                <a:latin typeface="Times New Roman"/>
                <a:cs typeface="Times New Roman"/>
              </a:rPr>
              <a:t>S. </a:t>
            </a:r>
            <a:r>
              <a:rPr lang="en-IN" sz="1600" spc="-10" dirty="0" err="1" smtClean="0">
                <a:latin typeface="Times New Roman"/>
                <a:cs typeface="Times New Roman"/>
              </a:rPr>
              <a:t>Akhil</a:t>
            </a:r>
            <a:r>
              <a:rPr lang="en-IN" sz="1600" spc="-10" dirty="0" smtClean="0">
                <a:latin typeface="Times New Roman"/>
                <a:cs typeface="Times New Roman"/>
              </a:rPr>
              <a:t> Reddy (AM.SC.U4AID2407044)</a:t>
            </a:r>
          </a:p>
          <a:p>
            <a:pPr marL="134620" marR="120014" algn="ctr">
              <a:lnSpc>
                <a:spcPct val="191700"/>
              </a:lnSpc>
              <a:spcBef>
                <a:spcPts val="5"/>
              </a:spcBef>
            </a:pPr>
            <a:r>
              <a:rPr lang="en-IN" sz="1600" spc="-10" dirty="0" smtClean="0">
                <a:latin typeface="Times New Roman"/>
                <a:cs typeface="Times New Roman"/>
              </a:rPr>
              <a:t>S. </a:t>
            </a:r>
            <a:r>
              <a:rPr lang="en-IN" sz="1600" spc="-10" dirty="0" err="1" smtClean="0">
                <a:latin typeface="Times New Roman"/>
                <a:cs typeface="Times New Roman"/>
              </a:rPr>
              <a:t>Rishwanth</a:t>
            </a:r>
            <a:r>
              <a:rPr lang="en-IN" sz="1600" spc="-10" dirty="0" smtClean="0">
                <a:latin typeface="Times New Roman"/>
                <a:cs typeface="Times New Roman"/>
              </a:rPr>
              <a:t> </a:t>
            </a:r>
            <a:r>
              <a:rPr lang="en-IN" sz="1600" spc="-10" dirty="0" err="1" smtClean="0">
                <a:latin typeface="Times New Roman"/>
                <a:cs typeface="Times New Roman"/>
              </a:rPr>
              <a:t>Sai</a:t>
            </a:r>
            <a:r>
              <a:rPr lang="en-IN" sz="1600" spc="-10" dirty="0" smtClean="0">
                <a:latin typeface="Times New Roman"/>
                <a:cs typeface="Times New Roman"/>
              </a:rPr>
              <a:t> (AM.SC.U4AID24070)</a:t>
            </a:r>
            <a:endParaRPr sz="1600">
              <a:latin typeface="Times New Roman"/>
              <a:cs typeface="Times New Roman"/>
            </a:endParaRPr>
          </a:p>
          <a:p>
            <a:pPr>
              <a:lnSpc>
                <a:spcPct val="100000"/>
              </a:lnSpc>
              <a:spcBef>
                <a:spcPts val="1650"/>
              </a:spcBef>
            </a:pPr>
            <a:endParaRPr sz="1600">
              <a:latin typeface="Times New Roman"/>
              <a:cs typeface="Times New Roman"/>
            </a:endParaRPr>
          </a:p>
          <a:p>
            <a:pPr marL="434340" marR="419100" algn="ctr">
              <a:lnSpc>
                <a:spcPts val="1610"/>
              </a:lnSpc>
            </a:pPr>
            <a:r>
              <a:rPr sz="1400" i="1" dirty="0">
                <a:latin typeface="Times New Roman"/>
                <a:cs typeface="Times New Roman"/>
              </a:rPr>
              <a:t>As</a:t>
            </a:r>
            <a:r>
              <a:rPr sz="1400" i="1" spc="-35" dirty="0">
                <a:latin typeface="Times New Roman"/>
                <a:cs typeface="Times New Roman"/>
              </a:rPr>
              <a:t> </a:t>
            </a:r>
            <a:r>
              <a:rPr sz="1400" i="1" dirty="0">
                <a:latin typeface="Times New Roman"/>
                <a:cs typeface="Times New Roman"/>
              </a:rPr>
              <a:t>a</a:t>
            </a:r>
            <a:r>
              <a:rPr sz="1400" i="1" spc="-10" dirty="0">
                <a:latin typeface="Times New Roman"/>
                <a:cs typeface="Times New Roman"/>
              </a:rPr>
              <a:t> </a:t>
            </a:r>
            <a:r>
              <a:rPr sz="1400" i="1" dirty="0">
                <a:latin typeface="Times New Roman"/>
                <a:cs typeface="Times New Roman"/>
              </a:rPr>
              <a:t>part</a:t>
            </a:r>
            <a:r>
              <a:rPr sz="1400" i="1" spc="-30" dirty="0">
                <a:latin typeface="Times New Roman"/>
                <a:cs typeface="Times New Roman"/>
              </a:rPr>
              <a:t> </a:t>
            </a:r>
            <a:r>
              <a:rPr sz="1400" i="1" dirty="0">
                <a:latin typeface="Times New Roman"/>
                <a:cs typeface="Times New Roman"/>
              </a:rPr>
              <a:t>of</a:t>
            </a:r>
            <a:r>
              <a:rPr sz="1400" i="1" spc="-15" dirty="0">
                <a:latin typeface="Times New Roman"/>
                <a:cs typeface="Times New Roman"/>
              </a:rPr>
              <a:t> </a:t>
            </a:r>
            <a:r>
              <a:rPr sz="1400" i="1" spc="-10" dirty="0">
                <a:latin typeface="Times New Roman"/>
                <a:cs typeface="Times New Roman"/>
              </a:rPr>
              <a:t>Project-</a:t>
            </a:r>
            <a:r>
              <a:rPr sz="1400" i="1" dirty="0">
                <a:latin typeface="Times New Roman"/>
                <a:cs typeface="Times New Roman"/>
              </a:rPr>
              <a:t>based</a:t>
            </a:r>
            <a:r>
              <a:rPr sz="1400" i="1" spc="-10" dirty="0">
                <a:latin typeface="Times New Roman"/>
                <a:cs typeface="Times New Roman"/>
              </a:rPr>
              <a:t> </a:t>
            </a:r>
            <a:r>
              <a:rPr sz="1400" i="1" dirty="0">
                <a:latin typeface="Times New Roman"/>
                <a:cs typeface="Times New Roman"/>
              </a:rPr>
              <a:t>evaluation</a:t>
            </a:r>
            <a:r>
              <a:rPr sz="1400" i="1" spc="-20" dirty="0">
                <a:latin typeface="Times New Roman"/>
                <a:cs typeface="Times New Roman"/>
              </a:rPr>
              <a:t> </a:t>
            </a:r>
            <a:r>
              <a:rPr sz="1400" i="1" spc="-25" dirty="0">
                <a:latin typeface="Times New Roman"/>
                <a:cs typeface="Times New Roman"/>
              </a:rPr>
              <a:t>on </a:t>
            </a:r>
            <a:r>
              <a:rPr sz="1400" i="1" dirty="0">
                <a:latin typeface="Times New Roman"/>
                <a:cs typeface="Times New Roman"/>
              </a:rPr>
              <a:t>23EEE103</a:t>
            </a:r>
            <a:r>
              <a:rPr sz="1400" i="1" spc="-10" dirty="0">
                <a:latin typeface="Times New Roman"/>
                <a:cs typeface="Times New Roman"/>
              </a:rPr>
              <a:t> Introduction</a:t>
            </a:r>
            <a:r>
              <a:rPr sz="1400" i="1" spc="-30" dirty="0">
                <a:latin typeface="Times New Roman"/>
                <a:cs typeface="Times New Roman"/>
              </a:rPr>
              <a:t> </a:t>
            </a:r>
            <a:r>
              <a:rPr sz="1400" i="1" dirty="0">
                <a:latin typeface="Times New Roman"/>
                <a:cs typeface="Times New Roman"/>
              </a:rPr>
              <a:t>to</a:t>
            </a:r>
            <a:r>
              <a:rPr sz="1400" i="1" spc="-10" dirty="0">
                <a:latin typeface="Times New Roman"/>
                <a:cs typeface="Times New Roman"/>
              </a:rPr>
              <a:t> </a:t>
            </a:r>
            <a:r>
              <a:rPr sz="1400" i="1" dirty="0">
                <a:latin typeface="Times New Roman"/>
                <a:cs typeface="Times New Roman"/>
              </a:rPr>
              <a:t>Electrical</a:t>
            </a:r>
            <a:r>
              <a:rPr sz="1400" i="1" spc="-30" dirty="0">
                <a:latin typeface="Times New Roman"/>
                <a:cs typeface="Times New Roman"/>
              </a:rPr>
              <a:t> </a:t>
            </a:r>
            <a:r>
              <a:rPr sz="1400" i="1" spc="-10" dirty="0">
                <a:latin typeface="Times New Roman"/>
                <a:cs typeface="Times New Roman"/>
              </a:rPr>
              <a:t>Engineering</a:t>
            </a:r>
            <a:endParaRPr sz="1400">
              <a:latin typeface="Times New Roman"/>
              <a:cs typeface="Times New Roman"/>
            </a:endParaRPr>
          </a:p>
          <a:p>
            <a:pPr>
              <a:lnSpc>
                <a:spcPct val="100000"/>
              </a:lnSpc>
            </a:pPr>
            <a:endParaRPr sz="1400">
              <a:latin typeface="Times New Roman"/>
              <a:cs typeface="Times New Roman"/>
            </a:endParaRPr>
          </a:p>
          <a:p>
            <a:pPr>
              <a:lnSpc>
                <a:spcPct val="100000"/>
              </a:lnSpc>
              <a:spcBef>
                <a:spcPts val="1490"/>
              </a:spcBef>
            </a:pPr>
            <a:endParaRPr sz="1400">
              <a:latin typeface="Times New Roman"/>
              <a:cs typeface="Times New Roman"/>
            </a:endParaRPr>
          </a:p>
          <a:p>
            <a:pPr marR="1905" algn="ctr">
              <a:lnSpc>
                <a:spcPct val="100000"/>
              </a:lnSpc>
            </a:pPr>
            <a:r>
              <a:rPr sz="1400" b="1" dirty="0">
                <a:latin typeface="Times New Roman"/>
                <a:cs typeface="Times New Roman"/>
              </a:rPr>
              <a:t>BACHELOR</a:t>
            </a:r>
            <a:r>
              <a:rPr sz="1400" b="1" spc="45" dirty="0">
                <a:latin typeface="Times New Roman"/>
                <a:cs typeface="Times New Roman"/>
              </a:rPr>
              <a:t> </a:t>
            </a:r>
            <a:r>
              <a:rPr sz="1400" b="1" dirty="0">
                <a:latin typeface="Times New Roman"/>
                <a:cs typeface="Times New Roman"/>
              </a:rPr>
              <a:t>OF</a:t>
            </a:r>
            <a:r>
              <a:rPr sz="1400" b="1" spc="50" dirty="0">
                <a:latin typeface="Times New Roman"/>
                <a:cs typeface="Times New Roman"/>
              </a:rPr>
              <a:t> </a:t>
            </a:r>
            <a:r>
              <a:rPr sz="1400" b="1" spc="-10" dirty="0">
                <a:latin typeface="Times New Roman"/>
                <a:cs typeface="Times New Roman"/>
              </a:rPr>
              <a:t>TECHNOLOGY</a:t>
            </a:r>
            <a:endParaRPr sz="1400">
              <a:latin typeface="Times New Roman"/>
              <a:cs typeface="Times New Roman"/>
            </a:endParaRPr>
          </a:p>
          <a:p>
            <a:pPr marL="7620" algn="ctr">
              <a:lnSpc>
                <a:spcPct val="100000"/>
              </a:lnSpc>
              <a:spcBef>
                <a:spcPts val="745"/>
              </a:spcBef>
            </a:pPr>
            <a:r>
              <a:rPr sz="1400" spc="-25" dirty="0">
                <a:latin typeface="Times New Roman"/>
                <a:cs typeface="Times New Roman"/>
              </a:rPr>
              <a:t>IN</a:t>
            </a:r>
            <a:endParaRPr sz="1400">
              <a:latin typeface="Times New Roman"/>
              <a:cs typeface="Times New Roman"/>
            </a:endParaRPr>
          </a:p>
          <a:p>
            <a:pPr algn="ctr">
              <a:lnSpc>
                <a:spcPct val="100000"/>
              </a:lnSpc>
              <a:spcBef>
                <a:spcPts val="735"/>
              </a:spcBef>
            </a:pPr>
            <a:r>
              <a:rPr sz="1400" b="1" dirty="0">
                <a:latin typeface="Times New Roman"/>
                <a:cs typeface="Times New Roman"/>
              </a:rPr>
              <a:t>ARTIFICIAL</a:t>
            </a:r>
            <a:r>
              <a:rPr sz="1400" b="1" spc="85" dirty="0">
                <a:latin typeface="Times New Roman"/>
                <a:cs typeface="Times New Roman"/>
              </a:rPr>
              <a:t> </a:t>
            </a:r>
            <a:r>
              <a:rPr sz="1400" b="1" dirty="0">
                <a:latin typeface="Times New Roman"/>
                <a:cs typeface="Times New Roman"/>
              </a:rPr>
              <a:t>INTELLIGENCE</a:t>
            </a:r>
            <a:r>
              <a:rPr sz="1400" b="1" spc="90" dirty="0">
                <a:latin typeface="Times New Roman"/>
                <a:cs typeface="Times New Roman"/>
              </a:rPr>
              <a:t> </a:t>
            </a:r>
            <a:r>
              <a:rPr sz="1400" b="1" dirty="0">
                <a:latin typeface="Times New Roman"/>
                <a:cs typeface="Times New Roman"/>
              </a:rPr>
              <a:t>AND</a:t>
            </a:r>
            <a:r>
              <a:rPr sz="1400" b="1" spc="75" dirty="0">
                <a:latin typeface="Times New Roman"/>
                <a:cs typeface="Times New Roman"/>
              </a:rPr>
              <a:t> </a:t>
            </a:r>
            <a:r>
              <a:rPr sz="1400" b="1" dirty="0">
                <a:latin typeface="Times New Roman"/>
                <a:cs typeface="Times New Roman"/>
              </a:rPr>
              <a:t>DATA</a:t>
            </a:r>
            <a:r>
              <a:rPr sz="1400" b="1" spc="95" dirty="0">
                <a:latin typeface="Times New Roman"/>
                <a:cs typeface="Times New Roman"/>
              </a:rPr>
              <a:t> </a:t>
            </a:r>
            <a:r>
              <a:rPr sz="1400" b="1" spc="-10" dirty="0">
                <a:latin typeface="Times New Roman"/>
                <a:cs typeface="Times New Roman"/>
              </a:rPr>
              <a:t>SCIENCE</a:t>
            </a:r>
            <a:endParaRPr sz="1400">
              <a:latin typeface="Times New Roman"/>
              <a:cs typeface="Times New Roman"/>
            </a:endParaRPr>
          </a:p>
        </p:txBody>
      </p:sp>
      <p:pic>
        <p:nvPicPr>
          <p:cNvPr id="3" name="object 3"/>
          <p:cNvPicPr/>
          <p:nvPr/>
        </p:nvPicPr>
        <p:blipFill>
          <a:blip r:embed="rId2" cstate="print"/>
          <a:stretch>
            <a:fillRect/>
          </a:stretch>
        </p:blipFill>
        <p:spPr>
          <a:xfrm>
            <a:off x="2604770" y="7296784"/>
            <a:ext cx="2847975" cy="629285"/>
          </a:xfrm>
          <a:prstGeom prst="rect">
            <a:avLst/>
          </a:prstGeom>
        </p:spPr>
      </p:pic>
      <p:sp>
        <p:nvSpPr>
          <p:cNvPr id="4" name="object 4"/>
          <p:cNvSpPr txBox="1"/>
          <p:nvPr/>
        </p:nvSpPr>
        <p:spPr>
          <a:xfrm>
            <a:off x="2531491" y="8310219"/>
            <a:ext cx="3001645" cy="944880"/>
          </a:xfrm>
          <a:prstGeom prst="rect">
            <a:avLst/>
          </a:prstGeom>
        </p:spPr>
        <p:txBody>
          <a:bodyPr vert="horz" wrap="square" lIns="0" tIns="12065" rIns="0" bIns="0" rtlCol="0">
            <a:spAutoFit/>
          </a:bodyPr>
          <a:lstStyle/>
          <a:p>
            <a:pPr marL="12065" marR="5080" algn="ctr">
              <a:lnSpc>
                <a:spcPct val="143600"/>
              </a:lnSpc>
              <a:spcBef>
                <a:spcPts val="95"/>
              </a:spcBef>
            </a:pPr>
            <a:r>
              <a:rPr sz="1400" b="1" spc="-30" dirty="0">
                <a:latin typeface="Times New Roman"/>
                <a:cs typeface="Times New Roman"/>
              </a:rPr>
              <a:t>AMRITA</a:t>
            </a:r>
            <a:r>
              <a:rPr sz="1400" b="1" spc="-45" dirty="0">
                <a:latin typeface="Times New Roman"/>
                <a:cs typeface="Times New Roman"/>
              </a:rPr>
              <a:t> </a:t>
            </a:r>
            <a:r>
              <a:rPr sz="1400" b="1" spc="-30" dirty="0">
                <a:latin typeface="Times New Roman"/>
                <a:cs typeface="Times New Roman"/>
              </a:rPr>
              <a:t>VISHWA</a:t>
            </a:r>
            <a:r>
              <a:rPr sz="1400" b="1" spc="-25" dirty="0">
                <a:latin typeface="Times New Roman"/>
                <a:cs typeface="Times New Roman"/>
              </a:rPr>
              <a:t> </a:t>
            </a:r>
            <a:r>
              <a:rPr sz="1400" b="1" spc="-30" dirty="0">
                <a:latin typeface="Times New Roman"/>
                <a:cs typeface="Times New Roman"/>
              </a:rPr>
              <a:t>VIDYAPEETHAM AMRITAPURI</a:t>
            </a:r>
            <a:r>
              <a:rPr sz="1400" b="1" spc="-35" dirty="0">
                <a:latin typeface="Times New Roman"/>
                <a:cs typeface="Times New Roman"/>
              </a:rPr>
              <a:t> </a:t>
            </a:r>
            <a:r>
              <a:rPr sz="1400" b="1" spc="-10" dirty="0">
                <a:latin typeface="Times New Roman"/>
                <a:cs typeface="Times New Roman"/>
              </a:rPr>
              <a:t>CAMPUS </a:t>
            </a:r>
            <a:r>
              <a:rPr sz="1400" b="1" dirty="0">
                <a:latin typeface="Times New Roman"/>
                <a:cs typeface="Times New Roman"/>
              </a:rPr>
              <a:t>NOVEMBER</a:t>
            </a:r>
            <a:r>
              <a:rPr sz="1400" b="1" spc="114" dirty="0">
                <a:latin typeface="Times New Roman"/>
                <a:cs typeface="Times New Roman"/>
              </a:rPr>
              <a:t> </a:t>
            </a:r>
            <a:r>
              <a:rPr sz="1400" b="1" spc="-20" dirty="0">
                <a:latin typeface="Times New Roman"/>
                <a:cs typeface="Times New Roman"/>
              </a:rPr>
              <a:t>2024</a:t>
            </a:r>
            <a:endParaRPr sz="1400">
              <a:latin typeface="Times New Roman"/>
              <a:cs typeface="Times New Roman"/>
            </a:endParaRPr>
          </a:p>
        </p:txBody>
      </p:sp>
      <p:sp>
        <p:nvSpPr>
          <p:cNvPr id="5" name="object 5"/>
          <p:cNvSpPr/>
          <p:nvPr/>
        </p:nvSpPr>
        <p:spPr>
          <a:xfrm>
            <a:off x="304800" y="304799"/>
            <a:ext cx="6952615" cy="10084435"/>
          </a:xfrm>
          <a:custGeom>
            <a:avLst/>
            <a:gdLst/>
            <a:ahLst/>
            <a:cxnLst/>
            <a:rect l="l" t="t" r="r" b="b"/>
            <a:pathLst>
              <a:path w="6952615" h="10084435">
                <a:moveTo>
                  <a:pt x="6915658" y="36576"/>
                </a:moveTo>
                <a:lnTo>
                  <a:pt x="6877558" y="36576"/>
                </a:lnTo>
                <a:lnTo>
                  <a:pt x="6877558" y="74676"/>
                </a:lnTo>
                <a:lnTo>
                  <a:pt x="6877558" y="10009327"/>
                </a:lnTo>
                <a:lnTo>
                  <a:pt x="74676" y="10009327"/>
                </a:lnTo>
                <a:lnTo>
                  <a:pt x="74676" y="74676"/>
                </a:lnTo>
                <a:lnTo>
                  <a:pt x="6877558" y="74676"/>
                </a:lnTo>
                <a:lnTo>
                  <a:pt x="6877558" y="36576"/>
                </a:lnTo>
                <a:lnTo>
                  <a:pt x="74676" y="36576"/>
                </a:lnTo>
                <a:lnTo>
                  <a:pt x="36576" y="36576"/>
                </a:lnTo>
                <a:lnTo>
                  <a:pt x="36576" y="74625"/>
                </a:lnTo>
                <a:lnTo>
                  <a:pt x="36576" y="10009327"/>
                </a:lnTo>
                <a:lnTo>
                  <a:pt x="36576" y="10047427"/>
                </a:lnTo>
                <a:lnTo>
                  <a:pt x="74676" y="10047427"/>
                </a:lnTo>
                <a:lnTo>
                  <a:pt x="6877558" y="10047427"/>
                </a:lnTo>
                <a:lnTo>
                  <a:pt x="6915658" y="10047427"/>
                </a:lnTo>
                <a:lnTo>
                  <a:pt x="6915658" y="10009327"/>
                </a:lnTo>
                <a:lnTo>
                  <a:pt x="6915658" y="74676"/>
                </a:lnTo>
                <a:lnTo>
                  <a:pt x="6915658" y="36576"/>
                </a:lnTo>
                <a:close/>
              </a:path>
              <a:path w="6952615" h="10084435">
                <a:moveTo>
                  <a:pt x="6952234" y="0"/>
                </a:moveTo>
                <a:lnTo>
                  <a:pt x="6933946" y="0"/>
                </a:lnTo>
                <a:lnTo>
                  <a:pt x="6933946" y="18288"/>
                </a:lnTo>
                <a:lnTo>
                  <a:pt x="6933946" y="74625"/>
                </a:lnTo>
                <a:lnTo>
                  <a:pt x="6933946" y="10009327"/>
                </a:lnTo>
                <a:lnTo>
                  <a:pt x="6933946" y="10065715"/>
                </a:lnTo>
                <a:lnTo>
                  <a:pt x="6877558" y="10065715"/>
                </a:lnTo>
                <a:lnTo>
                  <a:pt x="74676" y="10065715"/>
                </a:lnTo>
                <a:lnTo>
                  <a:pt x="18288" y="10065715"/>
                </a:lnTo>
                <a:lnTo>
                  <a:pt x="18288" y="10009327"/>
                </a:lnTo>
                <a:lnTo>
                  <a:pt x="18288" y="74676"/>
                </a:lnTo>
                <a:lnTo>
                  <a:pt x="18288" y="18288"/>
                </a:lnTo>
                <a:lnTo>
                  <a:pt x="74676" y="18288"/>
                </a:lnTo>
                <a:lnTo>
                  <a:pt x="6877558" y="18288"/>
                </a:lnTo>
                <a:lnTo>
                  <a:pt x="6933946" y="18288"/>
                </a:lnTo>
                <a:lnTo>
                  <a:pt x="6933946" y="0"/>
                </a:lnTo>
                <a:lnTo>
                  <a:pt x="6877558" y="0"/>
                </a:lnTo>
                <a:lnTo>
                  <a:pt x="74676" y="0"/>
                </a:lnTo>
                <a:lnTo>
                  <a:pt x="18288" y="0"/>
                </a:lnTo>
                <a:lnTo>
                  <a:pt x="0" y="0"/>
                </a:lnTo>
                <a:lnTo>
                  <a:pt x="0" y="18288"/>
                </a:lnTo>
                <a:lnTo>
                  <a:pt x="0" y="10084003"/>
                </a:lnTo>
                <a:lnTo>
                  <a:pt x="18288" y="10084003"/>
                </a:lnTo>
                <a:lnTo>
                  <a:pt x="74676" y="10084003"/>
                </a:lnTo>
                <a:lnTo>
                  <a:pt x="6877558" y="10084003"/>
                </a:lnTo>
                <a:lnTo>
                  <a:pt x="6933946" y="10084003"/>
                </a:lnTo>
                <a:lnTo>
                  <a:pt x="6952234" y="10084003"/>
                </a:lnTo>
                <a:lnTo>
                  <a:pt x="6952234" y="10065715"/>
                </a:lnTo>
                <a:lnTo>
                  <a:pt x="6952234" y="10009327"/>
                </a:lnTo>
                <a:lnTo>
                  <a:pt x="6952234" y="74676"/>
                </a:lnTo>
                <a:lnTo>
                  <a:pt x="6952234" y="18288"/>
                </a:lnTo>
                <a:lnTo>
                  <a:pt x="6952234" y="0"/>
                </a:lnTo>
                <a:close/>
              </a:path>
            </a:pathLst>
          </a:custGeom>
          <a:solidFill>
            <a:srgbClr val="000000"/>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5650" y="850900"/>
            <a:ext cx="3962400" cy="646331"/>
          </a:xfrm>
          <a:prstGeom prst="rect">
            <a:avLst/>
          </a:prstGeom>
          <a:noFill/>
        </p:spPr>
        <p:txBody>
          <a:bodyPr wrap="square" rtlCol="0">
            <a:spAutoFit/>
          </a:bodyPr>
          <a:lstStyle/>
          <a:p>
            <a:pPr algn="ctr"/>
            <a:r>
              <a:rPr lang="en-IN" b="1" dirty="0" smtClean="0">
                <a:latin typeface="Times New Roman" pitchFamily="18" charset="0"/>
                <a:cs typeface="Times New Roman" pitchFamily="18" charset="0"/>
              </a:rPr>
              <a:t>TABLE OF CONTENTS</a:t>
            </a:r>
            <a:endParaRPr lang="en-US" b="1" dirty="0" smtClean="0">
              <a:latin typeface="Times New Roman" pitchFamily="18" charset="0"/>
              <a:cs typeface="Times New Roman" pitchFamily="18" charset="0"/>
            </a:endParaRPr>
          </a:p>
          <a:p>
            <a:endParaRPr lang="en-US" dirty="0"/>
          </a:p>
        </p:txBody>
      </p:sp>
      <p:graphicFrame>
        <p:nvGraphicFramePr>
          <p:cNvPr id="4" name="Table 3"/>
          <p:cNvGraphicFramePr>
            <a:graphicFrameLocks noGrp="1"/>
          </p:cNvGraphicFramePr>
          <p:nvPr/>
        </p:nvGraphicFramePr>
        <p:xfrm>
          <a:off x="1263650" y="2451100"/>
          <a:ext cx="5388257" cy="3454540"/>
        </p:xfrm>
        <a:graphic>
          <a:graphicData uri="http://schemas.openxmlformats.org/drawingml/2006/table">
            <a:tbl>
              <a:tblPr firstRow="1" bandRow="1">
                <a:tableStyleId>{2D5ABB26-0587-4C30-8999-92F81FD0307C}</a:tableStyleId>
              </a:tblPr>
              <a:tblGrid>
                <a:gridCol w="1052830"/>
                <a:gridCol w="2656205"/>
                <a:gridCol w="1679222"/>
              </a:tblGrid>
              <a:tr h="380012">
                <a:tc>
                  <a:txBody>
                    <a:bodyPr/>
                    <a:lstStyle/>
                    <a:p>
                      <a:pPr algn="ctr"/>
                      <a:r>
                        <a:rPr lang="en-IN" dirty="0" smtClean="0">
                          <a:latin typeface="Times New Roman" pitchFamily="18" charset="0"/>
                          <a:cs typeface="Times New Roman" pitchFamily="18" charset="0"/>
                        </a:rPr>
                        <a:t>Chapter</a:t>
                      </a:r>
                      <a:endParaRPr lang="en-US" b="1" dirty="0">
                        <a:latin typeface="Times New Roman" pitchFamily="18" charset="0"/>
                        <a:cs typeface="Times New Roman" pitchFamily="18" charset="0"/>
                      </a:endParaRPr>
                    </a:p>
                  </a:txBody>
                  <a:tcPr/>
                </a:tc>
                <a:tc>
                  <a:txBody>
                    <a:bodyPr/>
                    <a:lstStyle/>
                    <a:p>
                      <a:pPr algn="ctr"/>
                      <a:r>
                        <a:rPr lang="en-IN" dirty="0" smtClean="0">
                          <a:latin typeface="Times New Roman" pitchFamily="18" charset="0"/>
                          <a:cs typeface="Times New Roman" pitchFamily="18" charset="0"/>
                        </a:rPr>
                        <a:t>Title</a:t>
                      </a:r>
                      <a:endParaRPr lang="en-US" b="1" dirty="0">
                        <a:latin typeface="Times New Roman" pitchFamily="18" charset="0"/>
                        <a:cs typeface="Times New Roman" pitchFamily="18" charset="0"/>
                      </a:endParaRPr>
                    </a:p>
                  </a:txBody>
                  <a:tcPr/>
                </a:tc>
                <a:tc>
                  <a:txBody>
                    <a:bodyPr/>
                    <a:lstStyle/>
                    <a:p>
                      <a:pPr algn="ctr"/>
                      <a:r>
                        <a:rPr lang="en-IN" dirty="0" err="1" smtClean="0">
                          <a:latin typeface="Times New Roman" pitchFamily="18" charset="0"/>
                          <a:cs typeface="Times New Roman" pitchFamily="18" charset="0"/>
                        </a:rPr>
                        <a:t>Page.No</a:t>
                      </a:r>
                      <a:endParaRPr lang="en-US" b="1"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INTRODUCTION</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1</a:t>
                      </a:r>
                      <a:r>
                        <a:rPr lang="en-IN" sz="1400" baseline="0" dirty="0" smtClean="0">
                          <a:latin typeface="Times New Roman" pitchFamily="18" charset="0"/>
                          <a:cs typeface="Times New Roman" pitchFamily="18" charset="0"/>
                        </a:rPr>
                        <a:t> </a:t>
                      </a:r>
                      <a:r>
                        <a:rPr lang="en-IN" sz="1400" dirty="0" smtClean="0">
                          <a:latin typeface="Times New Roman" pitchFamily="18" charset="0"/>
                          <a:cs typeface="Times New Roman" pitchFamily="18" charset="0"/>
                        </a:rPr>
                        <a:t>- 3</a:t>
                      </a:r>
                      <a:endParaRPr lang="en-US" sz="1400"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REVIEW OF LITERATURE</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4 </a:t>
                      </a:r>
                      <a:r>
                        <a:rPr lang="en-IN" sz="1400" baseline="0" dirty="0" smtClean="0">
                          <a:latin typeface="Times New Roman" pitchFamily="18" charset="0"/>
                          <a:cs typeface="Times New Roman" pitchFamily="18" charset="0"/>
                        </a:rPr>
                        <a:t>- 5</a:t>
                      </a:r>
                      <a:endParaRPr lang="en-US" sz="1400"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DESIGN</a:t>
                      </a:r>
                      <a:r>
                        <a:rPr lang="en-IN" sz="1400" baseline="0" dirty="0" smtClean="0">
                          <a:latin typeface="Times New Roman" pitchFamily="18" charset="0"/>
                          <a:cs typeface="Times New Roman" pitchFamily="18" charset="0"/>
                        </a:rPr>
                        <a:t> CONSIDERATIONS</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6 - 14</a:t>
                      </a:r>
                      <a:endParaRPr lang="en-US" sz="1400"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4</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CIRCUIT DIAGRAM</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15 - 16</a:t>
                      </a:r>
                      <a:endParaRPr lang="en-US" sz="1400"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5</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IMPLEMENTATION </a:t>
                      </a:r>
                      <a:r>
                        <a:rPr lang="en-IN" sz="1400" baseline="0" dirty="0" smtClean="0">
                          <a:latin typeface="Times New Roman" pitchFamily="18" charset="0"/>
                          <a:cs typeface="Times New Roman" pitchFamily="18" charset="0"/>
                        </a:rPr>
                        <a:t> AND</a:t>
                      </a:r>
                      <a:r>
                        <a:rPr lang="en-IN" sz="1400" dirty="0" smtClean="0">
                          <a:latin typeface="Times New Roman" pitchFamily="18" charset="0"/>
                          <a:cs typeface="Times New Roman" pitchFamily="18" charset="0"/>
                        </a:rPr>
                        <a:t> RESULTS</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17</a:t>
                      </a:r>
                      <a:r>
                        <a:rPr lang="en-IN" sz="1400" baseline="0" dirty="0" smtClean="0">
                          <a:latin typeface="Times New Roman" pitchFamily="18" charset="0"/>
                          <a:cs typeface="Times New Roman" pitchFamily="18" charset="0"/>
                        </a:rPr>
                        <a:t> </a:t>
                      </a:r>
                      <a:r>
                        <a:rPr lang="en-IN" sz="1400" dirty="0" smtClean="0">
                          <a:latin typeface="Times New Roman" pitchFamily="18" charset="0"/>
                          <a:cs typeface="Times New Roman" pitchFamily="18" charset="0"/>
                        </a:rPr>
                        <a:t> -</a:t>
                      </a:r>
                      <a:r>
                        <a:rPr lang="en-IN" sz="1400" baseline="0" dirty="0" smtClean="0">
                          <a:latin typeface="Times New Roman" pitchFamily="18" charset="0"/>
                          <a:cs typeface="Times New Roman" pitchFamily="18" charset="0"/>
                        </a:rPr>
                        <a:t> </a:t>
                      </a:r>
                      <a:r>
                        <a:rPr lang="en-IN" sz="1400" dirty="0" smtClean="0">
                          <a:latin typeface="Times New Roman" pitchFamily="18" charset="0"/>
                          <a:cs typeface="Times New Roman" pitchFamily="18" charset="0"/>
                        </a:rPr>
                        <a:t>18</a:t>
                      </a:r>
                      <a:endParaRPr lang="en-US" sz="1400"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6</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ADVANTAGES AND APPLICATIONS</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19</a:t>
                      </a:r>
                      <a:endParaRPr lang="en-US" sz="1400" dirty="0">
                        <a:latin typeface="Times New Roman" pitchFamily="18" charset="0"/>
                        <a:cs typeface="Times New Roman" pitchFamily="18" charset="0"/>
                      </a:endParaRPr>
                    </a:p>
                  </a:txBody>
                  <a:tcPr/>
                </a:tc>
              </a:tr>
              <a:tr h="380012">
                <a:tc>
                  <a:txBody>
                    <a:bodyPr/>
                    <a:lstStyle/>
                    <a:p>
                      <a:pPr algn="ctr"/>
                      <a:r>
                        <a:rPr lang="en-IN" sz="1400" dirty="0" smtClean="0">
                          <a:latin typeface="Times New Roman" pitchFamily="18" charset="0"/>
                          <a:cs typeface="Times New Roman" pitchFamily="18" charset="0"/>
                        </a:rPr>
                        <a:t>7</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CONCLUSION AND FUTURE  SCOPE</a:t>
                      </a:r>
                      <a:endParaRPr lang="en-US" sz="1400" dirty="0">
                        <a:latin typeface="Times New Roman" pitchFamily="18" charset="0"/>
                        <a:cs typeface="Times New Roman" pitchFamily="18" charset="0"/>
                      </a:endParaRPr>
                    </a:p>
                  </a:txBody>
                  <a:tcPr/>
                </a:tc>
                <a:tc>
                  <a:txBody>
                    <a:bodyPr/>
                    <a:lstStyle/>
                    <a:p>
                      <a:pPr algn="ctr"/>
                      <a:r>
                        <a:rPr lang="en-IN" sz="1400" dirty="0" smtClean="0">
                          <a:latin typeface="Times New Roman" pitchFamily="18" charset="0"/>
                          <a:cs typeface="Times New Roman" pitchFamily="18" charset="0"/>
                        </a:rPr>
                        <a:t>20</a:t>
                      </a:r>
                      <a:endParaRPr lang="en-US" sz="1400" dirty="0">
                        <a:latin typeface="Times New Roman" pitchFamily="18" charset="0"/>
                        <a:cs typeface="Times New Roman" pitchFamily="18" charset="0"/>
                      </a:endParaRPr>
                    </a:p>
                  </a:txBody>
                  <a:tcPr/>
                </a:tc>
              </a:tr>
            </a:tbl>
          </a:graphicData>
        </a:graphic>
      </p:graphicFrame>
      <p:sp>
        <p:nvSpPr>
          <p:cNvPr id="7" name="Footer Placeholder 6"/>
          <p:cNvSpPr>
            <a:spLocks noGrp="1"/>
          </p:cNvSpPr>
          <p:nvPr>
            <p:ph type="ftr" sz="quarter" idx="5"/>
          </p:nvPr>
        </p:nvSpPr>
        <p:spPr>
          <a:xfrm>
            <a:off x="2571369" y="9944862"/>
            <a:ext cx="2420112" cy="246221"/>
          </a:xfrm>
        </p:spPr>
        <p:txBody>
          <a:bodyPr/>
          <a:lstStyle/>
          <a:p>
            <a:r>
              <a:rPr lang="en-IN" sz="1600" b="1" dirty="0" err="1" smtClean="0">
                <a:latin typeface="Times New Roman" pitchFamily="18" charset="0"/>
                <a:cs typeface="Times New Roman" pitchFamily="18" charset="0"/>
              </a:rPr>
              <a:t>i</a:t>
            </a:r>
            <a:endParaRPr lang="en-US" sz="16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13263" y="945934"/>
            <a:ext cx="5176573" cy="319959"/>
          </a:xfrm>
          <a:prstGeom prst="rect">
            <a:avLst/>
          </a:prstGeom>
        </p:spPr>
        <p:txBody>
          <a:bodyPr vert="horz" wrap="square" lIns="0" tIns="12065" rIns="0" bIns="0" rtlCol="0">
            <a:spAutoFit/>
          </a:bodyPr>
          <a:lstStyle/>
          <a:p>
            <a:pPr algn="ctr">
              <a:lnSpc>
                <a:spcPct val="100000"/>
              </a:lnSpc>
              <a:spcBef>
                <a:spcPts val="95"/>
              </a:spcBef>
            </a:pPr>
            <a:r>
              <a:rPr sz="2000" b="1" spc="-10" smtClean="0">
                <a:latin typeface="Times New Roman"/>
                <a:cs typeface="Times New Roman"/>
              </a:rPr>
              <a:t>ABSTRACT</a:t>
            </a:r>
            <a:endParaRPr sz="2000">
              <a:latin typeface="Times New Roman"/>
              <a:cs typeface="Times New Roman"/>
            </a:endParaRPr>
          </a:p>
        </p:txBody>
      </p:sp>
      <p:sp>
        <p:nvSpPr>
          <p:cNvPr id="4" name="TextBox 3"/>
          <p:cNvSpPr txBox="1"/>
          <p:nvPr/>
        </p:nvSpPr>
        <p:spPr>
          <a:xfrm>
            <a:off x="654050" y="850900"/>
            <a:ext cx="6324600" cy="6740307"/>
          </a:xfrm>
          <a:prstGeom prst="rect">
            <a:avLst/>
          </a:prstGeom>
          <a:noFill/>
        </p:spPr>
        <p:txBody>
          <a:bodyPr wrap="square" rtlCol="0">
            <a:spAutoFit/>
          </a:bodyPr>
          <a:lstStyle/>
          <a:p>
            <a:endParaRPr lang="en-IN" sz="1200" dirty="0" smtClean="0">
              <a:latin typeface="Times New Roman" pitchFamily="18" charset="0"/>
              <a:cs typeface="Times New Roman" pitchFamily="18" charset="0"/>
            </a:endParaRPr>
          </a:p>
          <a:p>
            <a:endParaRPr lang="en-IN" sz="1200" dirty="0">
              <a:latin typeface="Times New Roman" pitchFamily="18" charset="0"/>
              <a:cs typeface="Times New Roman" pitchFamily="18" charset="0"/>
            </a:endParaRPr>
          </a:p>
          <a:p>
            <a:endParaRPr lang="en-IN" sz="1200" dirty="0" smtClean="0">
              <a:latin typeface="Times New Roman" pitchFamily="18" charset="0"/>
              <a:cs typeface="Times New Roman" pitchFamily="18" charset="0"/>
            </a:endParaRPr>
          </a:p>
          <a:p>
            <a:pPr algn="just"/>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                 With the growing security issues, the conventional security systems lack in providing sophisticated and tamper-proof protection. Our project, Laser Light Security System with Fingerprint Sensor, combines laser technology with biometric authentication to form a robust security solution. This innovative system ensures restricted access to authorized individuals, making it ideal for applications in homes, offices, and secure facilities. The system contains a fingerprint sensor for biometric verification, a laser module, a light-dependent resistor (LDR) to detect interruptions, and a relay-controlled locking mechanism. When a user places their finger on the sensor, their biometric data is compared with pre-stored information. Only if the</a:t>
            </a:r>
            <a:fld id="{F25D222B-BF5A-4B0A-A7E3-08ECFE0C7776}" type="slidenum">
              <a:rPr lang="en-US" sz="1200" smtClean="0">
                <a:latin typeface="Times New Roman" pitchFamily="18" charset="0"/>
                <a:cs typeface="Times New Roman" pitchFamily="18" charset="0"/>
              </a:rPr>
              <a:pPr algn="just"/>
              <a:t>3</a:t>
            </a:fld>
            <a:r>
              <a:rPr lang="en-US" sz="1200" dirty="0" smtClean="0">
                <a:latin typeface="Times New Roman" pitchFamily="18" charset="0"/>
                <a:cs typeface="Times New Roman" pitchFamily="18" charset="0"/>
              </a:rPr>
              <a:t> fingerprint is authorized does the laser system activate, ensuring dual-level security. Any unauthorized access attempt triggers alarms or other countermeasures.</a:t>
            </a:r>
          </a:p>
          <a:p>
            <a:pPr algn="just"/>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                Key components include a 5V relay module, a BC547 transistor, and a 10k ohm resistor, which together control the laser and locking mechanism. The fingerprint sensor ensures biometric precision, while the laser and LDR system provides continuous monitoring. These components are carefully chosen for their reliability, low power consumption, and affordability, making the system both efficient and cost-effective.</a:t>
            </a:r>
          </a:p>
          <a:p>
            <a:pPr algn="just"/>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                The dual-layered security approach enhances safety by combining biometric authentication and real-time monitoring. The system is versatile, scalable, and can be customized for various security scenarios. Its potential applications extend beyond residential and commercial premises to include high-security areas like banks, data centers, and research labs. The Laser Light Security System with Fingerprint Sensor is a significant innovation in modern security systems. It offers high accuracy and reliability by using laser technology and biometric authentication. The system is user-friendly, cost-efficient, and adaptable, making it a viable solution for current and future security challenges.</a:t>
            </a:r>
          </a:p>
          <a:p>
            <a:endParaRPr lang="en-US" sz="1200" dirty="0" smtClean="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p:txBody>
      </p:sp>
      <p:sp>
        <p:nvSpPr>
          <p:cNvPr id="7" name="Footer Placeholder 6"/>
          <p:cNvSpPr>
            <a:spLocks noGrp="1"/>
          </p:cNvSpPr>
          <p:nvPr>
            <p:ph type="ftr" sz="quarter" idx="5"/>
          </p:nvPr>
        </p:nvSpPr>
        <p:spPr>
          <a:xfrm>
            <a:off x="2571369" y="9944862"/>
            <a:ext cx="2420112" cy="246221"/>
          </a:xfrm>
        </p:spPr>
        <p:txBody>
          <a:bodyPr/>
          <a:lstStyle/>
          <a:p>
            <a:r>
              <a:rPr lang="en-IN" sz="1600" b="1" dirty="0" smtClean="0">
                <a:latin typeface="Times New Roman" pitchFamily="18" charset="0"/>
                <a:cs typeface="Times New Roman" pitchFamily="18" charset="0"/>
              </a:rPr>
              <a:t>ii</a:t>
            </a:r>
            <a:endParaRPr lang="en-US" sz="16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3050" y="945934"/>
            <a:ext cx="2652801" cy="781624"/>
          </a:xfrm>
          <a:prstGeom prst="rect">
            <a:avLst/>
          </a:prstGeom>
        </p:spPr>
        <p:txBody>
          <a:bodyPr vert="horz" wrap="square" lIns="0" tIns="12065" rIns="0" bIns="0" rtlCol="0">
            <a:spAutoFit/>
          </a:bodyPr>
          <a:lstStyle/>
          <a:p>
            <a:pPr marL="1270" algn="ctr">
              <a:lnSpc>
                <a:spcPct val="100000"/>
              </a:lnSpc>
              <a:spcBef>
                <a:spcPts val="95"/>
              </a:spcBef>
            </a:pPr>
            <a:r>
              <a:rPr sz="2000" b="1" dirty="0">
                <a:latin typeface="Times New Roman"/>
                <a:cs typeface="Times New Roman"/>
              </a:rPr>
              <a:t>CHAPTER</a:t>
            </a:r>
            <a:r>
              <a:rPr sz="2000" b="1" spc="-35" dirty="0">
                <a:latin typeface="Times New Roman"/>
                <a:cs typeface="Times New Roman"/>
              </a:rPr>
              <a:t> </a:t>
            </a:r>
            <a:r>
              <a:rPr sz="2000" b="1" spc="-50" dirty="0">
                <a:latin typeface="Times New Roman"/>
                <a:cs typeface="Times New Roman"/>
              </a:rPr>
              <a:t>1</a:t>
            </a:r>
            <a:endParaRPr sz="2000">
              <a:latin typeface="Times New Roman"/>
              <a:cs typeface="Times New Roman"/>
            </a:endParaRPr>
          </a:p>
          <a:p>
            <a:pPr marL="1270" algn="ctr">
              <a:lnSpc>
                <a:spcPct val="100000"/>
              </a:lnSpc>
              <a:spcBef>
                <a:spcPts val="1200"/>
              </a:spcBef>
            </a:pPr>
            <a:r>
              <a:rPr sz="2000" b="1" spc="-10" smtClean="0">
                <a:latin typeface="Times New Roman"/>
                <a:cs typeface="Times New Roman"/>
              </a:rPr>
              <a:t>INTRODUCTION</a:t>
            </a:r>
            <a:endParaRPr sz="2000">
              <a:latin typeface="Times New Roman"/>
              <a:cs typeface="Times New Roman"/>
            </a:endParaRPr>
          </a:p>
        </p:txBody>
      </p:sp>
      <p:sp>
        <p:nvSpPr>
          <p:cNvPr id="3" name="object 3"/>
          <p:cNvSpPr txBox="1"/>
          <p:nvPr/>
        </p:nvSpPr>
        <p:spPr>
          <a:xfrm>
            <a:off x="1111250" y="1918032"/>
            <a:ext cx="2362200" cy="228268"/>
          </a:xfrm>
          <a:prstGeom prst="rect">
            <a:avLst/>
          </a:prstGeom>
        </p:spPr>
        <p:txBody>
          <a:bodyPr vert="horz" wrap="square" lIns="0" tIns="12700" rIns="0" bIns="0" rtlCol="0">
            <a:spAutoFit/>
          </a:bodyPr>
          <a:lstStyle/>
          <a:p>
            <a:pPr marL="12700">
              <a:lnSpc>
                <a:spcPct val="100000"/>
              </a:lnSpc>
              <a:spcBef>
                <a:spcPts val="100"/>
              </a:spcBef>
            </a:pPr>
            <a:r>
              <a:rPr sz="1400" b="1" smtClean="0">
                <a:latin typeface="Times New Roman"/>
                <a:cs typeface="Times New Roman"/>
              </a:rPr>
              <a:t>1.1</a:t>
            </a:r>
            <a:r>
              <a:rPr lang="en-IN" sz="1400" b="1" spc="110" dirty="0">
                <a:latin typeface="Times New Roman"/>
                <a:cs typeface="Times New Roman"/>
              </a:rPr>
              <a:t> </a:t>
            </a:r>
            <a:r>
              <a:rPr lang="en-IN" sz="1400" b="1" spc="110" dirty="0" smtClean="0">
                <a:latin typeface="Times New Roman"/>
                <a:cs typeface="Times New Roman"/>
              </a:rPr>
              <a:t> </a:t>
            </a:r>
            <a:r>
              <a:rPr sz="1400" b="1" spc="-10" smtClean="0">
                <a:latin typeface="Times New Roman"/>
                <a:cs typeface="Times New Roman"/>
              </a:rPr>
              <a:t>BACKGROUND</a:t>
            </a:r>
            <a:endParaRPr sz="1400">
              <a:latin typeface="Times New Roman"/>
              <a:cs typeface="Times New Roman"/>
            </a:endParaRPr>
          </a:p>
        </p:txBody>
      </p:sp>
      <p:sp>
        <p:nvSpPr>
          <p:cNvPr id="4" name="object 4"/>
          <p:cNvSpPr txBox="1"/>
          <p:nvPr/>
        </p:nvSpPr>
        <p:spPr>
          <a:xfrm>
            <a:off x="1102431" y="6261100"/>
            <a:ext cx="2675819" cy="228909"/>
          </a:xfrm>
          <a:prstGeom prst="rect">
            <a:avLst/>
          </a:prstGeom>
        </p:spPr>
        <p:txBody>
          <a:bodyPr vert="horz" wrap="square" lIns="0" tIns="13335" rIns="0" bIns="0" rtlCol="0">
            <a:spAutoFit/>
          </a:bodyPr>
          <a:lstStyle/>
          <a:p>
            <a:pPr marL="12700">
              <a:lnSpc>
                <a:spcPct val="100000"/>
              </a:lnSpc>
              <a:spcBef>
                <a:spcPts val="105"/>
              </a:spcBef>
            </a:pPr>
            <a:r>
              <a:rPr sz="1400" b="1">
                <a:latin typeface="Times New Roman"/>
                <a:cs typeface="Times New Roman"/>
              </a:rPr>
              <a:t>1.2 </a:t>
            </a:r>
            <a:r>
              <a:rPr lang="en-IN" sz="1400" b="1" dirty="0" smtClean="0">
                <a:latin typeface="Times New Roman"/>
                <a:cs typeface="Times New Roman"/>
              </a:rPr>
              <a:t> </a:t>
            </a:r>
            <a:r>
              <a:rPr sz="1400" b="1" spc="-10" smtClean="0">
                <a:latin typeface="Times New Roman"/>
                <a:cs typeface="Times New Roman"/>
              </a:rPr>
              <a:t>OBJECTIVES</a:t>
            </a:r>
            <a:endParaRPr sz="1400">
              <a:latin typeface="Times New Roman"/>
              <a:cs typeface="Times New Roman"/>
            </a:endParaRPr>
          </a:p>
        </p:txBody>
      </p:sp>
      <p:sp>
        <p:nvSpPr>
          <p:cNvPr id="8" name="TextBox 7"/>
          <p:cNvSpPr txBox="1"/>
          <p:nvPr/>
        </p:nvSpPr>
        <p:spPr>
          <a:xfrm>
            <a:off x="1035050" y="2298700"/>
            <a:ext cx="5715000" cy="4339650"/>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Advancements in photonics and automation technologies have significantly reduced the requirement for human intervention in several sectors, especially in security systems. Laser security systems, using laser technology, are increasingly deployed to increase safety and protect sensitive areas from unauthorized access. The ability to detect and respond to threats in real time has become a vital aspect of modern security infrastructure.</a:t>
            </a:r>
          </a:p>
          <a:p>
            <a:pPr algn="just"/>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In high-risk environments such as restricted zones, industrial facilities, and government buildings, security threats can arise unexpectedly, jeopardizing both human lives and valuable assets. Traditional security measures, like motion detectors, infrared sensors, or CCTV surveillance, tend to have limited ranges and accuracy, as well as response times. Such systems are usually dependent on the manual monitoring of human elements or delayed reactions that permit damage. The laser security system offers a solution that detects disturbances in a laser beam and initiates alarms or security protocol without the involvement of any human element.</a:t>
            </a:r>
          </a:p>
          <a:p>
            <a:pPr algn="just"/>
            <a:endParaRPr lang="en-US" sz="1200" dirty="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This project focuses on developing a laser security system that integrates advanced laser sensors with automated response mechanisms, ensuring continuous monitoring and rapid, reliable detection and prevention of unauthorized access. By leveraging cutting-edge laser technology, this system aims to enhance overall security and provide a highly efficient solution to modern security challenges.</a:t>
            </a:r>
          </a:p>
          <a:p>
            <a:endParaRPr lang="en-US" sz="1200" dirty="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p:txBody>
      </p:sp>
      <p:sp>
        <p:nvSpPr>
          <p:cNvPr id="9" name="TextBox 8"/>
          <p:cNvSpPr txBox="1"/>
          <p:nvPr/>
        </p:nvSpPr>
        <p:spPr>
          <a:xfrm>
            <a:off x="1035050" y="6794500"/>
            <a:ext cx="5715000" cy="3046988"/>
          </a:xfrm>
          <a:prstGeom prst="rect">
            <a:avLst/>
          </a:prstGeom>
          <a:noFill/>
        </p:spPr>
        <p:txBody>
          <a:bodyPr wrap="square" rtlCol="0">
            <a:spAutoFit/>
          </a:bodyPr>
          <a:lstStyle/>
          <a:p>
            <a:pPr algn="just">
              <a:buFont typeface="Arial" pitchFamily="34" charset="0"/>
              <a:buChar char="•"/>
            </a:pPr>
            <a:r>
              <a:rPr lang="en-US" sz="1200" dirty="0" smtClean="0">
                <a:latin typeface="Times New Roman" pitchFamily="18" charset="0"/>
                <a:cs typeface="Times New Roman" pitchFamily="18" charset="0"/>
              </a:rPr>
              <a:t>  Objective: Design a low-cost and reliable laser security system using basic electronic                                       </a:t>
            </a:r>
          </a:p>
          <a:p>
            <a:pPr algn="just"/>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components such as laser sensors and transistors.</a:t>
            </a:r>
          </a:p>
          <a:p>
            <a:pPr algn="just">
              <a:buFont typeface="Arial" pitchFamily="34" charset="0"/>
              <a:buChar char="•"/>
            </a:pPr>
            <a:r>
              <a:rPr lang="en-US" sz="1200" dirty="0" smtClean="0">
                <a:latin typeface="Times New Roman" pitchFamily="18" charset="0"/>
                <a:cs typeface="Times New Roman" pitchFamily="18" charset="0"/>
              </a:rPr>
              <a:t>  Function: The system will utilize focused laser beams to monitor a defined area and </a:t>
            </a:r>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detect</a:t>
            </a:r>
            <a:r>
              <a:rPr lang="en-US" sz="1200" dirty="0" smtClean="0">
                <a:latin typeface="Times New Roman" pitchFamily="18" charset="0"/>
                <a:cs typeface="Times New Roman" pitchFamily="18" charset="0"/>
              </a:rPr>
              <a:t> disturbances caused by intrusions or unauthorized access.</a:t>
            </a:r>
          </a:p>
          <a:p>
            <a:pPr algn="just">
              <a:buFont typeface="Arial" pitchFamily="34" charset="0"/>
              <a:buChar char="•"/>
            </a:pPr>
            <a:r>
              <a:rPr lang="en-US" sz="1200" dirty="0" smtClean="0">
                <a:latin typeface="Times New Roman" pitchFamily="18" charset="0"/>
                <a:cs typeface="Times New Roman" pitchFamily="18" charset="0"/>
              </a:rPr>
              <a:t>  Automation: No human intervention required; the system automatically detects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intrusions</a:t>
            </a:r>
            <a:r>
              <a:rPr lang="en-US" sz="1200" dirty="0" smtClean="0">
                <a:latin typeface="Times New Roman" pitchFamily="18" charset="0"/>
                <a:cs typeface="Times New Roman" pitchFamily="18" charset="0"/>
              </a:rPr>
              <a:t> and activates security measures such as alarms or lock-down protocols.</a:t>
            </a:r>
          </a:p>
          <a:p>
            <a:pPr algn="just">
              <a:buFont typeface="Arial" pitchFamily="34" charset="0"/>
              <a:buChar char="•"/>
            </a:pPr>
            <a:r>
              <a:rPr lang="en-US" sz="1200" dirty="0" smtClean="0">
                <a:latin typeface="Times New Roman" pitchFamily="18" charset="0"/>
                <a:cs typeface="Times New Roman" pitchFamily="18" charset="0"/>
              </a:rPr>
              <a:t>  Early Detection: The system detects intrusions early and responds autonomously,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providing</a:t>
            </a:r>
            <a:r>
              <a:rPr lang="en-US" sz="1200" dirty="0" smtClean="0">
                <a:latin typeface="Times New Roman" pitchFamily="18" charset="0"/>
                <a:cs typeface="Times New Roman" pitchFamily="18" charset="0"/>
              </a:rPr>
              <a:t> enhanced protection against unauthorized access to sensitive areas.</a:t>
            </a:r>
          </a:p>
          <a:p>
            <a:pPr algn="just">
              <a:buFont typeface="Arial" pitchFamily="34" charset="0"/>
              <a:buChar char="•"/>
            </a:pPr>
            <a:r>
              <a:rPr lang="en-US" sz="1200" dirty="0" smtClean="0">
                <a:latin typeface="Times New Roman" pitchFamily="18" charset="0"/>
                <a:cs typeface="Times New Roman" pitchFamily="18" charset="0"/>
              </a:rPr>
              <a:t>  Vulnerability of High-Risk Environments: Despite widespread use of conventional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security</a:t>
            </a:r>
            <a:r>
              <a:rPr lang="en-US" sz="1200" dirty="0" smtClean="0">
                <a:latin typeface="Times New Roman" pitchFamily="18" charset="0"/>
                <a:cs typeface="Times New Roman" pitchFamily="18" charset="0"/>
              </a:rPr>
              <a:t> systems, many high-risk environments like restricted zones, industrial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facilities</a:t>
            </a:r>
            <a:r>
              <a:rPr lang="en-US" sz="1200" dirty="0" smtClean="0">
                <a:latin typeface="Times New Roman" pitchFamily="18" charset="0"/>
                <a:cs typeface="Times New Roman" pitchFamily="18" charset="0"/>
              </a:rPr>
              <a:t>, and government buildings remain vulnerable to intrusions.</a:t>
            </a:r>
          </a:p>
          <a:p>
            <a:pPr algn="just">
              <a:buFont typeface="Arial" pitchFamily="34" charset="0"/>
              <a:buChar char="•"/>
            </a:pPr>
            <a:r>
              <a:rPr lang="en-US" sz="1200" dirty="0" smtClean="0">
                <a:latin typeface="Times New Roman" pitchFamily="18" charset="0"/>
                <a:cs typeface="Times New Roman" pitchFamily="18" charset="0"/>
              </a:rPr>
              <a:t>  Major Threats: The primary threats in these areas include theft, vandalism, and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espionage</a:t>
            </a:r>
            <a:r>
              <a:rPr lang="en-US" sz="1200" dirty="0" smtClean="0">
                <a:latin typeface="Times New Roman" pitchFamily="18" charset="0"/>
                <a:cs typeface="Times New Roman" pitchFamily="18" charset="0"/>
              </a:rPr>
              <a:t>, which can result in significant financial losses and compromise sensitive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information</a:t>
            </a:r>
            <a:r>
              <a:rPr lang="en-US" sz="1200" dirty="0" smtClean="0">
                <a:latin typeface="Times New Roman" pitchFamily="18" charset="0"/>
                <a:cs typeface="Times New Roman" pitchFamily="18" charset="0"/>
              </a:rPr>
              <a:t>.</a:t>
            </a:r>
          </a:p>
          <a:p>
            <a:pPr algn="just">
              <a:buFont typeface="Arial" pitchFamily="34" charset="0"/>
              <a:buChar char="•"/>
            </a:pPr>
            <a:r>
              <a:rPr lang="en-US" sz="1200" dirty="0" smtClean="0">
                <a:latin typeface="Times New Roman" pitchFamily="18" charset="0"/>
                <a:cs typeface="Times New Roman" pitchFamily="18" charset="0"/>
              </a:rPr>
              <a:t>  Impact: This project aims to improve security in vulnerable locations, reduce the </a:t>
            </a:r>
            <a:r>
              <a:rPr lang="en-US" sz="1200" dirty="0" err="1" smtClean="0">
                <a:solidFill>
                  <a:schemeClr val="bg1"/>
                </a:solidFill>
                <a:latin typeface="Times New Roman" pitchFamily="18" charset="0"/>
                <a:cs typeface="Times New Roman" pitchFamily="18" charset="0"/>
              </a:rPr>
              <a:t>aa</a:t>
            </a:r>
            <a:r>
              <a:rPr lang="en-US" sz="1200" dirty="0" err="1" smtClean="0">
                <a:latin typeface="Times New Roman" pitchFamily="18" charset="0"/>
                <a:cs typeface="Times New Roman" pitchFamily="18" charset="0"/>
              </a:rPr>
              <a:t>need</a:t>
            </a:r>
            <a:r>
              <a:rPr lang="en-US" sz="1200" dirty="0" smtClean="0">
                <a:latin typeface="Times New Roman" pitchFamily="18" charset="0"/>
                <a:cs typeface="Times New Roman" pitchFamily="18" charset="0"/>
              </a:rPr>
              <a:t> for human intervention, and enhance overall safety.</a:t>
            </a:r>
            <a:endParaRPr lang="en-US" sz="1200" dirty="0">
              <a:latin typeface="Times New Roman" pitchFamily="18" charset="0"/>
              <a:cs typeface="Times New Roman" pitchFamily="18" charset="0"/>
            </a:endParaRPr>
          </a:p>
        </p:txBody>
      </p:sp>
      <p:sp>
        <p:nvSpPr>
          <p:cNvPr id="10" name="Footer Placeholder 9"/>
          <p:cNvSpPr>
            <a:spLocks noGrp="1"/>
          </p:cNvSpPr>
          <p:nvPr>
            <p:ph type="ftr" sz="quarter" idx="5"/>
          </p:nvPr>
        </p:nvSpPr>
        <p:spPr>
          <a:xfrm>
            <a:off x="2571369" y="10160456"/>
            <a:ext cx="2420112" cy="215444"/>
          </a:xfrm>
        </p:spPr>
        <p:txBody>
          <a:bodyPr/>
          <a:lstStyle/>
          <a:p>
            <a:r>
              <a:rPr lang="en-IN" sz="1400" dirty="0" smtClean="0"/>
              <a:t>1</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5"/>
          <p:cNvSpPr txBox="1"/>
          <p:nvPr/>
        </p:nvSpPr>
        <p:spPr>
          <a:xfrm>
            <a:off x="1111250" y="863748"/>
            <a:ext cx="3124200" cy="228909"/>
          </a:xfrm>
          <a:prstGeom prst="rect">
            <a:avLst/>
          </a:prstGeom>
        </p:spPr>
        <p:txBody>
          <a:bodyPr vert="horz" wrap="square" lIns="0" tIns="13335" rIns="0" bIns="0" rtlCol="0">
            <a:spAutoFit/>
          </a:bodyPr>
          <a:lstStyle/>
          <a:p>
            <a:pPr marL="12700">
              <a:lnSpc>
                <a:spcPct val="100000"/>
              </a:lnSpc>
              <a:spcBef>
                <a:spcPts val="105"/>
              </a:spcBef>
            </a:pPr>
            <a:r>
              <a:rPr sz="1400" b="1" smtClean="0">
                <a:latin typeface="Times New Roman"/>
                <a:cs typeface="Times New Roman"/>
              </a:rPr>
              <a:t>1.3</a:t>
            </a:r>
            <a:r>
              <a:rPr lang="en-IN" sz="1400" b="1" spc="-10" dirty="0">
                <a:latin typeface="Times New Roman"/>
                <a:cs typeface="Times New Roman"/>
              </a:rPr>
              <a:t> </a:t>
            </a:r>
            <a:r>
              <a:rPr lang="en-IN" sz="1400" b="1" spc="-10" dirty="0" smtClean="0">
                <a:latin typeface="Times New Roman"/>
                <a:cs typeface="Times New Roman"/>
              </a:rPr>
              <a:t> </a:t>
            </a:r>
            <a:r>
              <a:rPr sz="1400" b="1" spc="-10" smtClean="0">
                <a:latin typeface="Times New Roman"/>
                <a:cs typeface="Times New Roman"/>
              </a:rPr>
              <a:t>RELEVANCE</a:t>
            </a:r>
            <a:endParaRPr sz="1400">
              <a:latin typeface="Times New Roman"/>
              <a:cs typeface="Times New Roman"/>
            </a:endParaRPr>
          </a:p>
        </p:txBody>
      </p:sp>
      <p:sp>
        <p:nvSpPr>
          <p:cNvPr id="4" name="object 6"/>
          <p:cNvSpPr txBox="1"/>
          <p:nvPr/>
        </p:nvSpPr>
        <p:spPr>
          <a:xfrm>
            <a:off x="1111250" y="7480300"/>
            <a:ext cx="4343576" cy="228909"/>
          </a:xfrm>
          <a:prstGeom prst="rect">
            <a:avLst/>
          </a:prstGeom>
        </p:spPr>
        <p:txBody>
          <a:bodyPr vert="horz" wrap="square" lIns="0" tIns="13335" rIns="0" bIns="0" rtlCol="0">
            <a:spAutoFit/>
          </a:bodyPr>
          <a:lstStyle/>
          <a:p>
            <a:pPr marL="12700">
              <a:lnSpc>
                <a:spcPct val="100000"/>
              </a:lnSpc>
              <a:spcBef>
                <a:spcPts val="105"/>
              </a:spcBef>
            </a:pPr>
            <a:r>
              <a:rPr sz="1400" b="1" smtClean="0">
                <a:latin typeface="Times New Roman"/>
                <a:cs typeface="Times New Roman"/>
              </a:rPr>
              <a:t>1.4</a:t>
            </a:r>
            <a:r>
              <a:rPr lang="en-IN" sz="1400" b="1" spc="-35" dirty="0">
                <a:latin typeface="Times New Roman"/>
                <a:cs typeface="Times New Roman"/>
              </a:rPr>
              <a:t> </a:t>
            </a:r>
            <a:r>
              <a:rPr lang="en-IN" sz="1400" b="1" spc="-35" dirty="0" smtClean="0">
                <a:latin typeface="Times New Roman"/>
                <a:cs typeface="Times New Roman"/>
              </a:rPr>
              <a:t> </a:t>
            </a:r>
            <a:r>
              <a:rPr sz="1400" b="1" smtClean="0">
                <a:latin typeface="Times New Roman"/>
                <a:cs typeface="Times New Roman"/>
              </a:rPr>
              <a:t>REPORT</a:t>
            </a:r>
            <a:r>
              <a:rPr lang="en-IN" sz="1400" b="1" spc="-25" dirty="0">
                <a:latin typeface="Times New Roman"/>
                <a:cs typeface="Times New Roman"/>
              </a:rPr>
              <a:t> </a:t>
            </a:r>
            <a:r>
              <a:rPr sz="1400" b="1" spc="-10" smtClean="0">
                <a:latin typeface="Times New Roman"/>
                <a:cs typeface="Times New Roman"/>
              </a:rPr>
              <a:t>ORGANIZATION</a:t>
            </a:r>
            <a:endParaRPr sz="1400">
              <a:latin typeface="Times New Roman"/>
              <a:cs typeface="Times New Roman"/>
            </a:endParaRPr>
          </a:p>
        </p:txBody>
      </p:sp>
      <p:sp>
        <p:nvSpPr>
          <p:cNvPr id="5" name="TextBox 4"/>
          <p:cNvSpPr txBox="1"/>
          <p:nvPr/>
        </p:nvSpPr>
        <p:spPr>
          <a:xfrm>
            <a:off x="958850" y="1231900"/>
            <a:ext cx="5715000" cy="6001643"/>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The Laser Security System is very relevant in terms of modern security needs; it is driven by a growing threat of security and by the need for better security in sensitive areas. Unregulated access, theft, and vandalism are on the rise and thus the need for state-of-the-art security is critical. This project finds relevance in several key areas, including:</a:t>
            </a:r>
          </a:p>
          <a:p>
            <a:pPr algn="just"/>
            <a:endParaRPr lang="en-US" sz="1200" dirty="0">
              <a:latin typeface="Times New Roman" pitchFamily="18" charset="0"/>
              <a:cs typeface="Times New Roman" pitchFamily="18" charset="0"/>
            </a:endParaRPr>
          </a:p>
          <a:p>
            <a:pPr marL="228600" indent="-228600" algn="just">
              <a:buFont typeface="Wingdings" pitchFamily="2" charset="2"/>
              <a:buChar char="Ø"/>
            </a:pPr>
            <a:r>
              <a:rPr lang="en-US" sz="1200" dirty="0" smtClean="0">
                <a:latin typeface="Times New Roman" pitchFamily="18" charset="0"/>
                <a:cs typeface="Times New Roman" pitchFamily="18" charset="0"/>
              </a:rPr>
              <a:t>Enhanced Security and Protection :</a:t>
            </a:r>
          </a:p>
          <a:p>
            <a:pPr marL="228600" indent="-228600" algn="just"/>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The laser security system provides a means of protecting lives, assets, and sensitive information from threats. Unlike the traditional security systems such as CCTV or motion sensors, which can only be monitored manually, the laser security system offers the monitoring of the place round the clock. It detects any intrusions immediately and triggers alarm or security measures instantly. This system is particularly valuable in:  High-security zones like government buildings or research facilities.-Availability of sensitive locations such as data centers and financial institutions.</a:t>
            </a:r>
          </a:p>
          <a:p>
            <a:pPr marL="228600" indent="-228600" algn="just">
              <a:buFont typeface="Wingdings" pitchFamily="2" charset="2"/>
              <a:buChar char="Ø"/>
            </a:pPr>
            <a:r>
              <a:rPr lang="en-US" sz="1200" dirty="0" smtClean="0">
                <a:latin typeface="Times New Roman" pitchFamily="18" charset="0"/>
                <a:cs typeface="Times New Roman" pitchFamily="18" charset="0"/>
              </a:rPr>
              <a:t>Protection from Unauthorized Access and Security Violations :</a:t>
            </a:r>
          </a:p>
          <a:p>
            <a:pPr marL="228600" indent="-228600" algn="just"/>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An intruder may cause a breach of security and theft during any intrusion, especially in dangerous zones. The laser security system responds independently to any identified disturbance and prevents further invasion, thereby reducing possible loss. This system is used in industries that involve significant asset values or classified information like data centers and financial banks.- Industrial plants and warehouses storing high-value goods.  -Military and government facilities where unauthorized access could threaten national security.</a:t>
            </a:r>
          </a:p>
          <a:p>
            <a:pPr marL="228600" indent="-228600" algn="just">
              <a:buFont typeface="Wingdings" pitchFamily="2" charset="2"/>
              <a:buChar char="Ø"/>
            </a:pPr>
            <a:r>
              <a:rPr lang="en-US" sz="1200" dirty="0" smtClean="0">
                <a:latin typeface="Times New Roman" pitchFamily="18" charset="0"/>
                <a:cs typeface="Times New Roman" pitchFamily="18" charset="0"/>
              </a:rPr>
              <a:t>Meeting Security Standards and Regulations :</a:t>
            </a:r>
          </a:p>
          <a:p>
            <a:pPr marL="228600" indent="-228600" algn="just"/>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As the security regulations get tougher, the industries have been taking advanced technologies like laser security systems into operation. The system provides extra protection beyond what is achieved through traditional systems, thus it is very relevant to property developers and building managers, adhering to the new and emerging security standards, as well as organizations with critical infrastructure and confidential information.</a:t>
            </a:r>
          </a:p>
          <a:p>
            <a:pPr marL="228600" indent="-228600" algn="just">
              <a:buFont typeface="Wingdings" pitchFamily="2" charset="2"/>
              <a:buChar char="Ø"/>
            </a:pPr>
            <a:r>
              <a:rPr lang="en-US" sz="1200" dirty="0" smtClean="0">
                <a:latin typeface="Times New Roman" pitchFamily="18" charset="0"/>
                <a:cs typeface="Times New Roman" pitchFamily="18" charset="0"/>
              </a:rPr>
              <a:t>Educational Value :</a:t>
            </a:r>
          </a:p>
          <a:p>
            <a:pPr marL="228600" indent="-228600" algn="just"/>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This project is very relevant both in terms of fire safety but also strong in </a:t>
            </a:r>
            <a:r>
              <a:rPr lang="en-US" sz="1200" dirty="0" err="1" smtClean="0">
                <a:latin typeface="Times New Roman" pitchFamily="18" charset="0"/>
                <a:cs typeface="Times New Roman" pitchFamily="18" charset="0"/>
              </a:rPr>
              <a:t>education.It</a:t>
            </a:r>
            <a:r>
              <a:rPr lang="en-US" sz="1200" dirty="0" smtClean="0">
                <a:latin typeface="Times New Roman" pitchFamily="18" charset="0"/>
                <a:cs typeface="Times New Roman" pitchFamily="18" charset="0"/>
              </a:rPr>
              <a:t> is a very good learning tool for students as well as engineers.</a:t>
            </a:r>
          </a:p>
        </p:txBody>
      </p:sp>
      <p:sp>
        <p:nvSpPr>
          <p:cNvPr id="6" name="TextBox 5"/>
          <p:cNvSpPr txBox="1"/>
          <p:nvPr/>
        </p:nvSpPr>
        <p:spPr>
          <a:xfrm>
            <a:off x="958850" y="8013700"/>
            <a:ext cx="5638800" cy="1015663"/>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This report is divided into separate chapters, with each chapter dealing with different aspects of the project. Each chapter gives a detailed analysis and explanation of its corresponding components and technical specifications. Let us now go through each chapter to discuss the methodologies, design considerations, and technical details involved in this project.</a:t>
            </a:r>
            <a:endParaRPr lang="en-US" dirty="0"/>
          </a:p>
        </p:txBody>
      </p:sp>
      <p:sp>
        <p:nvSpPr>
          <p:cNvPr id="7" name="Footer Placeholder 6"/>
          <p:cNvSpPr>
            <a:spLocks noGrp="1"/>
          </p:cNvSpPr>
          <p:nvPr>
            <p:ph type="ftr" sz="quarter" idx="5"/>
          </p:nvPr>
        </p:nvSpPr>
        <p:spPr>
          <a:xfrm>
            <a:off x="2571369" y="10147300"/>
            <a:ext cx="2420112" cy="184666"/>
          </a:xfrm>
        </p:spPr>
        <p:txBody>
          <a:bodyPr/>
          <a:lstStyle/>
          <a:p>
            <a:r>
              <a:rPr lang="en-IN" sz="1200" dirty="0" smtClean="0"/>
              <a:t>2</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8850" y="850900"/>
            <a:ext cx="5638800" cy="3785652"/>
          </a:xfrm>
          <a:prstGeom prst="rect">
            <a:avLst/>
          </a:prstGeom>
          <a:noFill/>
        </p:spPr>
        <p:txBody>
          <a:bodyPr wrap="square" rtlCol="0">
            <a:spAutoFit/>
          </a:bodyPr>
          <a:lstStyle/>
          <a:p>
            <a:pPr>
              <a:lnSpc>
                <a:spcPct val="200000"/>
              </a:lnSpc>
            </a:pPr>
            <a:r>
              <a:rPr lang="en-US" sz="1200" dirty="0" smtClean="0">
                <a:latin typeface="Times New Roman" pitchFamily="18" charset="0"/>
                <a:cs typeface="Times New Roman" pitchFamily="18" charset="0"/>
              </a:rPr>
              <a:t>Chapter-1 deals with introduction, background, relevance and report organization Chapter-2 deals with review of literature </a:t>
            </a:r>
          </a:p>
          <a:p>
            <a:pPr>
              <a:lnSpc>
                <a:spcPct val="200000"/>
              </a:lnSpc>
            </a:pPr>
            <a:r>
              <a:rPr lang="en-US" sz="1200" dirty="0" smtClean="0">
                <a:latin typeface="Times New Roman" pitchFamily="18" charset="0"/>
                <a:cs typeface="Times New Roman" pitchFamily="18" charset="0"/>
              </a:rPr>
              <a:t>Chapter-3 deals with design consideration </a:t>
            </a:r>
          </a:p>
          <a:p>
            <a:pPr>
              <a:lnSpc>
                <a:spcPct val="200000"/>
              </a:lnSpc>
            </a:pPr>
            <a:r>
              <a:rPr lang="en-US" sz="1200" dirty="0" smtClean="0">
                <a:latin typeface="Times New Roman" pitchFamily="18" charset="0"/>
                <a:cs typeface="Times New Roman" pitchFamily="18" charset="0"/>
              </a:rPr>
              <a:t>Chapter-4 deals with circuit diagram of our finalized circuit  </a:t>
            </a:r>
          </a:p>
          <a:p>
            <a:pPr>
              <a:lnSpc>
                <a:spcPct val="200000"/>
              </a:lnSpc>
            </a:pPr>
            <a:r>
              <a:rPr lang="en-US" sz="1200" dirty="0" smtClean="0">
                <a:latin typeface="Times New Roman" pitchFamily="18" charset="0"/>
                <a:cs typeface="Times New Roman" pitchFamily="18" charset="0"/>
              </a:rPr>
              <a:t>Chapter-5 deals with implementation and results </a:t>
            </a:r>
          </a:p>
          <a:p>
            <a:pPr>
              <a:lnSpc>
                <a:spcPct val="200000"/>
              </a:lnSpc>
            </a:pPr>
            <a:r>
              <a:rPr lang="en-US" sz="1200" dirty="0" smtClean="0">
                <a:latin typeface="Times New Roman" pitchFamily="18" charset="0"/>
                <a:cs typeface="Times New Roman" pitchFamily="18" charset="0"/>
              </a:rPr>
              <a:t>Chapter-6 deals with advantages and application  </a:t>
            </a:r>
          </a:p>
          <a:p>
            <a:pPr>
              <a:lnSpc>
                <a:spcPct val="200000"/>
              </a:lnSpc>
            </a:pPr>
            <a:r>
              <a:rPr lang="en-US" sz="1200" dirty="0" smtClean="0">
                <a:latin typeface="Times New Roman" pitchFamily="18" charset="0"/>
                <a:cs typeface="Times New Roman" pitchFamily="18" charset="0"/>
              </a:rPr>
              <a:t>Chapter-7 deals with conclusion and future scope</a:t>
            </a:r>
          </a:p>
          <a:p>
            <a:endParaRPr lang="en-US" sz="1200" dirty="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This report is structured to give an orderly presentation of all the aspects of our project. Each section will specifically deal with technical components and methodologies. The design, implementation, and testing phases are covered in depth in this report. Lastly, the report concludes with a comprehensive list of references to support the literature review and further contextualize the theoretical and practical foundations of the project.</a:t>
            </a:r>
            <a:endParaRPr lang="en-US" sz="1200" dirty="0">
              <a:latin typeface="Times New Roman" pitchFamily="18" charset="0"/>
              <a:cs typeface="Times New Roman" pitchFamily="18" charset="0"/>
            </a:endParaRPr>
          </a:p>
        </p:txBody>
      </p:sp>
      <p:sp>
        <p:nvSpPr>
          <p:cNvPr id="4" name="Footer Placeholder 3"/>
          <p:cNvSpPr>
            <a:spLocks noGrp="1"/>
          </p:cNvSpPr>
          <p:nvPr>
            <p:ph type="ftr" sz="quarter" idx="5"/>
          </p:nvPr>
        </p:nvSpPr>
        <p:spPr>
          <a:xfrm>
            <a:off x="2571369" y="10098901"/>
            <a:ext cx="2420112" cy="184666"/>
          </a:xfrm>
        </p:spPr>
        <p:txBody>
          <a:bodyPr/>
          <a:lstStyle/>
          <a:p>
            <a:r>
              <a:rPr lang="en-IN" sz="1200" dirty="0" smtClean="0"/>
              <a:t>3</a:t>
            </a:r>
            <a:endParaRPr lang="en-US" sz="1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4597" y="820529"/>
            <a:ext cx="5129653" cy="414537"/>
          </a:xfrm>
          <a:prstGeom prst="rect">
            <a:avLst/>
          </a:prstGeom>
        </p:spPr>
        <p:txBody>
          <a:bodyPr vert="horz" wrap="square" lIns="0" tIns="12700" rIns="0" bIns="0" rtlCol="0">
            <a:spAutoFit/>
          </a:bodyPr>
          <a:lstStyle/>
          <a:p>
            <a:pPr marL="1468120" marR="1228090" indent="715010" algn="l">
              <a:lnSpc>
                <a:spcPct val="148100"/>
              </a:lnSpc>
              <a:spcBef>
                <a:spcPts val="100"/>
              </a:spcBef>
            </a:pPr>
            <a:r>
              <a:rPr sz="2000" b="1">
                <a:latin typeface="Times New Roman"/>
                <a:cs typeface="Times New Roman"/>
              </a:rPr>
              <a:t>CHAPTER</a:t>
            </a:r>
            <a:r>
              <a:rPr sz="2000" b="1" spc="-35">
                <a:latin typeface="Times New Roman"/>
                <a:cs typeface="Times New Roman"/>
              </a:rPr>
              <a:t> </a:t>
            </a:r>
            <a:r>
              <a:rPr sz="2000" b="1" spc="-50" smtClean="0">
                <a:latin typeface="Times New Roman"/>
                <a:cs typeface="Times New Roman"/>
              </a:rPr>
              <a:t>2</a:t>
            </a:r>
            <a:endParaRPr sz="2000">
              <a:latin typeface="Times New Roman"/>
              <a:cs typeface="Times New Roman"/>
            </a:endParaRPr>
          </a:p>
        </p:txBody>
      </p:sp>
      <p:sp>
        <p:nvSpPr>
          <p:cNvPr id="4" name="TextBox 3"/>
          <p:cNvSpPr txBox="1"/>
          <p:nvPr/>
        </p:nvSpPr>
        <p:spPr>
          <a:xfrm>
            <a:off x="730250" y="2222501"/>
            <a:ext cx="6096000" cy="5447645"/>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                The design and implementation of a laser-based security system. This system uses laser transmitters and receivers to create an invisible perimeter. When an intruder disrupts the laser beam, it triggers an alarm, enhancing security. The study emphasizes the system's sensitivity, reliability, and potential for practical applications in areas like asset protection and perimeter defense. The system works by using a Light Dependent Resistor (LDR) that detects changes in light intensity caused by interruptions in the laser beam. When the laser is blocked, the LDR's resistance increases, activating an alarm. A BC547 transistor is used to trigger the alarm when the laser beam is disturbed. The system was successfully tested, and results showed that it functions as expected, providing an effective, affordable, and reliable security solution. The laser security system is ideal for both home and business applications, offering enhanced protection against theft and crime [1]</a:t>
            </a:r>
          </a:p>
          <a:p>
            <a:endParaRPr lang="en-IN" sz="1200" dirty="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               The design and implementation of laser-based security systems focus on using laser beams and light-dependent resistors (LDRs) to detect intrusions. When the laser beam is interrupted, an alarm is triggered, alerting homeowners or organizations to potential threats. Various studies showcase different configurations:</a:t>
            </a:r>
          </a:p>
          <a:p>
            <a:pPr algn="just"/>
            <a:endParaRPr lang="en-US" sz="1200" dirty="0" smtClean="0">
              <a:latin typeface="Times New Roman" pitchFamily="18" charset="0"/>
              <a:cs typeface="Times New Roman" pitchFamily="18" charset="0"/>
            </a:endParaRPr>
          </a:p>
          <a:p>
            <a:pPr marL="228600" indent="-228600" algn="just">
              <a:buAutoNum type="arabicPeriod"/>
            </a:pP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Integration: Systems using </a:t>
            </a:r>
            <a:r>
              <a:rPr lang="en-US" sz="1200" b="1" dirty="0" err="1" smtClean="0">
                <a:latin typeface="Times New Roman" pitchFamily="18" charset="0"/>
                <a:cs typeface="Times New Roman" pitchFamily="18" charset="0"/>
              </a:rPr>
              <a:t>Arduino</a:t>
            </a:r>
            <a:r>
              <a:rPr lang="en-US" sz="1200" b="1" dirty="0" smtClean="0">
                <a:latin typeface="Times New Roman" pitchFamily="18" charset="0"/>
                <a:cs typeface="Times New Roman" pitchFamily="18" charset="0"/>
              </a:rPr>
              <a:t> UNO </a:t>
            </a:r>
            <a:r>
              <a:rPr lang="en-US" sz="1200" dirty="0" smtClean="0">
                <a:latin typeface="Times New Roman" pitchFamily="18" charset="0"/>
                <a:cs typeface="Times New Roman" pitchFamily="18" charset="0"/>
              </a:rPr>
              <a:t>can incorporate sensors, Wi-Fi modules, and cameras to capture images of intruders and send alerts via email.</a:t>
            </a:r>
          </a:p>
          <a:p>
            <a:pPr marL="228600" indent="-228600" algn="just">
              <a:buAutoNum type="arabicPeriod"/>
            </a:pPr>
            <a:r>
              <a:rPr lang="en-US" sz="1200" dirty="0" smtClean="0">
                <a:latin typeface="Times New Roman" pitchFamily="18" charset="0"/>
                <a:cs typeface="Times New Roman" pitchFamily="18" charset="0"/>
              </a:rPr>
              <a:t> Mirror Systems: Some designs utilize mirrors to reflect laser beams in all directions, enhancing coverage and triggering alarms when the beam is obstructed.	</a:t>
            </a:r>
          </a:p>
          <a:p>
            <a:pPr marL="228600" indent="-228600" algn="just">
              <a:buAutoNum type="arabicPeriod"/>
            </a:pPr>
            <a:r>
              <a:rPr lang="en-US" sz="1200" dirty="0" smtClean="0">
                <a:latin typeface="Times New Roman" pitchFamily="18" charset="0"/>
                <a:cs typeface="Times New Roman" pitchFamily="18" charset="0"/>
              </a:rPr>
              <a:t> Voltage-Based Detection: Other systems monitor voltage changes across LDRs to activate alarms when an intrusion is detected.	</a:t>
            </a:r>
          </a:p>
          <a:p>
            <a:pPr marL="228600" indent="-228600" algn="just">
              <a:buAutoNum type="arabicPeriod"/>
            </a:pPr>
            <a:r>
              <a:rPr lang="en-US" sz="1200" dirty="0" smtClean="0">
                <a:latin typeface="Times New Roman" pitchFamily="18" charset="0"/>
                <a:cs typeface="Times New Roman" pitchFamily="18" charset="0"/>
              </a:rPr>
              <a:t> Advanced Access Control: Projects also explore integrating QR codes with </a:t>
            </a:r>
            <a:r>
              <a:rPr lang="en-US" sz="1200" b="1" dirty="0" smtClean="0">
                <a:latin typeface="Times New Roman" pitchFamily="18" charset="0"/>
                <a:cs typeface="Times New Roman" pitchFamily="18" charset="0"/>
              </a:rPr>
              <a:t>Raspberry Pi </a:t>
            </a:r>
            <a:r>
              <a:rPr lang="en-US" sz="1200" dirty="0" smtClean="0">
                <a:latin typeface="Times New Roman" pitchFamily="18" charset="0"/>
                <a:cs typeface="Times New Roman" pitchFamily="18" charset="0"/>
              </a:rPr>
              <a:t>for secure access monitoring, particularly in laboratory settings.</a:t>
            </a:r>
          </a:p>
          <a:p>
            <a:pPr marL="228600" indent="-228600" algn="just">
              <a:buAutoNum type="arabicPeriod"/>
            </a:pPr>
            <a:r>
              <a:rPr lang="en-US" sz="1200" dirty="0" smtClean="0">
                <a:latin typeface="Times New Roman" pitchFamily="18" charset="0"/>
                <a:cs typeface="Times New Roman" pitchFamily="18" charset="0"/>
              </a:rPr>
              <a:t>Overall, these innovations represent significant advancements in security technology, offering effective solutions for protecting homes and organizations. [2]</a:t>
            </a:r>
          </a:p>
          <a:p>
            <a:pPr marL="228600" indent="-228600" algn="just">
              <a:buAutoNum type="arabicPeriod"/>
            </a:pPr>
            <a:endParaRPr lang="en-IN" sz="1200" dirty="0">
              <a:latin typeface="Times New Roman" pitchFamily="18" charset="0"/>
              <a:cs typeface="Times New Roman" pitchFamily="18" charset="0"/>
            </a:endParaRPr>
          </a:p>
          <a:p>
            <a:pPr marL="228600" indent="-228600" algn="just"/>
            <a:r>
              <a:rPr lang="en-US" sz="1200" dirty="0" smtClean="0">
                <a:latin typeface="Times New Roman" pitchFamily="18" charset="0"/>
                <a:cs typeface="Times New Roman" pitchFamily="18" charset="0"/>
              </a:rPr>
              <a:t>       </a:t>
            </a:r>
            <a:endParaRPr lang="en-IN" sz="1200" dirty="0">
              <a:latin typeface="Times New Roman" pitchFamily="18" charset="0"/>
              <a:cs typeface="Times New Roman" pitchFamily="18" charset="0"/>
            </a:endParaRPr>
          </a:p>
        </p:txBody>
      </p:sp>
      <p:sp>
        <p:nvSpPr>
          <p:cNvPr id="5" name="TextBox 4"/>
          <p:cNvSpPr txBox="1"/>
          <p:nvPr/>
        </p:nvSpPr>
        <p:spPr>
          <a:xfrm>
            <a:off x="1263650" y="1384300"/>
            <a:ext cx="5257800" cy="400110"/>
          </a:xfrm>
          <a:prstGeom prst="rect">
            <a:avLst/>
          </a:prstGeom>
          <a:noFill/>
        </p:spPr>
        <p:txBody>
          <a:bodyPr wrap="square" rtlCol="0">
            <a:spAutoFit/>
          </a:bodyPr>
          <a:lstStyle/>
          <a:p>
            <a:pPr algn="ctr"/>
            <a:r>
              <a:rPr lang="en-IN" sz="2000" b="1" dirty="0" smtClean="0">
                <a:latin typeface="Times New Roman" pitchFamily="18" charset="0"/>
                <a:cs typeface="Times New Roman" pitchFamily="18" charset="0"/>
              </a:rPr>
              <a:t>REVIEW OF LITERATURE</a:t>
            </a:r>
            <a:endParaRPr lang="en-US" sz="2000" b="1" dirty="0">
              <a:latin typeface="Times New Roman" pitchFamily="18" charset="0"/>
              <a:cs typeface="Times New Roman" pitchFamily="18" charset="0"/>
            </a:endParaRPr>
          </a:p>
        </p:txBody>
      </p:sp>
      <p:sp>
        <p:nvSpPr>
          <p:cNvPr id="6" name="TextBox 5"/>
          <p:cNvSpPr txBox="1"/>
          <p:nvPr/>
        </p:nvSpPr>
        <p:spPr>
          <a:xfrm>
            <a:off x="806450" y="7404100"/>
            <a:ext cx="6019800" cy="2308324"/>
          </a:xfrm>
          <a:prstGeom prst="rect">
            <a:avLst/>
          </a:prstGeom>
          <a:noFill/>
        </p:spPr>
        <p:txBody>
          <a:bodyPr wrap="square" rtlCol="0">
            <a:spAutoFit/>
          </a:bodyPr>
          <a:lstStyle/>
          <a:p>
            <a:pPr algn="just"/>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This system works on the idea of transmitting laser light in a monitored area and detecting it by an LDR module. Any interruption in the laser beam will trigger </a:t>
            </a:r>
            <a:r>
              <a:rPr lang="en-US" sz="1200" b="1" dirty="0" smtClean="0">
                <a:latin typeface="Times New Roman" pitchFamily="18" charset="0"/>
                <a:cs typeface="Times New Roman" pitchFamily="18" charset="0"/>
              </a:rPr>
              <a:t>ESP32 CAM </a:t>
            </a:r>
            <a:r>
              <a:rPr lang="en-US" sz="1200" dirty="0" smtClean="0">
                <a:latin typeface="Times New Roman" pitchFamily="18" charset="0"/>
                <a:cs typeface="Times New Roman" pitchFamily="18" charset="0"/>
              </a:rPr>
              <a:t>to capture an image of the intruder and send a notification alert to any device connected to Wi-Fi. This provides an efficient, invisible security solution because laser rays cannot be seen with the naked eye. The system is proposed as an affordable and effective alternative to the traditional surveillance methods like </a:t>
            </a:r>
            <a:r>
              <a:rPr lang="en-US" sz="1200" b="1" dirty="0" smtClean="0">
                <a:latin typeface="Times New Roman" pitchFamily="18" charset="0"/>
                <a:cs typeface="Times New Roman" pitchFamily="18" charset="0"/>
              </a:rPr>
              <a:t>CCTV</a:t>
            </a:r>
            <a:r>
              <a:rPr lang="en-US" sz="1200" dirty="0" smtClean="0">
                <a:latin typeface="Times New Roman" pitchFamily="18" charset="0"/>
                <a:cs typeface="Times New Roman" pitchFamily="18" charset="0"/>
              </a:rPr>
              <a:t>, which are more conspicuous. The methodology highlights how the module of ESP32 CAM would work as the core module capturing images and transmitting them through the application of </a:t>
            </a:r>
            <a:r>
              <a:rPr lang="en-US" sz="1200" dirty="0" err="1" smtClean="0">
                <a:latin typeface="Times New Roman" pitchFamily="18" charset="0"/>
                <a:cs typeface="Times New Roman" pitchFamily="18" charset="0"/>
              </a:rPr>
              <a:t>Blynk</a:t>
            </a:r>
            <a:r>
              <a:rPr lang="en-US" sz="1200" dirty="0" smtClean="0">
                <a:latin typeface="Times New Roman" pitchFamily="18" charset="0"/>
                <a:cs typeface="Times New Roman" pitchFamily="18" charset="0"/>
              </a:rPr>
              <a:t>,        meaning users can monitor security online in real-time from any area. It's a security document that aims at giving a laser-based security system in order to detect intruders and improve safety. It has main components such as ESP32 CAM, LDR module, laser module, and </a:t>
            </a:r>
            <a:r>
              <a:rPr lang="en-US" sz="1200" dirty="0" err="1" smtClean="0">
                <a:latin typeface="Times New Roman" pitchFamily="18" charset="0"/>
                <a:cs typeface="Times New Roman" pitchFamily="18" charset="0"/>
              </a:rPr>
              <a:t>Blynk</a:t>
            </a:r>
            <a:r>
              <a:rPr lang="en-US" sz="1200" dirty="0" smtClean="0">
                <a:latin typeface="Times New Roman" pitchFamily="18" charset="0"/>
                <a:cs typeface="Times New Roman" pitchFamily="18" charset="0"/>
              </a:rPr>
              <a:t> application</a:t>
            </a:r>
            <a:endParaRPr lang="en-US" sz="1200" dirty="0"/>
          </a:p>
        </p:txBody>
      </p:sp>
      <p:sp>
        <p:nvSpPr>
          <p:cNvPr id="7" name="Footer Placeholder 6"/>
          <p:cNvSpPr>
            <a:spLocks noGrp="1"/>
          </p:cNvSpPr>
          <p:nvPr>
            <p:ph type="ftr" sz="quarter" idx="5"/>
          </p:nvPr>
        </p:nvSpPr>
        <p:spPr>
          <a:xfrm>
            <a:off x="2571369" y="10115034"/>
            <a:ext cx="2420112" cy="184666"/>
          </a:xfrm>
        </p:spPr>
        <p:txBody>
          <a:bodyPr/>
          <a:lstStyle/>
          <a:p>
            <a:r>
              <a:rPr lang="en-IN" sz="1200" dirty="0" smtClean="0"/>
              <a:t>4</a:t>
            </a:r>
            <a:endParaRPr lang="en-US" sz="1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0250" y="622300"/>
            <a:ext cx="5867400" cy="1754326"/>
          </a:xfrm>
          <a:prstGeom prst="rect">
            <a:avLst/>
          </a:prstGeom>
          <a:noFill/>
        </p:spPr>
        <p:txBody>
          <a:bodyPr wrap="square" rtlCol="0">
            <a:spAutoFit/>
          </a:bodyPr>
          <a:lstStyle/>
          <a:p>
            <a:pPr algn="just"/>
            <a:endParaRPr lang="en-US" sz="1200" dirty="0">
              <a:latin typeface="Times New Roman" pitchFamily="18" charset="0"/>
              <a:cs typeface="Times New Roman" pitchFamily="18" charset="0"/>
            </a:endParaRPr>
          </a:p>
          <a:p>
            <a:pPr algn="just"/>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Including literature review proves that this design extends improved facilities such as  remote monitoring more developed improvements rather than using buzzers used earlier systems. The true feature of the system was taking an advantage of undetectable laser beam combining a light-dependent resistor where they measure an intruder after finding entrance into the house because afterwards an intruder's image capture sends through to ensure monitoring process is done without knowing its awareness by the intruder [3]</a:t>
            </a:r>
            <a:endParaRPr lang="en-IN" sz="1200" dirty="0" smtClean="0">
              <a:latin typeface="Times New Roman" pitchFamily="18" charset="0"/>
              <a:cs typeface="Times New Roman" pitchFamily="18" charset="0"/>
            </a:endParaRPr>
          </a:p>
          <a:p>
            <a:endParaRPr lang="en-US" sz="1200" dirty="0"/>
          </a:p>
        </p:txBody>
      </p:sp>
      <p:sp>
        <p:nvSpPr>
          <p:cNvPr id="3" name="TextBox 2"/>
          <p:cNvSpPr txBox="1"/>
          <p:nvPr/>
        </p:nvSpPr>
        <p:spPr>
          <a:xfrm>
            <a:off x="730250" y="2374900"/>
            <a:ext cx="5867400" cy="2492990"/>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The </a:t>
            </a:r>
            <a:r>
              <a:rPr lang="en-US" sz="1200" dirty="0">
                <a:latin typeface="Times New Roman" pitchFamily="18" charset="0"/>
                <a:cs typeface="Times New Roman" pitchFamily="18" charset="0"/>
              </a:rPr>
              <a:t>system utilizes laser beams cast across a boundary area, and laser transmitters and light-dependent resistors form the heart of this system. An alarm will be triggered upon </a:t>
            </a:r>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resistance</a:t>
            </a:r>
            <a:r>
              <a:rPr lang="en-US" sz="1200" dirty="0">
                <a:latin typeface="Times New Roman" pitchFamily="18" charset="0"/>
                <a:cs typeface="Times New Roman" pitchFamily="18" charset="0"/>
              </a:rPr>
              <a:t>. Laser light therefore has the </a:t>
            </a:r>
            <a:r>
              <a:rPr lang="en-US" sz="1200" dirty="0" smtClean="0">
                <a:latin typeface="Times New Roman" pitchFamily="18" charset="0"/>
                <a:cs typeface="Times New Roman" pitchFamily="18" charset="0"/>
              </a:rPr>
              <a:t>unique property</a:t>
            </a:r>
            <a:r>
              <a:rPr lang="en-US" sz="1200" dirty="0">
                <a:latin typeface="Times New Roman" pitchFamily="18" charset="0"/>
                <a:cs typeface="Times New Roman" pitchFamily="18" charset="0"/>
              </a:rPr>
              <a:t> that it travels with such narrow, monochromatic, and focused light to ensure good precision over quite long distances</a:t>
            </a:r>
            <a:r>
              <a:rPr lang="en-US" sz="1200" dirty="0" smtClean="0">
                <a:latin typeface="Times New Roman" pitchFamily="18" charset="0"/>
                <a:cs typeface="Times New Roman" pitchFamily="18" charset="0"/>
              </a:rPr>
              <a:t>.</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r>
              <a:rPr lang="en-US" sz="1200" dirty="0" smtClean="0">
                <a:latin typeface="Times New Roman" pitchFamily="18" charset="0"/>
                <a:cs typeface="Times New Roman" pitchFamily="18" charset="0"/>
              </a:rPr>
              <a:t>The methodology</a:t>
            </a:r>
            <a:r>
              <a:rPr lang="en-US" sz="1200" dirty="0">
                <a:latin typeface="Times New Roman" pitchFamily="18" charset="0"/>
                <a:cs typeface="Times New Roman" pitchFamily="18" charset="0"/>
              </a:rPr>
              <a:t> includes the use of </a:t>
            </a:r>
            <a:r>
              <a:rPr lang="en-US" sz="1200" dirty="0" smtClean="0">
                <a:latin typeface="Times New Roman" pitchFamily="18" charset="0"/>
                <a:cs typeface="Times New Roman" pitchFamily="18" charset="0"/>
              </a:rPr>
              <a:t>an operational </a:t>
            </a:r>
            <a:r>
              <a:rPr lang="en-US" sz="1200" dirty="0">
                <a:latin typeface="Times New Roman" pitchFamily="18" charset="0"/>
                <a:cs typeface="Times New Roman" pitchFamily="18" charset="0"/>
              </a:rPr>
              <a:t>amplifier, acting as a comparator for detecting voltage differences resulting from changes in LDR resistance during interruption by a laser beam. A 555 Timer IC is used in a bi-stable </a:t>
            </a:r>
            <a:r>
              <a:rPr lang="en-US" sz="1200" dirty="0" err="1">
                <a:latin typeface="Times New Roman" pitchFamily="18" charset="0"/>
                <a:cs typeface="Times New Roman" pitchFamily="18" charset="0"/>
              </a:rPr>
              <a:t>multivibrator</a:t>
            </a:r>
            <a:r>
              <a:rPr lang="en-US" sz="1200" dirty="0">
                <a:latin typeface="Times New Roman" pitchFamily="18" charset="0"/>
                <a:cs typeface="Times New Roman" pitchFamily="18" charset="0"/>
              </a:rPr>
              <a:t> mode to trigger a buzzer as an </a:t>
            </a:r>
            <a:r>
              <a:rPr lang="en-US" sz="1200" dirty="0" smtClean="0">
                <a:latin typeface="Times New Roman" pitchFamily="18" charset="0"/>
                <a:cs typeface="Times New Roman" pitchFamily="18" charset="0"/>
              </a:rPr>
              <a:t>alarm.</a:t>
            </a:r>
            <a:r>
              <a:rPr lang="en-US" sz="1200" dirty="0">
                <a:latin typeface="Times New Roman" pitchFamily="18" charset="0"/>
                <a:cs typeface="Times New Roman" pitchFamily="18" charset="0"/>
              </a:rPr>
              <a:t> It could extend its applications from </a:t>
            </a:r>
            <a:r>
              <a:rPr lang="en-US" sz="1200" dirty="0" smtClean="0">
                <a:latin typeface="Times New Roman" pitchFamily="18" charset="0"/>
                <a:cs typeface="Times New Roman" pitchFamily="18" charset="0"/>
              </a:rPr>
              <a:t>household  security  to protecting high-value assets.</a:t>
            </a:r>
          </a:p>
          <a:p>
            <a:pPr algn="just"/>
            <a:r>
              <a:rPr lang="en-US" sz="1200" dirty="0" smtClean="0">
                <a:latin typeface="Times New Roman" pitchFamily="18" charset="0"/>
                <a:cs typeface="Times New Roman" pitchFamily="18" charset="0"/>
              </a:rPr>
              <a:t>This</a:t>
            </a:r>
            <a:r>
              <a:rPr lang="en-US" sz="1200" dirty="0">
                <a:latin typeface="Times New Roman" pitchFamily="18" charset="0"/>
                <a:cs typeface="Times New Roman" pitchFamily="18" charset="0"/>
              </a:rPr>
              <a:t> scheme gives way to the idea of building an affordable and efficient laser perimeter security system that, in its basic implementation, integrates lasers with LDRs to ensure precise detection of intrusions. It is accessible </a:t>
            </a:r>
            <a:r>
              <a:rPr lang="en-US" sz="1200" dirty="0" smtClean="0">
                <a:latin typeface="Times New Roman" pitchFamily="18" charset="0"/>
                <a:cs typeface="Times New Roman" pitchFamily="18" charset="0"/>
              </a:rPr>
              <a:t>to sample</a:t>
            </a:r>
            <a:r>
              <a:rPr lang="en-US" sz="1200" dirty="0">
                <a:latin typeface="Times New Roman" pitchFamily="18" charset="0"/>
                <a:cs typeface="Times New Roman" pitchFamily="18" charset="0"/>
              </a:rPr>
              <a:t> use when common, cost-effective components are used to answer modern security needs</a:t>
            </a:r>
            <a:r>
              <a:rPr lang="en-US" sz="1200" dirty="0" smtClean="0">
                <a:latin typeface="Times New Roman" pitchFamily="18" charset="0"/>
                <a:cs typeface="Times New Roman" pitchFamily="18" charset="0"/>
              </a:rPr>
              <a:t>. [4]</a:t>
            </a:r>
            <a:endParaRPr lang="en-US" sz="1200" dirty="0">
              <a:latin typeface="Times New Roman" pitchFamily="18" charset="0"/>
              <a:cs typeface="Times New Roman" pitchFamily="18" charset="0"/>
            </a:endParaRPr>
          </a:p>
        </p:txBody>
      </p:sp>
      <p:sp>
        <p:nvSpPr>
          <p:cNvPr id="4" name="TextBox 3"/>
          <p:cNvSpPr txBox="1"/>
          <p:nvPr/>
        </p:nvSpPr>
        <p:spPr>
          <a:xfrm>
            <a:off x="730250" y="5118100"/>
            <a:ext cx="5867400" cy="2677656"/>
          </a:xfrm>
          <a:prstGeom prst="rect">
            <a:avLst/>
          </a:prstGeom>
          <a:noFill/>
        </p:spPr>
        <p:txBody>
          <a:bodyPr wrap="square" rtlCol="0">
            <a:spAutoFit/>
          </a:bodyPr>
          <a:lstStyle/>
          <a:p>
            <a:pPr algn="just"/>
            <a:r>
              <a:rPr lang="en-US" sz="1200" dirty="0">
                <a:latin typeface="Times New Roman" pitchFamily="18" charset="0"/>
                <a:cs typeface="Times New Roman" pitchFamily="18" charset="0"/>
              </a:rPr>
              <a:t>The Laser Security Alarm System is an effective and efficient way to secure areas by detecting intrusions using laser beams. The fundamental concept revolves around the principle of a laser transmitter emitting a focused beam, which is continuously monitored by a receiver. An interruption in this beam due to an intruder or object triggers an alert through a connected alarm </a:t>
            </a:r>
            <a:r>
              <a:rPr lang="en-US" sz="1200" dirty="0" smtClean="0">
                <a:latin typeface="Times New Roman" pitchFamily="18" charset="0"/>
                <a:cs typeface="Times New Roman" pitchFamily="18" charset="0"/>
              </a:rPr>
              <a:t>unit. The </a:t>
            </a:r>
            <a:r>
              <a:rPr lang="en-US" sz="1200" dirty="0">
                <a:latin typeface="Times New Roman" pitchFamily="18" charset="0"/>
                <a:cs typeface="Times New Roman" pitchFamily="18" charset="0"/>
              </a:rPr>
              <a:t>system is based on components such as a laser diode, a light-dependent resistor (LDR), transistors, and a buzzer alarm. It detects the changes in light intensity on the LDR using the voltage divider principle. The benefits include high accuracy, low power consumption, long distance coverage, and quick response time. However, its performance may be affected by environmental conditions such as fog, dust, or rain, hence requiring regular maintenance and </a:t>
            </a:r>
            <a:r>
              <a:rPr lang="en-US" sz="1200" dirty="0" smtClean="0">
                <a:latin typeface="Times New Roman" pitchFamily="18" charset="0"/>
                <a:cs typeface="Times New Roman" pitchFamily="18" charset="0"/>
              </a:rPr>
              <a:t>calibration. In </a:t>
            </a:r>
            <a:r>
              <a:rPr lang="en-US" sz="1200" dirty="0">
                <a:latin typeface="Times New Roman" pitchFamily="18" charset="0"/>
                <a:cs typeface="Times New Roman" pitchFamily="18" charset="0"/>
              </a:rPr>
              <a:t>conclusion, </a:t>
            </a:r>
            <a:r>
              <a:rPr lang="en-US" sz="1200" dirty="0" smtClean="0">
                <a:latin typeface="Times New Roman" pitchFamily="18" charset="0"/>
                <a:cs typeface="Times New Roman" pitchFamily="18" charset="0"/>
              </a:rPr>
              <a:t>This </a:t>
            </a:r>
            <a:r>
              <a:rPr lang="en-US" sz="1200" dirty="0">
                <a:latin typeface="Times New Roman" pitchFamily="18" charset="0"/>
                <a:cs typeface="Times New Roman" pitchFamily="18" charset="0"/>
              </a:rPr>
              <a:t>system forms a cost-effective and scalable security </a:t>
            </a:r>
            <a:r>
              <a:rPr lang="en-US" sz="1200" dirty="0" smtClean="0">
                <a:latin typeface="Times New Roman" pitchFamily="18" charset="0"/>
                <a:cs typeface="Times New Roman" pitchFamily="18" charset="0"/>
              </a:rPr>
              <a:t>measure. It maximizes </a:t>
            </a:r>
            <a:r>
              <a:rPr lang="en-US" sz="1200" dirty="0">
                <a:latin typeface="Times New Roman" pitchFamily="18" charset="0"/>
                <a:cs typeface="Times New Roman" pitchFamily="18" charset="0"/>
              </a:rPr>
              <a:t>security efficiency when integrated with </a:t>
            </a:r>
            <a:r>
              <a:rPr lang="en-US" sz="1200" dirty="0" smtClean="0">
                <a:latin typeface="Times New Roman" pitchFamily="18" charset="0"/>
                <a:cs typeface="Times New Roman" pitchFamily="18" charset="0"/>
              </a:rPr>
              <a:t>high technologies such as wireless communication.</a:t>
            </a:r>
            <a:r>
              <a:rPr lang="en-US" sz="1200" dirty="0">
                <a:latin typeface="Times New Roman" pitchFamily="18" charset="0"/>
                <a:cs typeface="Times New Roman" pitchFamily="18" charset="0"/>
              </a:rPr>
              <a:t> Although it is exposed to environmental limitations, its features of affordability and reliability mean that it can be widely applied in various scenarios</a:t>
            </a:r>
            <a:r>
              <a:rPr lang="en-US" sz="1200" dirty="0" smtClean="0">
                <a:latin typeface="Times New Roman" pitchFamily="18" charset="0"/>
                <a:cs typeface="Times New Roman" pitchFamily="18" charset="0"/>
              </a:rPr>
              <a:t>. [5]</a:t>
            </a:r>
            <a:endParaRPr lang="en-US" sz="1200" dirty="0">
              <a:latin typeface="Times New Roman" pitchFamily="18" charset="0"/>
              <a:cs typeface="Times New Roman" pitchFamily="18" charset="0"/>
            </a:endParaRPr>
          </a:p>
        </p:txBody>
      </p:sp>
      <p:sp>
        <p:nvSpPr>
          <p:cNvPr id="6" name="Footer Placeholder 5"/>
          <p:cNvSpPr>
            <a:spLocks noGrp="1"/>
          </p:cNvSpPr>
          <p:nvPr>
            <p:ph type="ftr" sz="quarter" idx="5"/>
          </p:nvPr>
        </p:nvSpPr>
        <p:spPr>
          <a:xfrm>
            <a:off x="2577338" y="10175101"/>
            <a:ext cx="2420112" cy="184666"/>
          </a:xfrm>
        </p:spPr>
        <p:txBody>
          <a:bodyPr/>
          <a:lstStyle/>
          <a:p>
            <a:r>
              <a:rPr lang="en-IN" sz="1200" dirty="0" smtClean="0"/>
              <a:t>5</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7450" y="850900"/>
            <a:ext cx="5357460" cy="781624"/>
          </a:xfrm>
          <a:prstGeom prst="rect">
            <a:avLst/>
          </a:prstGeom>
        </p:spPr>
        <p:txBody>
          <a:bodyPr vert="horz" wrap="square" lIns="0" tIns="12065" rIns="0" bIns="0" rtlCol="0">
            <a:spAutoFit/>
          </a:bodyPr>
          <a:lstStyle/>
          <a:p>
            <a:pPr algn="ctr">
              <a:lnSpc>
                <a:spcPct val="100000"/>
              </a:lnSpc>
              <a:spcBef>
                <a:spcPts val="95"/>
              </a:spcBef>
            </a:pPr>
            <a:r>
              <a:rPr sz="2000" b="1">
                <a:latin typeface="Times New Roman"/>
                <a:cs typeface="Times New Roman"/>
              </a:rPr>
              <a:t>CHAPTER</a:t>
            </a:r>
            <a:r>
              <a:rPr sz="2000" b="1" spc="-35">
                <a:latin typeface="Times New Roman"/>
                <a:cs typeface="Times New Roman"/>
              </a:rPr>
              <a:t> </a:t>
            </a:r>
            <a:r>
              <a:rPr sz="2000" b="1" spc="-50" smtClean="0">
                <a:latin typeface="Times New Roman"/>
                <a:cs typeface="Times New Roman"/>
              </a:rPr>
              <a:t>3</a:t>
            </a:r>
            <a:endParaRPr sz="2000">
              <a:latin typeface="Times New Roman"/>
              <a:cs typeface="Times New Roman"/>
            </a:endParaRPr>
          </a:p>
          <a:p>
            <a:pPr marL="227965" algn="ctr">
              <a:lnSpc>
                <a:spcPct val="100000"/>
              </a:lnSpc>
              <a:spcBef>
                <a:spcPts val="1200"/>
              </a:spcBef>
            </a:pPr>
            <a:r>
              <a:rPr sz="2000" b="1">
                <a:latin typeface="Times New Roman"/>
                <a:cs typeface="Times New Roman"/>
              </a:rPr>
              <a:t>DESIGN</a:t>
            </a:r>
            <a:r>
              <a:rPr sz="2000" b="1" spc="-20">
                <a:latin typeface="Times New Roman"/>
                <a:cs typeface="Times New Roman"/>
              </a:rPr>
              <a:t> </a:t>
            </a:r>
            <a:r>
              <a:rPr sz="2000" b="1" spc="-10" smtClean="0">
                <a:latin typeface="Times New Roman"/>
                <a:cs typeface="Times New Roman"/>
              </a:rPr>
              <a:t>CONSIDERATIONS</a:t>
            </a:r>
            <a:endParaRPr sz="2000">
              <a:latin typeface="Times New Roman"/>
              <a:cs typeface="Times New Roman"/>
            </a:endParaRPr>
          </a:p>
        </p:txBody>
      </p:sp>
      <p:sp>
        <p:nvSpPr>
          <p:cNvPr id="6" name="TextBox 5"/>
          <p:cNvSpPr txBox="1"/>
          <p:nvPr/>
        </p:nvSpPr>
        <p:spPr>
          <a:xfrm>
            <a:off x="882650" y="1765300"/>
            <a:ext cx="5791200" cy="7386638"/>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Designing a laser security system must be all-inclusive to provide maximal performance, accuracy, and reliability in the entire system. Essentially, its primary aim should be real-time detection of unauthorized access or intrusion attempts and then autonomous response toward improving security. This can only be achieved by incorporating various critical parts such as laser sensors, transistors, alarm systems, response mechanisms, and power management in order to factor in the environment, particularly the lighting conditions, limitations of ranges, and interference. Another important factor is careful calibration of the system, processing of data, and security measures to allow the system to operate effectively and efficiently in a wide variety of security environments.</a:t>
            </a:r>
          </a:p>
          <a:p>
            <a:endParaRPr lang="en-US" sz="1200" dirty="0">
              <a:latin typeface="Times New Roman" pitchFamily="18" charset="0"/>
              <a:cs typeface="Times New Roman" pitchFamily="18" charset="0"/>
            </a:endParaRPr>
          </a:p>
          <a:p>
            <a:r>
              <a:rPr lang="en-US" sz="1200" b="1" dirty="0" smtClean="0">
                <a:latin typeface="Times New Roman" pitchFamily="18" charset="0"/>
                <a:cs typeface="Times New Roman" pitchFamily="18" charset="0"/>
              </a:rPr>
              <a:t>3.1  Components Required</a:t>
            </a:r>
          </a:p>
          <a:p>
            <a:endParaRPr lang="en-US" sz="1200" b="1" dirty="0" smtClean="0">
              <a:latin typeface="Times New Roman" pitchFamily="18" charset="0"/>
              <a:cs typeface="Times New Roman" pitchFamily="18" charset="0"/>
            </a:endParaRPr>
          </a:p>
          <a:p>
            <a:pPr marL="228600" indent="-228600">
              <a:lnSpc>
                <a:spcPct val="150000"/>
              </a:lnSpc>
              <a:buFont typeface="+mj-lt"/>
              <a:buAutoNum type="arabicPeriod"/>
            </a:pPr>
            <a:r>
              <a:rPr lang="en-US" sz="1200" dirty="0" smtClean="0">
                <a:latin typeface="Times New Roman" pitchFamily="18" charset="0"/>
                <a:cs typeface="Times New Roman" pitchFamily="18" charset="0"/>
              </a:rPr>
              <a:t>R307S Fingerprint sensor</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Laser Light Module</a:t>
            </a:r>
          </a:p>
          <a:p>
            <a:pPr marL="228600" indent="-228600">
              <a:lnSpc>
                <a:spcPct val="150000"/>
              </a:lnSpc>
              <a:buFont typeface="+mj-lt"/>
              <a:buAutoNum type="arabicPeriod"/>
            </a:pP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UNO</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5V Relay Module</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BC547 Transistor</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10k Ohm Resistor</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Buzzer</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Power Supply (5V DC)</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Connecting Wires</a:t>
            </a:r>
          </a:p>
          <a:p>
            <a:pPr marL="228600" indent="-228600">
              <a:lnSpc>
                <a:spcPct val="150000"/>
              </a:lnSpc>
              <a:buFont typeface="+mj-lt"/>
              <a:buAutoNum type="arabicPeriod"/>
            </a:pPr>
            <a:r>
              <a:rPr lang="en-US" sz="1200" dirty="0" smtClean="0">
                <a:latin typeface="Times New Roman" pitchFamily="18" charset="0"/>
                <a:cs typeface="Times New Roman" pitchFamily="18" charset="0"/>
              </a:rPr>
              <a:t>Breadboard</a:t>
            </a:r>
          </a:p>
          <a:p>
            <a:pPr marL="228600" indent="-228600">
              <a:lnSpc>
                <a:spcPct val="150000"/>
              </a:lnSpc>
              <a:buFont typeface="+mj-lt"/>
              <a:buAutoNum type="arabicPeriod"/>
            </a:pPr>
            <a:endParaRPr lang="en-US" sz="1200" dirty="0" smtClean="0">
              <a:latin typeface="Times New Roman" pitchFamily="18" charset="0"/>
              <a:cs typeface="Times New Roman" pitchFamily="18" charset="0"/>
            </a:endParaRPr>
          </a:p>
          <a:p>
            <a:pPr marL="228600" indent="-228600">
              <a:lnSpc>
                <a:spcPct val="150000"/>
              </a:lnSpc>
            </a:pPr>
            <a:r>
              <a:rPr lang="en-US" sz="1200" b="1" dirty="0" smtClean="0">
                <a:latin typeface="Times New Roman" pitchFamily="18" charset="0"/>
                <a:cs typeface="Times New Roman" pitchFamily="18" charset="0"/>
              </a:rPr>
              <a:t>3.1.1  R307S FINGERPRINT SENSOR</a:t>
            </a:r>
          </a:p>
          <a:p>
            <a:pPr marL="228600" indent="-228600">
              <a:lnSpc>
                <a:spcPct val="150000"/>
              </a:lnSpc>
            </a:pPr>
            <a:endParaRPr lang="en-US" sz="1200" b="1" dirty="0" smtClean="0">
              <a:latin typeface="Times New Roman" pitchFamily="18" charset="0"/>
              <a:cs typeface="Times New Roman" pitchFamily="18" charset="0"/>
            </a:endParaRPr>
          </a:p>
          <a:p>
            <a:pPr marL="228600" indent="-228600" algn="just"/>
            <a:r>
              <a:rPr lang="en-US" sz="1200" dirty="0" smtClean="0">
                <a:latin typeface="Times New Roman" pitchFamily="18" charset="0"/>
                <a:cs typeface="Times New Roman" pitchFamily="18" charset="0"/>
              </a:rPr>
              <a:t>      The R307 is a compact optical biometric product designed for accurate fingerprint               recognition and uses advanced optical scanning technologies to capture high-quality fingerprints, which are then processed and kept for matching. The amount of fingerprint templates that the sensor can store is quite extensive, making it suitable for access control, security systems, and authentication applications. UART (Universal Asynchronous Receiver/Transmitter) and TTL (Transistor-Transistor Logic) are the communication interfaces that are used for seamless integration with microcontrollers and embedded systems. They enable easy data transmission and control.</a:t>
            </a:r>
            <a:endParaRPr lang="en-US" sz="1200" dirty="0">
              <a:latin typeface="Times New Roman" pitchFamily="18" charset="0"/>
              <a:cs typeface="Times New Roman" pitchFamily="18" charset="0"/>
            </a:endParaRPr>
          </a:p>
        </p:txBody>
      </p:sp>
      <p:sp>
        <p:nvSpPr>
          <p:cNvPr id="7" name="Footer Placeholder 6"/>
          <p:cNvSpPr>
            <a:spLocks noGrp="1"/>
          </p:cNvSpPr>
          <p:nvPr>
            <p:ph type="ftr" sz="quarter" idx="5"/>
          </p:nvPr>
        </p:nvSpPr>
        <p:spPr>
          <a:xfrm>
            <a:off x="2571369" y="10115034"/>
            <a:ext cx="2420112" cy="184666"/>
          </a:xfrm>
        </p:spPr>
        <p:txBody>
          <a:bodyPr/>
          <a:lstStyle/>
          <a:p>
            <a:r>
              <a:rPr lang="en-IN" sz="1200" dirty="0" smtClean="0"/>
              <a:t>6</a:t>
            </a:r>
            <a:endParaRPr lang="en-US" sz="1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4050" y="1460500"/>
            <a:ext cx="5791200" cy="276999"/>
          </a:xfrm>
          <a:prstGeom prst="rect">
            <a:avLst/>
          </a:prstGeom>
          <a:noFill/>
        </p:spPr>
        <p:txBody>
          <a:bodyPr wrap="square" rtlCol="0">
            <a:spAutoFit/>
          </a:bodyPr>
          <a:lstStyle/>
          <a:p>
            <a:r>
              <a:rPr lang="en-US" sz="1200" b="1" dirty="0" smtClean="0">
                <a:latin typeface="Times New Roman" pitchFamily="18" charset="0"/>
                <a:cs typeface="Times New Roman" pitchFamily="18" charset="0"/>
              </a:rPr>
              <a:t>SPECIFICATIONS :</a:t>
            </a:r>
          </a:p>
        </p:txBody>
      </p:sp>
      <p:pic>
        <p:nvPicPr>
          <p:cNvPr id="1026" name="Picture 2"/>
          <p:cNvPicPr>
            <a:picLocks noChangeAspect="1" noChangeArrowheads="1"/>
          </p:cNvPicPr>
          <p:nvPr/>
        </p:nvPicPr>
        <p:blipFill>
          <a:blip r:embed="rId2"/>
          <a:srcRect/>
          <a:stretch>
            <a:fillRect/>
          </a:stretch>
        </p:blipFill>
        <p:spPr bwMode="auto">
          <a:xfrm>
            <a:off x="654050" y="1917700"/>
            <a:ext cx="6172200" cy="2914804"/>
          </a:xfrm>
          <a:prstGeom prst="rect">
            <a:avLst/>
          </a:prstGeom>
          <a:noFill/>
          <a:ln w="9525">
            <a:noFill/>
            <a:miter lim="800000"/>
            <a:headEnd/>
            <a:tailEnd/>
          </a:ln>
          <a:effectLst/>
        </p:spPr>
      </p:pic>
      <p:sp>
        <p:nvSpPr>
          <p:cNvPr id="5" name="TextBox 4"/>
          <p:cNvSpPr txBox="1"/>
          <p:nvPr/>
        </p:nvSpPr>
        <p:spPr>
          <a:xfrm>
            <a:off x="654050" y="5113635"/>
            <a:ext cx="6172200" cy="276999"/>
          </a:xfrm>
          <a:prstGeom prst="rect">
            <a:avLst/>
          </a:prstGeom>
          <a:noFill/>
        </p:spPr>
        <p:txBody>
          <a:bodyPr wrap="square" rtlCol="0">
            <a:spAutoFit/>
          </a:bodyPr>
          <a:lstStyle/>
          <a:p>
            <a:r>
              <a:rPr lang="en-US" sz="1200" b="1" dirty="0" smtClean="0">
                <a:latin typeface="Times New Roman" pitchFamily="18" charset="0"/>
                <a:cs typeface="Times New Roman" pitchFamily="18" charset="0"/>
              </a:rPr>
              <a:t>PIN DIAGRAM</a:t>
            </a:r>
            <a:r>
              <a:rPr lang="en-US" sz="1200" b="1" dirty="0">
                <a:latin typeface="Times New Roman" pitchFamily="18" charset="0"/>
                <a:cs typeface="Times New Roman" pitchFamily="18" charset="0"/>
              </a:rPr>
              <a:t> </a:t>
            </a:r>
            <a:r>
              <a:rPr lang="en-US" sz="1200" b="1" dirty="0" smtClean="0">
                <a:latin typeface="Times New Roman" pitchFamily="18" charset="0"/>
                <a:cs typeface="Times New Roman" pitchFamily="18" charset="0"/>
              </a:rPr>
              <a:t>:</a:t>
            </a:r>
          </a:p>
        </p:txBody>
      </p:sp>
      <p:sp>
        <p:nvSpPr>
          <p:cNvPr id="8" name="TextBox 7"/>
          <p:cNvSpPr txBox="1"/>
          <p:nvPr/>
        </p:nvSpPr>
        <p:spPr>
          <a:xfrm>
            <a:off x="2940050" y="8166100"/>
            <a:ext cx="37338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Finger print Sensor 3.1</a:t>
            </a:r>
            <a:endParaRPr lang="en-US" sz="1200" dirty="0">
              <a:latin typeface="Times New Roman" pitchFamily="18" charset="0"/>
              <a:cs typeface="Times New Roman" pitchFamily="18" charset="0"/>
            </a:endParaRPr>
          </a:p>
        </p:txBody>
      </p:sp>
      <p:sp>
        <p:nvSpPr>
          <p:cNvPr id="9" name="TextBox 8"/>
          <p:cNvSpPr txBox="1"/>
          <p:nvPr/>
        </p:nvSpPr>
        <p:spPr>
          <a:xfrm>
            <a:off x="3397250" y="1612900"/>
            <a:ext cx="22860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Table 1</a:t>
            </a:r>
            <a:endParaRPr lang="en-US" sz="1200" dirty="0">
              <a:latin typeface="Times New Roman" pitchFamily="18" charset="0"/>
              <a:cs typeface="Times New Roman" pitchFamily="18" charset="0"/>
            </a:endParaRPr>
          </a:p>
        </p:txBody>
      </p:sp>
      <p:pic>
        <p:nvPicPr>
          <p:cNvPr id="1029" name="Picture 5"/>
          <p:cNvPicPr>
            <a:picLocks noChangeAspect="1" noChangeArrowheads="1"/>
          </p:cNvPicPr>
          <p:nvPr/>
        </p:nvPicPr>
        <p:blipFill>
          <a:blip r:embed="rId3"/>
          <a:srcRect/>
          <a:stretch>
            <a:fillRect/>
          </a:stretch>
        </p:blipFill>
        <p:spPr bwMode="auto">
          <a:xfrm>
            <a:off x="806450" y="5651500"/>
            <a:ext cx="5867400" cy="2457450"/>
          </a:xfrm>
          <a:prstGeom prst="rect">
            <a:avLst/>
          </a:prstGeom>
          <a:noFill/>
          <a:ln w="9525">
            <a:noFill/>
            <a:miter lim="800000"/>
            <a:headEnd/>
            <a:tailEnd/>
          </a:ln>
          <a:effectLst/>
        </p:spPr>
      </p:pic>
      <p:sp>
        <p:nvSpPr>
          <p:cNvPr id="12" name="TextBox 11"/>
          <p:cNvSpPr txBox="1"/>
          <p:nvPr/>
        </p:nvSpPr>
        <p:spPr>
          <a:xfrm>
            <a:off x="882650" y="8699500"/>
            <a:ext cx="5715000" cy="1015663"/>
          </a:xfrm>
          <a:prstGeom prst="rect">
            <a:avLst/>
          </a:prstGeom>
          <a:noFill/>
        </p:spPr>
        <p:txBody>
          <a:bodyPr wrap="square" rtlCol="0">
            <a:spAutoFit/>
          </a:bodyPr>
          <a:lstStyle/>
          <a:p>
            <a:r>
              <a:rPr lang="en-IN" sz="1200" dirty="0" smtClean="0">
                <a:latin typeface="Times New Roman" pitchFamily="18" charset="0"/>
                <a:cs typeface="Times New Roman" pitchFamily="18" charset="0"/>
              </a:rPr>
              <a:t>TXD : Transmit pin</a:t>
            </a:r>
          </a:p>
          <a:p>
            <a:r>
              <a:rPr lang="en-IN" sz="1200" dirty="0" smtClean="0">
                <a:latin typeface="Times New Roman" pitchFamily="18" charset="0"/>
                <a:cs typeface="Times New Roman" pitchFamily="18" charset="0"/>
              </a:rPr>
              <a:t>RXD : Receiver pin</a:t>
            </a:r>
          </a:p>
          <a:p>
            <a:r>
              <a:rPr lang="en-IN" sz="1200" dirty="0" smtClean="0">
                <a:latin typeface="Times New Roman" pitchFamily="18" charset="0"/>
                <a:cs typeface="Times New Roman" pitchFamily="18" charset="0"/>
              </a:rPr>
              <a:t>VCC : Power Supply</a:t>
            </a:r>
          </a:p>
          <a:p>
            <a:r>
              <a:rPr lang="en-IN" sz="1200" dirty="0" smtClean="0">
                <a:latin typeface="Times New Roman" pitchFamily="18" charset="0"/>
                <a:cs typeface="Times New Roman" pitchFamily="18" charset="0"/>
              </a:rPr>
              <a:t>GND : Ground </a:t>
            </a:r>
          </a:p>
          <a:p>
            <a:endParaRPr lang="en-US" sz="1200" dirty="0">
              <a:latin typeface="Times New Roman" pitchFamily="18" charset="0"/>
              <a:cs typeface="Times New Roman" pitchFamily="18" charset="0"/>
            </a:endParaRPr>
          </a:p>
        </p:txBody>
      </p:sp>
      <p:sp>
        <p:nvSpPr>
          <p:cNvPr id="13" name="Footer Placeholder 12"/>
          <p:cNvSpPr>
            <a:spLocks noGrp="1"/>
          </p:cNvSpPr>
          <p:nvPr>
            <p:ph type="ftr" sz="quarter" idx="5"/>
          </p:nvPr>
        </p:nvSpPr>
        <p:spPr>
          <a:xfrm>
            <a:off x="2571369" y="10191234"/>
            <a:ext cx="2420112" cy="184666"/>
          </a:xfrm>
        </p:spPr>
        <p:txBody>
          <a:bodyPr/>
          <a:lstStyle/>
          <a:p>
            <a:r>
              <a:rPr lang="en-IN" sz="1200" dirty="0" smtClean="0"/>
              <a:t>7</a:t>
            </a:r>
            <a:endParaRPr lang="en-US" sz="1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06450" y="772974"/>
            <a:ext cx="6019800" cy="1754326"/>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3.1.2  LASER LIGHT MODULE :</a:t>
            </a:r>
          </a:p>
          <a:p>
            <a:endParaRPr lang="en-IN" sz="1200" b="1"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A laser is an optical amplifier that emits light by stimulated emission of electromagnetic radiation. Unlike other light sources, lasers emit light coherently; this coherence allows spatial coherence to focus beams for applications such as laser cutting and lithography. This coherence also keeps laser beams narrow over long distances, as in laser pointers. Lasers can emit light with a narrow spectrum and generate pulses as short as a </a:t>
            </a:r>
            <a:r>
              <a:rPr lang="en-US" sz="1200" dirty="0" err="1" smtClean="0">
                <a:latin typeface="Times New Roman" pitchFamily="18" charset="0"/>
                <a:cs typeface="Times New Roman" pitchFamily="18" charset="0"/>
              </a:rPr>
              <a:t>femto</a:t>
            </a:r>
            <a:r>
              <a:rPr lang="en-US" sz="1200" dirty="0" smtClean="0">
                <a:latin typeface="Times New Roman" pitchFamily="18" charset="0"/>
                <a:cs typeface="Times New Roman" pitchFamily="18" charset="0"/>
              </a:rPr>
              <a:t> second.</a:t>
            </a:r>
          </a:p>
          <a:p>
            <a:pPr algn="just"/>
            <a:endParaRPr lang="en-US" sz="1200" dirty="0" smtClean="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SPECIFICATIONS :</a:t>
            </a:r>
            <a:endParaRPr lang="en-IN" sz="1200" b="1" dirty="0">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1035050" y="2994660"/>
          <a:ext cx="5037668" cy="2580640"/>
        </p:xfrm>
        <a:graphic>
          <a:graphicData uri="http://schemas.openxmlformats.org/drawingml/2006/table">
            <a:tbl>
              <a:tblPr firstRow="1" bandRow="1">
                <a:tableStyleId>{5940675A-B579-460E-94D1-54222C63F5DA}</a:tableStyleId>
              </a:tblPr>
              <a:tblGrid>
                <a:gridCol w="1259417"/>
                <a:gridCol w="1259417"/>
                <a:gridCol w="1259417"/>
                <a:gridCol w="1259417"/>
              </a:tblGrid>
              <a:tr h="370840">
                <a:tc>
                  <a:txBody>
                    <a:bodyPr/>
                    <a:lstStyle/>
                    <a:p>
                      <a:r>
                        <a:rPr lang="en-IN" sz="1200" dirty="0" smtClean="0">
                          <a:latin typeface="Times New Roman" pitchFamily="18" charset="0"/>
                          <a:cs typeface="Times New Roman" pitchFamily="18" charset="0"/>
                        </a:rPr>
                        <a:t>Parameter</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Symbol</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Ratings</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Unit</a:t>
                      </a:r>
                      <a:endParaRPr lang="en-US" sz="1200" dirty="0">
                        <a:latin typeface="Times New Roman" pitchFamily="18" charset="0"/>
                        <a:cs typeface="Times New Roman" pitchFamily="18" charset="0"/>
                      </a:endParaRPr>
                    </a:p>
                  </a:txBody>
                  <a:tcPr/>
                </a:tc>
              </a:tr>
              <a:tr h="370840">
                <a:tc>
                  <a:txBody>
                    <a:bodyPr/>
                    <a:lstStyle/>
                    <a:p>
                      <a:r>
                        <a:rPr lang="en-IN" sz="1200" dirty="0" smtClean="0">
                          <a:latin typeface="Times New Roman" pitchFamily="18" charset="0"/>
                          <a:cs typeface="Times New Roman" pitchFamily="18" charset="0"/>
                        </a:rPr>
                        <a:t>Optical Output</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Po</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10</a:t>
                      </a:r>
                      <a:endParaRPr lang="en-US" sz="1200" dirty="0">
                        <a:latin typeface="Times New Roman" pitchFamily="18" charset="0"/>
                        <a:cs typeface="Times New Roman" pitchFamily="18" charset="0"/>
                      </a:endParaRPr>
                    </a:p>
                  </a:txBody>
                  <a:tcPr/>
                </a:tc>
                <a:tc>
                  <a:txBody>
                    <a:bodyPr/>
                    <a:lstStyle/>
                    <a:p>
                      <a:r>
                        <a:rPr lang="en-IN" sz="1200" dirty="0" err="1" smtClean="0">
                          <a:latin typeface="Times New Roman" pitchFamily="18" charset="0"/>
                          <a:cs typeface="Times New Roman" pitchFamily="18" charset="0"/>
                        </a:rPr>
                        <a:t>mW</a:t>
                      </a:r>
                      <a:endParaRPr lang="en-US" sz="1200" dirty="0">
                        <a:latin typeface="Times New Roman" pitchFamily="18" charset="0"/>
                        <a:cs typeface="Times New Roman" pitchFamily="18" charset="0"/>
                      </a:endParaRPr>
                    </a:p>
                  </a:txBody>
                  <a:tcPr/>
                </a:tc>
              </a:tr>
              <a:tr h="370840">
                <a:tc>
                  <a:txBody>
                    <a:bodyPr/>
                    <a:lstStyle/>
                    <a:p>
                      <a:r>
                        <a:rPr lang="en-IN" sz="1200" dirty="0" smtClean="0">
                          <a:latin typeface="Times New Roman" pitchFamily="18" charset="0"/>
                          <a:cs typeface="Times New Roman" pitchFamily="18" charset="0"/>
                        </a:rPr>
                        <a:t>Reverse Voltage(LD)</a:t>
                      </a:r>
                      <a:endParaRPr lang="en-US" sz="1200" dirty="0">
                        <a:latin typeface="Times New Roman" pitchFamily="18" charset="0"/>
                        <a:cs typeface="Times New Roman" pitchFamily="18" charset="0"/>
                      </a:endParaRPr>
                    </a:p>
                  </a:txBody>
                  <a:tcPr/>
                </a:tc>
                <a:tc>
                  <a:txBody>
                    <a:bodyPr/>
                    <a:lstStyle/>
                    <a:p>
                      <a:r>
                        <a:rPr lang="en-IN" sz="1200" dirty="0" err="1" smtClean="0">
                          <a:latin typeface="Times New Roman" pitchFamily="18" charset="0"/>
                          <a:cs typeface="Times New Roman" pitchFamily="18" charset="0"/>
                        </a:rPr>
                        <a:t>Vr</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2</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V</a:t>
                      </a:r>
                      <a:endParaRPr lang="en-US" sz="1200" dirty="0">
                        <a:latin typeface="Times New Roman" pitchFamily="18" charset="0"/>
                        <a:cs typeface="Times New Roman" pitchFamily="18" charset="0"/>
                      </a:endParaRPr>
                    </a:p>
                  </a:txBody>
                  <a:tcPr/>
                </a:tc>
              </a:tr>
              <a:tr h="370840">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IN" sz="1200" dirty="0" smtClean="0">
                          <a:latin typeface="Times New Roman" pitchFamily="18" charset="0"/>
                          <a:cs typeface="Times New Roman" pitchFamily="18" charset="0"/>
                        </a:rPr>
                        <a:t>Reverse Voltage(Pin PD)</a:t>
                      </a:r>
                      <a:endParaRPr lang="en-US" sz="1200" dirty="0" smtClean="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a:txBody>
                  <a:tcPr/>
                </a:tc>
                <a:tc>
                  <a:txBody>
                    <a:bodyPr/>
                    <a:lstStyle/>
                    <a:p>
                      <a:r>
                        <a:rPr lang="en-IN" sz="1200" dirty="0" err="1" smtClean="0">
                          <a:latin typeface="Times New Roman" pitchFamily="18" charset="0"/>
                          <a:cs typeface="Times New Roman" pitchFamily="18" charset="0"/>
                        </a:rPr>
                        <a:t>Vr</a:t>
                      </a:r>
                      <a:r>
                        <a:rPr lang="en-IN" sz="1200" dirty="0" smtClean="0">
                          <a:latin typeface="Times New Roman" pitchFamily="18" charset="0"/>
                          <a:cs typeface="Times New Roman" pitchFamily="18" charset="0"/>
                        </a:rPr>
                        <a:t> (PD)</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20</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V</a:t>
                      </a:r>
                      <a:endParaRPr lang="en-US" sz="1200" dirty="0">
                        <a:latin typeface="Times New Roman" pitchFamily="18" charset="0"/>
                        <a:cs typeface="Times New Roman" pitchFamily="18" charset="0"/>
                      </a:endParaRPr>
                    </a:p>
                  </a:txBody>
                  <a:tcPr/>
                </a:tc>
              </a:tr>
              <a:tr h="370840">
                <a:tc>
                  <a:txBody>
                    <a:bodyPr/>
                    <a:lstStyle/>
                    <a:p>
                      <a:r>
                        <a:rPr lang="en-IN" sz="1200" dirty="0" smtClean="0">
                          <a:latin typeface="Times New Roman" pitchFamily="18" charset="0"/>
                          <a:cs typeface="Times New Roman" pitchFamily="18" charset="0"/>
                        </a:rPr>
                        <a:t>Operating</a:t>
                      </a:r>
                      <a:r>
                        <a:rPr lang="en-IN" sz="1200" baseline="0" dirty="0" smtClean="0">
                          <a:latin typeface="Times New Roman" pitchFamily="18" charset="0"/>
                          <a:cs typeface="Times New Roman" pitchFamily="18" charset="0"/>
                        </a:rPr>
                        <a:t> Temp.</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Top</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-40 to 80</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C</a:t>
                      </a:r>
                      <a:endParaRPr lang="en-US" sz="1200" dirty="0">
                        <a:latin typeface="Times New Roman" pitchFamily="18" charset="0"/>
                        <a:cs typeface="Times New Roman" pitchFamily="18" charset="0"/>
                      </a:endParaRPr>
                    </a:p>
                  </a:txBody>
                  <a:tcPr/>
                </a:tc>
              </a:tr>
              <a:tr h="370840">
                <a:tc>
                  <a:txBody>
                    <a:bodyPr/>
                    <a:lstStyle/>
                    <a:p>
                      <a:r>
                        <a:rPr lang="en-IN" sz="1200" dirty="0" smtClean="0">
                          <a:latin typeface="Times New Roman" pitchFamily="18" charset="0"/>
                          <a:cs typeface="Times New Roman" pitchFamily="18" charset="0"/>
                        </a:rPr>
                        <a:t>Storage Temp.</a:t>
                      </a:r>
                      <a:endParaRPr lang="en-US" sz="1200" dirty="0">
                        <a:latin typeface="Times New Roman" pitchFamily="18" charset="0"/>
                        <a:cs typeface="Times New Roman" pitchFamily="18" charset="0"/>
                      </a:endParaRPr>
                    </a:p>
                  </a:txBody>
                  <a:tcPr/>
                </a:tc>
                <a:tc>
                  <a:txBody>
                    <a:bodyPr/>
                    <a:lstStyle/>
                    <a:p>
                      <a:r>
                        <a:rPr lang="en-IN" sz="1200" dirty="0" err="1" smtClean="0">
                          <a:latin typeface="Times New Roman" pitchFamily="18" charset="0"/>
                          <a:cs typeface="Times New Roman" pitchFamily="18" charset="0"/>
                        </a:rPr>
                        <a:t>Tstg</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-40 to 85</a:t>
                      </a:r>
                      <a:endParaRPr lang="en-US" sz="1200" dirty="0">
                        <a:latin typeface="Times New Roman" pitchFamily="18" charset="0"/>
                        <a:cs typeface="Times New Roman" pitchFamily="18" charset="0"/>
                      </a:endParaRPr>
                    </a:p>
                  </a:txBody>
                  <a:tcPr/>
                </a:tc>
                <a:tc>
                  <a:txBody>
                    <a:bodyPr/>
                    <a:lstStyle/>
                    <a:p>
                      <a:r>
                        <a:rPr lang="en-IN" sz="1200" dirty="0" smtClean="0">
                          <a:latin typeface="Times New Roman" pitchFamily="18" charset="0"/>
                          <a:cs typeface="Times New Roman" pitchFamily="18" charset="0"/>
                        </a:rPr>
                        <a:t>C</a:t>
                      </a:r>
                      <a:endParaRPr lang="en-US" sz="1200" dirty="0">
                        <a:latin typeface="Times New Roman" pitchFamily="18" charset="0"/>
                        <a:cs typeface="Times New Roman" pitchFamily="18" charset="0"/>
                      </a:endParaRPr>
                    </a:p>
                  </a:txBody>
                  <a:tcPr/>
                </a:tc>
              </a:tr>
            </a:tbl>
          </a:graphicData>
        </a:graphic>
      </p:graphicFrame>
      <p:sp>
        <p:nvSpPr>
          <p:cNvPr id="6" name="TextBox 5"/>
          <p:cNvSpPr txBox="1"/>
          <p:nvPr/>
        </p:nvSpPr>
        <p:spPr>
          <a:xfrm>
            <a:off x="3168650" y="2631301"/>
            <a:ext cx="27432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Table 2</a:t>
            </a:r>
            <a:endParaRPr lang="en-US" sz="1200" dirty="0">
              <a:latin typeface="Times New Roman" pitchFamily="18" charset="0"/>
              <a:cs typeface="Times New Roman" pitchFamily="18" charset="0"/>
            </a:endParaRPr>
          </a:p>
        </p:txBody>
      </p:sp>
      <p:sp>
        <p:nvSpPr>
          <p:cNvPr id="7" name="TextBox 6"/>
          <p:cNvSpPr txBox="1"/>
          <p:nvPr/>
        </p:nvSpPr>
        <p:spPr>
          <a:xfrm>
            <a:off x="882650" y="5907901"/>
            <a:ext cx="35052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LASER MODULE DIAGRAM  :</a:t>
            </a:r>
            <a:endParaRPr lang="en-US" sz="1200"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1111250" y="6672263"/>
            <a:ext cx="4114800" cy="2103437"/>
          </a:xfrm>
          <a:prstGeom prst="rect">
            <a:avLst/>
          </a:prstGeom>
          <a:noFill/>
          <a:ln w="9525">
            <a:noFill/>
            <a:miter lim="800000"/>
            <a:headEnd/>
            <a:tailEnd/>
          </a:ln>
          <a:effectLst/>
        </p:spPr>
      </p:pic>
      <p:sp>
        <p:nvSpPr>
          <p:cNvPr id="9" name="TextBox 8"/>
          <p:cNvSpPr txBox="1"/>
          <p:nvPr/>
        </p:nvSpPr>
        <p:spPr>
          <a:xfrm>
            <a:off x="3473450" y="8955901"/>
            <a:ext cx="32766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Laser Module 3.2</a:t>
            </a:r>
            <a:endParaRPr lang="en-US" sz="1200" dirty="0">
              <a:latin typeface="Times New Roman" pitchFamily="18" charset="0"/>
              <a:cs typeface="Times New Roman" pitchFamily="18" charset="0"/>
            </a:endParaRPr>
          </a:p>
        </p:txBody>
      </p:sp>
      <p:sp>
        <p:nvSpPr>
          <p:cNvPr id="10" name="Footer Placeholder 9"/>
          <p:cNvSpPr>
            <a:spLocks noGrp="1"/>
          </p:cNvSpPr>
          <p:nvPr>
            <p:ph type="ftr" sz="quarter" idx="5"/>
          </p:nvPr>
        </p:nvSpPr>
        <p:spPr>
          <a:xfrm>
            <a:off x="2571369" y="10115034"/>
            <a:ext cx="2420112" cy="184666"/>
          </a:xfrm>
        </p:spPr>
        <p:txBody>
          <a:bodyPr/>
          <a:lstStyle/>
          <a:p>
            <a:r>
              <a:rPr lang="en-IN" sz="1200" dirty="0" smtClean="0"/>
              <a:t>8</a:t>
            </a:r>
            <a:endParaRPr lang="en-US" sz="1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6450" y="698500"/>
            <a:ext cx="5791200" cy="2123658"/>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3.1.3  ARDUINO UNO :</a:t>
            </a:r>
          </a:p>
          <a:p>
            <a:endParaRPr lang="en-IN" sz="1200" b="1" dirty="0">
              <a:latin typeface="Times New Roman" pitchFamily="18" charset="0"/>
              <a:cs typeface="Times New Roman" pitchFamily="18" charset="0"/>
            </a:endParaRPr>
          </a:p>
          <a:p>
            <a:pPr algn="just"/>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is an open-source electronics platform based on simple hardware and software designed for creating interactive projects. This platform uses a microcontroller, which can be programmed to manage sensors, motors, lights, and more.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has become popular for its usability and ease of use. The IDE of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for coding, is quite user-friendly, with a range of shields and modules that makes it versatile for prototyping and development. </a:t>
            </a:r>
            <a:r>
              <a:rPr lang="en-US" sz="1200" dirty="0" err="1" smtClean="0">
                <a:latin typeface="Times New Roman" pitchFamily="18" charset="0"/>
                <a:cs typeface="Times New Roman" pitchFamily="18" charset="0"/>
              </a:rPr>
              <a:t>Arduino's</a:t>
            </a:r>
            <a:r>
              <a:rPr lang="en-US" sz="1200" dirty="0" smtClean="0">
                <a:latin typeface="Times New Roman" pitchFamily="18" charset="0"/>
                <a:cs typeface="Times New Roman" pitchFamily="18" charset="0"/>
              </a:rPr>
              <a:t> open-source nature encourages community collaboration, with countless resources and libraries available for various applications.</a:t>
            </a:r>
          </a:p>
          <a:p>
            <a:pPr algn="just"/>
            <a:endParaRPr lang="en-IN" sz="1200" dirty="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SPECIFICATIONS :</a:t>
            </a:r>
          </a:p>
        </p:txBody>
      </p:sp>
      <p:graphicFrame>
        <p:nvGraphicFramePr>
          <p:cNvPr id="4" name="Table 3"/>
          <p:cNvGraphicFramePr>
            <a:graphicFrameLocks noGrp="1"/>
          </p:cNvGraphicFramePr>
          <p:nvPr/>
        </p:nvGraphicFramePr>
        <p:xfrm>
          <a:off x="1187450" y="3345180"/>
          <a:ext cx="5037668" cy="5735320"/>
        </p:xfrm>
        <a:graphic>
          <a:graphicData uri="http://schemas.openxmlformats.org/drawingml/2006/table">
            <a:tbl>
              <a:tblPr firstRow="1" bandRow="1">
                <a:tableStyleId>{5940675A-B579-460E-94D1-54222C63F5DA}</a:tableStyleId>
              </a:tblPr>
              <a:tblGrid>
                <a:gridCol w="2518834"/>
                <a:gridCol w="2518834"/>
              </a:tblGrid>
              <a:tr h="370840">
                <a:tc>
                  <a:txBody>
                    <a:bodyPr/>
                    <a:lstStyle/>
                    <a:p>
                      <a:r>
                        <a:rPr lang="en-IN" sz="1200" b="1" dirty="0" smtClean="0">
                          <a:latin typeface="Times New Roman" pitchFamily="18" charset="0"/>
                          <a:cs typeface="Times New Roman" pitchFamily="18" charset="0"/>
                        </a:rPr>
                        <a:t>Specifications</a:t>
                      </a:r>
                      <a:endParaRPr lang="en-US" sz="1200" b="1" dirty="0">
                        <a:latin typeface="Times New Roman" pitchFamily="18" charset="0"/>
                        <a:cs typeface="Times New Roman" pitchFamily="18" charset="0"/>
                      </a:endParaRPr>
                    </a:p>
                  </a:txBody>
                  <a:tcPr/>
                </a:tc>
                <a:tc>
                  <a:txBody>
                    <a:bodyPr/>
                    <a:lstStyle/>
                    <a:p>
                      <a:r>
                        <a:rPr lang="en-IN" sz="1200" b="1" dirty="0" smtClean="0">
                          <a:latin typeface="Times New Roman" pitchFamily="18" charset="0"/>
                          <a:cs typeface="Times New Roman" pitchFamily="18" charset="0"/>
                        </a:rPr>
                        <a:t>Details</a:t>
                      </a:r>
                      <a:endParaRPr lang="en-US" sz="1200" b="1"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Operating Voltage</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5V</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Digital I/O Pins</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14 (of which 6 provide PWM output)</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PWM Digital I/O Pins</a:t>
                      </a:r>
                      <a:endParaRPr lang="en-US" sz="1200" dirty="0">
                        <a:latin typeface="Times New Roman" pitchFamily="18" charset="0"/>
                        <a:cs typeface="Times New Roman" pitchFamily="18" charset="0"/>
                      </a:endParaRPr>
                    </a:p>
                  </a:txBody>
                  <a:tcPr/>
                </a:tc>
                <a:tc>
                  <a:txBody>
                    <a:bodyPr/>
                    <a:lstStyle/>
                    <a:p>
                      <a:r>
                        <a:rPr lang="pt-BR" sz="1200" dirty="0" smtClean="0">
                          <a:latin typeface="Times New Roman" pitchFamily="18" charset="0"/>
                          <a:cs typeface="Times New Roman" pitchFamily="18" charset="0"/>
                        </a:rPr>
                        <a:t>6 (Pins 3, 5, 6, 9, 10, 11)</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Analog Input Pins</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6 (A0 to A5)</a:t>
                      </a:r>
                      <a:endParaRPr lang="en-US" sz="1200" dirty="0">
                        <a:latin typeface="Times New Roman" pitchFamily="18" charset="0"/>
                        <a:cs typeface="Times New Roman" pitchFamily="18" charset="0"/>
                      </a:endParaRPr>
                    </a:p>
                  </a:txBody>
                  <a:tcPr/>
                </a:tc>
              </a:tr>
              <a:tr h="370840">
                <a:tc>
                  <a:txBody>
                    <a:bodyPr/>
                    <a:lstStyle/>
                    <a:p>
                      <a:r>
                        <a:rPr lang="it-IT" sz="1200" dirty="0" smtClean="0">
                          <a:latin typeface="Times New Roman" pitchFamily="18" charset="0"/>
                          <a:cs typeface="Times New Roman" pitchFamily="18" charset="0"/>
                        </a:rPr>
                        <a:t>DC Current per I/O Pin</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20 </a:t>
                      </a:r>
                      <a:r>
                        <a:rPr lang="en-US" sz="1200" dirty="0" err="1" smtClean="0">
                          <a:latin typeface="Times New Roman" pitchFamily="18" charset="0"/>
                          <a:cs typeface="Times New Roman" pitchFamily="18" charset="0"/>
                        </a:rPr>
                        <a:t>mA</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Flash Memory</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32 KB (0.5 KB used for the boot loader)</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SRAM</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2 KB</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EEPROM</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1 KB</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Clock Speed</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16 MHz</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Communication Ports</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UART (Serial), SPI, and I2C</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USB Port</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USB Type-B for programming and power</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Power Connector</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Barrel Jack or USB</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Input Voltage (Limits)</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6-20V</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Microcontroller</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ATmega328P</a:t>
                      </a:r>
                      <a:endParaRPr lang="en-US" sz="1200" dirty="0">
                        <a:latin typeface="Times New Roman" pitchFamily="18" charset="0"/>
                        <a:cs typeface="Times New Roman" pitchFamily="18" charset="0"/>
                      </a:endParaRPr>
                    </a:p>
                  </a:txBody>
                  <a:tcPr/>
                </a:tc>
              </a:tr>
            </a:tbl>
          </a:graphicData>
        </a:graphic>
      </p:graphicFrame>
      <p:sp>
        <p:nvSpPr>
          <p:cNvPr id="5" name="TextBox 4"/>
          <p:cNvSpPr txBox="1"/>
          <p:nvPr/>
        </p:nvSpPr>
        <p:spPr>
          <a:xfrm>
            <a:off x="3244850" y="2984500"/>
            <a:ext cx="42672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Table 3</a:t>
            </a:r>
            <a:endParaRPr lang="en-US" sz="1200" dirty="0">
              <a:latin typeface="Times New Roman" pitchFamily="18" charset="0"/>
              <a:cs typeface="Times New Roman" pitchFamily="18" charset="0"/>
            </a:endParaRPr>
          </a:p>
        </p:txBody>
      </p:sp>
      <p:sp>
        <p:nvSpPr>
          <p:cNvPr id="6" name="Footer Placeholder 5"/>
          <p:cNvSpPr>
            <a:spLocks noGrp="1"/>
          </p:cNvSpPr>
          <p:nvPr>
            <p:ph type="ftr" sz="quarter" idx="5"/>
          </p:nvPr>
        </p:nvSpPr>
        <p:spPr>
          <a:xfrm>
            <a:off x="2571369" y="10147300"/>
            <a:ext cx="2420112" cy="184666"/>
          </a:xfrm>
        </p:spPr>
        <p:txBody>
          <a:bodyPr/>
          <a:lstStyle/>
          <a:p>
            <a:r>
              <a:rPr lang="en-IN" sz="1200" dirty="0" smtClean="0"/>
              <a:t>9</a:t>
            </a:r>
            <a:endParaRPr 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6450" y="622300"/>
            <a:ext cx="56388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ARDUINO UNO DIAGRAM  :</a:t>
            </a:r>
            <a:endParaRPr lang="en-US" sz="1200" b="1"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882650" y="1079500"/>
            <a:ext cx="6019800" cy="4035119"/>
          </a:xfrm>
          <a:prstGeom prst="rect">
            <a:avLst/>
          </a:prstGeom>
          <a:noFill/>
          <a:ln w="9525">
            <a:noFill/>
            <a:miter lim="800000"/>
            <a:headEnd/>
            <a:tailEnd/>
          </a:ln>
          <a:effectLst/>
        </p:spPr>
      </p:pic>
      <p:sp>
        <p:nvSpPr>
          <p:cNvPr id="5" name="TextBox 4"/>
          <p:cNvSpPr txBox="1"/>
          <p:nvPr/>
        </p:nvSpPr>
        <p:spPr>
          <a:xfrm>
            <a:off x="1187450" y="5621194"/>
            <a:ext cx="5334000" cy="3383106"/>
          </a:xfrm>
          <a:prstGeom prst="rect">
            <a:avLst/>
          </a:prstGeom>
          <a:noFill/>
        </p:spPr>
        <p:txBody>
          <a:bodyPr wrap="square" rtlCol="0">
            <a:spAutoFit/>
          </a:bodyPr>
          <a:lstStyle/>
          <a:p>
            <a:pPr>
              <a:lnSpc>
                <a:spcPct val="150000"/>
              </a:lnSpc>
            </a:pPr>
            <a:r>
              <a:rPr lang="en-US" sz="1200" b="1" dirty="0" smtClean="0">
                <a:latin typeface="Times New Roman" pitchFamily="18" charset="0"/>
                <a:cs typeface="Times New Roman" pitchFamily="18" charset="0"/>
              </a:rPr>
              <a:t>TX (Pin 1)</a:t>
            </a:r>
            <a:r>
              <a:rPr lang="en-US" sz="1200" dirty="0" smtClean="0">
                <a:latin typeface="Times New Roman" pitchFamily="18" charset="0"/>
                <a:cs typeface="Times New Roman" pitchFamily="18" charset="0"/>
              </a:rPr>
              <a:t>: Transmit pin for sending serial data.</a:t>
            </a:r>
          </a:p>
          <a:p>
            <a:pPr>
              <a:lnSpc>
                <a:spcPct val="150000"/>
              </a:lnSpc>
            </a:pPr>
            <a:r>
              <a:rPr lang="en-US" sz="1200" b="1" dirty="0" smtClean="0">
                <a:latin typeface="Times New Roman" pitchFamily="18" charset="0"/>
                <a:cs typeface="Times New Roman" pitchFamily="18" charset="0"/>
              </a:rPr>
              <a:t>RX (Pin 0)</a:t>
            </a:r>
            <a:r>
              <a:rPr lang="en-US" sz="1200" dirty="0" smtClean="0">
                <a:latin typeface="Times New Roman" pitchFamily="18" charset="0"/>
                <a:cs typeface="Times New Roman" pitchFamily="18" charset="0"/>
              </a:rPr>
              <a:t>: Receive pin for receiving serial data.</a:t>
            </a:r>
          </a:p>
          <a:p>
            <a:pPr>
              <a:lnSpc>
                <a:spcPct val="150000"/>
              </a:lnSpc>
            </a:pPr>
            <a:r>
              <a:rPr lang="en-US" sz="1200" b="1" dirty="0" smtClean="0">
                <a:latin typeface="Times New Roman" pitchFamily="18" charset="0"/>
                <a:cs typeface="Times New Roman" pitchFamily="18" charset="0"/>
              </a:rPr>
              <a:t>SDA (A4)</a:t>
            </a:r>
            <a:r>
              <a:rPr lang="en-US" sz="1200" dirty="0" smtClean="0">
                <a:latin typeface="Times New Roman" pitchFamily="18" charset="0"/>
                <a:cs typeface="Times New Roman" pitchFamily="18" charset="0"/>
              </a:rPr>
              <a:t>: Serial Data line for I2C communication.</a:t>
            </a:r>
          </a:p>
          <a:p>
            <a:pPr>
              <a:lnSpc>
                <a:spcPct val="150000"/>
              </a:lnSpc>
            </a:pPr>
            <a:r>
              <a:rPr lang="en-US" sz="1200" b="1" dirty="0" smtClean="0">
                <a:latin typeface="Times New Roman" pitchFamily="18" charset="0"/>
                <a:cs typeface="Times New Roman" pitchFamily="18" charset="0"/>
              </a:rPr>
              <a:t>SCL (A5)</a:t>
            </a:r>
            <a:r>
              <a:rPr lang="en-US" sz="1200" dirty="0" smtClean="0">
                <a:latin typeface="Times New Roman" pitchFamily="18" charset="0"/>
                <a:cs typeface="Times New Roman" pitchFamily="18" charset="0"/>
              </a:rPr>
              <a:t>: Serial Clock line for I2C communication.</a:t>
            </a:r>
          </a:p>
          <a:p>
            <a:pPr>
              <a:lnSpc>
                <a:spcPct val="150000"/>
              </a:lnSpc>
            </a:pPr>
            <a:r>
              <a:rPr lang="en-US" sz="1200" b="1" dirty="0" smtClean="0">
                <a:latin typeface="Times New Roman" pitchFamily="18" charset="0"/>
                <a:cs typeface="Times New Roman" pitchFamily="18" charset="0"/>
              </a:rPr>
              <a:t>MOSI (Pin 11)</a:t>
            </a:r>
            <a:r>
              <a:rPr lang="en-US" sz="1200" dirty="0" smtClean="0">
                <a:latin typeface="Times New Roman" pitchFamily="18" charset="0"/>
                <a:cs typeface="Times New Roman" pitchFamily="18" charset="0"/>
              </a:rPr>
              <a:t>: Master Out Slave In.</a:t>
            </a:r>
          </a:p>
          <a:p>
            <a:pPr>
              <a:lnSpc>
                <a:spcPct val="150000"/>
              </a:lnSpc>
            </a:pPr>
            <a:r>
              <a:rPr lang="en-US" sz="1200" b="1" dirty="0" smtClean="0">
                <a:latin typeface="Times New Roman" pitchFamily="18" charset="0"/>
                <a:cs typeface="Times New Roman" pitchFamily="18" charset="0"/>
              </a:rPr>
              <a:t>MISO (Pin 12)</a:t>
            </a:r>
            <a:r>
              <a:rPr lang="en-US" sz="1200" dirty="0" smtClean="0">
                <a:latin typeface="Times New Roman" pitchFamily="18" charset="0"/>
                <a:cs typeface="Times New Roman" pitchFamily="18" charset="0"/>
              </a:rPr>
              <a:t>: Master In Slave Out.</a:t>
            </a:r>
          </a:p>
          <a:p>
            <a:pPr>
              <a:lnSpc>
                <a:spcPct val="150000"/>
              </a:lnSpc>
            </a:pPr>
            <a:r>
              <a:rPr lang="en-US" sz="1200" b="1" dirty="0" smtClean="0">
                <a:latin typeface="Times New Roman" pitchFamily="18" charset="0"/>
                <a:cs typeface="Times New Roman" pitchFamily="18" charset="0"/>
              </a:rPr>
              <a:t>SCK (Pin 13)</a:t>
            </a:r>
            <a:r>
              <a:rPr lang="en-US" sz="1200" dirty="0" smtClean="0">
                <a:latin typeface="Times New Roman" pitchFamily="18" charset="0"/>
                <a:cs typeface="Times New Roman" pitchFamily="18" charset="0"/>
              </a:rPr>
              <a:t>: Serial Clock.</a:t>
            </a:r>
          </a:p>
          <a:p>
            <a:pPr>
              <a:lnSpc>
                <a:spcPct val="150000"/>
              </a:lnSpc>
            </a:pPr>
            <a:r>
              <a:rPr lang="en-US" sz="1200" b="1" dirty="0" smtClean="0">
                <a:latin typeface="Times New Roman" pitchFamily="18" charset="0"/>
                <a:cs typeface="Times New Roman" pitchFamily="18" charset="0"/>
              </a:rPr>
              <a:t>SS (Pin 10)</a:t>
            </a:r>
            <a:r>
              <a:rPr lang="en-US" sz="1200" dirty="0" smtClean="0">
                <a:latin typeface="Times New Roman" pitchFamily="18" charset="0"/>
                <a:cs typeface="Times New Roman" pitchFamily="18" charset="0"/>
              </a:rPr>
              <a:t>: Slave Select.</a:t>
            </a:r>
          </a:p>
          <a:p>
            <a:pPr>
              <a:lnSpc>
                <a:spcPct val="150000"/>
              </a:lnSpc>
            </a:pPr>
            <a:r>
              <a:rPr lang="en-US" sz="1200" b="1" dirty="0" smtClean="0">
                <a:latin typeface="Times New Roman" pitchFamily="18" charset="0"/>
                <a:cs typeface="Times New Roman" pitchFamily="18" charset="0"/>
              </a:rPr>
              <a:t>Analog Pins</a:t>
            </a:r>
            <a:r>
              <a:rPr lang="en-US" sz="1200" dirty="0" smtClean="0">
                <a:latin typeface="Times New Roman" pitchFamily="18" charset="0"/>
                <a:cs typeface="Times New Roman" pitchFamily="18" charset="0"/>
              </a:rPr>
              <a:t>: A0–A5.</a:t>
            </a:r>
          </a:p>
          <a:p>
            <a:pPr>
              <a:lnSpc>
                <a:spcPct val="150000"/>
              </a:lnSpc>
            </a:pPr>
            <a:r>
              <a:rPr lang="en-US" sz="1200" b="1" dirty="0" smtClean="0">
                <a:latin typeface="Times New Roman" pitchFamily="18" charset="0"/>
                <a:cs typeface="Times New Roman" pitchFamily="18" charset="0"/>
              </a:rPr>
              <a:t>Digital Pins</a:t>
            </a:r>
            <a:r>
              <a:rPr lang="en-US" sz="1200" dirty="0" smtClean="0">
                <a:latin typeface="Times New Roman" pitchFamily="18" charset="0"/>
                <a:cs typeface="Times New Roman" pitchFamily="18" charset="0"/>
              </a:rPr>
              <a:t>: 0–13</a:t>
            </a:r>
          </a:p>
          <a:p>
            <a:pPr>
              <a:lnSpc>
                <a:spcPct val="150000"/>
              </a:lnSpc>
            </a:pPr>
            <a:r>
              <a:rPr lang="en-US" sz="1200" b="1" dirty="0" smtClean="0">
                <a:latin typeface="Times New Roman" pitchFamily="18" charset="0"/>
                <a:cs typeface="Times New Roman" pitchFamily="18" charset="0"/>
              </a:rPr>
              <a:t>Power Pins</a:t>
            </a:r>
            <a:r>
              <a:rPr lang="en-US" sz="1200" dirty="0" smtClean="0">
                <a:latin typeface="Times New Roman" pitchFamily="18" charset="0"/>
                <a:cs typeface="Times New Roman" pitchFamily="18" charset="0"/>
              </a:rPr>
              <a:t>: Vin, 5V, 3.3V, GND.</a:t>
            </a:r>
          </a:p>
          <a:p>
            <a:pPr>
              <a:lnSpc>
                <a:spcPct val="150000"/>
              </a:lnSpc>
            </a:pPr>
            <a:r>
              <a:rPr lang="en-US" sz="1200" b="1" dirty="0" smtClean="0">
                <a:latin typeface="Times New Roman" pitchFamily="18" charset="0"/>
                <a:cs typeface="Times New Roman" pitchFamily="18" charset="0"/>
              </a:rPr>
              <a:t>USB Port</a:t>
            </a:r>
            <a:r>
              <a:rPr lang="en-US" sz="1200" dirty="0" smtClean="0">
                <a:latin typeface="Times New Roman" pitchFamily="18" charset="0"/>
                <a:cs typeface="Times New Roman" pitchFamily="18" charset="0"/>
              </a:rPr>
              <a:t>: For programming and power.</a:t>
            </a:r>
            <a:endParaRPr lang="en-US" sz="1200" dirty="0">
              <a:latin typeface="Times New Roman" pitchFamily="18" charset="0"/>
              <a:cs typeface="Times New Roman" pitchFamily="18" charset="0"/>
            </a:endParaRPr>
          </a:p>
        </p:txBody>
      </p:sp>
      <p:sp>
        <p:nvSpPr>
          <p:cNvPr id="6" name="TextBox 5"/>
          <p:cNvSpPr txBox="1"/>
          <p:nvPr/>
        </p:nvSpPr>
        <p:spPr>
          <a:xfrm>
            <a:off x="3321050" y="4965700"/>
            <a:ext cx="3657600" cy="276999"/>
          </a:xfrm>
          <a:prstGeom prst="rect">
            <a:avLst/>
          </a:prstGeom>
          <a:noFill/>
        </p:spPr>
        <p:txBody>
          <a:bodyPr wrap="square" rtlCol="0">
            <a:spAutoFit/>
          </a:bodyPr>
          <a:lstStyle/>
          <a:p>
            <a:r>
              <a:rPr lang="en-IN" sz="1200" dirty="0" err="1" smtClean="0">
                <a:latin typeface="Times New Roman" pitchFamily="18" charset="0"/>
                <a:cs typeface="Times New Roman" pitchFamily="18" charset="0"/>
              </a:rPr>
              <a:t>Arduino</a:t>
            </a:r>
            <a:r>
              <a:rPr lang="en-IN" sz="1200" dirty="0" smtClean="0">
                <a:latin typeface="Times New Roman" pitchFamily="18" charset="0"/>
                <a:cs typeface="Times New Roman" pitchFamily="18" charset="0"/>
              </a:rPr>
              <a:t> UNO 3.3</a:t>
            </a:r>
            <a:endParaRPr lang="en-US" sz="1200" dirty="0">
              <a:latin typeface="Times New Roman" pitchFamily="18" charset="0"/>
              <a:cs typeface="Times New Roman" pitchFamily="18" charset="0"/>
            </a:endParaRPr>
          </a:p>
        </p:txBody>
      </p:sp>
      <p:sp>
        <p:nvSpPr>
          <p:cNvPr id="7" name="Footer Placeholder 6"/>
          <p:cNvSpPr>
            <a:spLocks noGrp="1"/>
          </p:cNvSpPr>
          <p:nvPr>
            <p:ph type="ftr" sz="quarter" idx="5"/>
          </p:nvPr>
        </p:nvSpPr>
        <p:spPr>
          <a:xfrm>
            <a:off x="2571369" y="10147300"/>
            <a:ext cx="2420112" cy="184666"/>
          </a:xfrm>
        </p:spPr>
        <p:txBody>
          <a:bodyPr/>
          <a:lstStyle/>
          <a:p>
            <a:r>
              <a:rPr lang="en-IN" sz="1200" dirty="0" smtClean="0"/>
              <a:t>10</a:t>
            </a:r>
            <a:endParaRPr lang="en-US" sz="1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35050" y="1014968"/>
            <a:ext cx="5486400" cy="2308324"/>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3.1.4 RELAY MODULE </a:t>
            </a:r>
          </a:p>
          <a:p>
            <a:pPr algn="just"/>
            <a:endParaRPr lang="en-IN" sz="1200" dirty="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A 5V relay is an electrical switch operated by a 5V control signal, which is from a microcontroller like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It works on an electromagnet that opens and closes the circuit, giving the ability for low-voltage devices to control loads with higher voltage. This relay consists of a coil, contacts, and a mechanical armature that move in response to energizing. It is commonly used in applications for switching automation, appliances at home, and industrial control systems. Such as a 5V relay-which works with a standard, everyday circuit-a is available for compatibility with a simple 5V logic systems.</a:t>
            </a:r>
          </a:p>
          <a:p>
            <a:pPr algn="just"/>
            <a:endParaRPr lang="en-IN" sz="1200" dirty="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SPECIFICATIONS :</a:t>
            </a:r>
            <a:endParaRPr lang="en-US" sz="1200" b="1"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958850" y="7480300"/>
            <a:ext cx="5885607" cy="1905000"/>
          </a:xfrm>
          <a:prstGeom prst="rect">
            <a:avLst/>
          </a:prstGeom>
          <a:noFill/>
          <a:ln w="9525">
            <a:noFill/>
            <a:miter lim="800000"/>
            <a:headEnd/>
            <a:tailEnd/>
          </a:ln>
          <a:effectLst/>
        </p:spPr>
      </p:pic>
      <p:sp>
        <p:nvSpPr>
          <p:cNvPr id="5" name="TextBox 4"/>
          <p:cNvSpPr txBox="1"/>
          <p:nvPr/>
        </p:nvSpPr>
        <p:spPr>
          <a:xfrm>
            <a:off x="1111250" y="7355701"/>
            <a:ext cx="54864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5V RELAY MODULE DIAGRAM :</a:t>
            </a:r>
            <a:endParaRPr lang="en-US" sz="1200" b="1" dirty="0">
              <a:latin typeface="Times New Roman" pitchFamily="18" charset="0"/>
              <a:cs typeface="Times New Roman" pitchFamily="18" charset="0"/>
            </a:endParaRPr>
          </a:p>
        </p:txBody>
      </p:sp>
      <p:sp>
        <p:nvSpPr>
          <p:cNvPr id="6" name="TextBox 5"/>
          <p:cNvSpPr txBox="1"/>
          <p:nvPr/>
        </p:nvSpPr>
        <p:spPr>
          <a:xfrm>
            <a:off x="3244850" y="9260701"/>
            <a:ext cx="24384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Relay 3.4</a:t>
            </a:r>
            <a:endParaRPr lang="en-US" sz="1200"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1259416" y="3655060"/>
          <a:ext cx="5037668" cy="3139440"/>
        </p:xfrm>
        <a:graphic>
          <a:graphicData uri="http://schemas.openxmlformats.org/drawingml/2006/table">
            <a:tbl>
              <a:tblPr firstRow="1" bandRow="1">
                <a:tableStyleId>{5940675A-B579-460E-94D1-54222C63F5DA}</a:tableStyleId>
              </a:tblPr>
              <a:tblGrid>
                <a:gridCol w="2518834"/>
                <a:gridCol w="2518834"/>
              </a:tblGrid>
              <a:tr h="370840">
                <a:tc>
                  <a:txBody>
                    <a:bodyPr/>
                    <a:lstStyle/>
                    <a:p>
                      <a:r>
                        <a:rPr lang="en-IN" sz="1200" b="1" dirty="0" smtClean="0">
                          <a:latin typeface="Times New Roman" pitchFamily="18" charset="0"/>
                          <a:cs typeface="Times New Roman" pitchFamily="18" charset="0"/>
                        </a:rPr>
                        <a:t>Specification</a:t>
                      </a:r>
                      <a:endParaRPr lang="en-US" sz="1200" b="1" dirty="0">
                        <a:latin typeface="Times New Roman" pitchFamily="18" charset="0"/>
                        <a:cs typeface="Times New Roman" pitchFamily="18" charset="0"/>
                      </a:endParaRPr>
                    </a:p>
                  </a:txBody>
                  <a:tcPr/>
                </a:tc>
                <a:tc>
                  <a:txBody>
                    <a:bodyPr/>
                    <a:lstStyle/>
                    <a:p>
                      <a:r>
                        <a:rPr lang="en-IN" sz="1200" b="1" dirty="0" smtClean="0">
                          <a:latin typeface="Times New Roman" pitchFamily="18" charset="0"/>
                          <a:cs typeface="Times New Roman" pitchFamily="18" charset="0"/>
                        </a:rPr>
                        <a:t>Details</a:t>
                      </a:r>
                      <a:endParaRPr lang="en-US" sz="1200" b="1"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Operating Voltage</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5V DC</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Trigger Voltage</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3.3V to 5V DC</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Channel</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1</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Current Rating</a:t>
                      </a:r>
                      <a:endParaRPr lang="en-US" sz="1200" dirty="0">
                        <a:latin typeface="Times New Roman" pitchFamily="18" charset="0"/>
                        <a:cs typeface="Times New Roman" pitchFamily="18" charset="0"/>
                      </a:endParaRPr>
                    </a:p>
                  </a:txBody>
                  <a:tcPr/>
                </a:tc>
                <a:tc>
                  <a:txBody>
                    <a:bodyPr/>
                    <a:lstStyle/>
                    <a:p>
                      <a:r>
                        <a:rPr lang="en-US" sz="1200" b="1" dirty="0" smtClean="0">
                          <a:latin typeface="Times New Roman" pitchFamily="18" charset="0"/>
                          <a:cs typeface="Times New Roman" pitchFamily="18" charset="0"/>
                        </a:rPr>
                        <a:t>10A</a:t>
                      </a:r>
                      <a:r>
                        <a:rPr lang="en-US" sz="1200" dirty="0" smtClean="0">
                          <a:latin typeface="Times New Roman" pitchFamily="18" charset="0"/>
                          <a:cs typeface="Times New Roman" pitchFamily="18" charset="0"/>
                        </a:rPr>
                        <a:t> at 250V AC</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Contact Type</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Normally Open (NO) and Normally Closed (NC)</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Control Signal</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TTL Logic (low-level or high-level trigger)</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Relay Lifetime</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100,000+ switching operations</a:t>
                      </a:r>
                      <a:endParaRPr lang="en-US" sz="1200" dirty="0">
                        <a:latin typeface="Times New Roman" pitchFamily="18" charset="0"/>
                        <a:cs typeface="Times New Roman" pitchFamily="18" charset="0"/>
                      </a:endParaRPr>
                    </a:p>
                  </a:txBody>
                  <a:tcPr/>
                </a:tc>
              </a:tr>
            </a:tbl>
          </a:graphicData>
        </a:graphic>
      </p:graphicFrame>
      <p:sp>
        <p:nvSpPr>
          <p:cNvPr id="8" name="TextBox 7"/>
          <p:cNvSpPr txBox="1"/>
          <p:nvPr/>
        </p:nvSpPr>
        <p:spPr>
          <a:xfrm>
            <a:off x="3397250" y="3393301"/>
            <a:ext cx="37338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Table 4</a:t>
            </a:r>
            <a:endParaRPr lang="en-US" sz="1200" dirty="0">
              <a:latin typeface="Times New Roman" pitchFamily="18" charset="0"/>
              <a:cs typeface="Times New Roman" pitchFamily="18" charset="0"/>
            </a:endParaRPr>
          </a:p>
        </p:txBody>
      </p:sp>
      <p:sp>
        <p:nvSpPr>
          <p:cNvPr id="9" name="Footer Placeholder 8"/>
          <p:cNvSpPr>
            <a:spLocks noGrp="1"/>
          </p:cNvSpPr>
          <p:nvPr>
            <p:ph type="ftr" sz="quarter" idx="5"/>
          </p:nvPr>
        </p:nvSpPr>
        <p:spPr>
          <a:xfrm>
            <a:off x="2571369" y="10191234"/>
            <a:ext cx="2420112" cy="184666"/>
          </a:xfrm>
        </p:spPr>
        <p:txBody>
          <a:bodyPr/>
          <a:lstStyle/>
          <a:p>
            <a:r>
              <a:rPr lang="en-IN" sz="1200" dirty="0" smtClean="0"/>
              <a:t>11</a:t>
            </a:r>
            <a:endParaRPr lang="en-US" sz="1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8850" y="862568"/>
            <a:ext cx="5943600" cy="2123658"/>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3.1.5  BC547  TRANSISTOR</a:t>
            </a:r>
          </a:p>
          <a:p>
            <a:endParaRPr lang="en-IN" sz="1200" b="1" dirty="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The BC547 is a widely used NPN bipolar junction transistor (BJT) for low-power amplification and switching applications. It has three terminals: collector, base, and emitter, and operates with a maximum voltage of 45V and a current of up to 100mA. The BC547 is commonly used in signal processing, audio amplifiers, and electronic circuits for switching purposes. Its small size and reliability make it ideal for hobby projects and low-power electronic devices. It is widely available and is used frequently in conjunction with other components, such as resistors and capacitors, to achieve a wide range of purposes.</a:t>
            </a:r>
          </a:p>
          <a:p>
            <a:pPr algn="just"/>
            <a:endParaRPr lang="en-IN" sz="1200" b="1" dirty="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SPECIFICATIONS :</a:t>
            </a:r>
            <a:endParaRPr lang="en-US" sz="1200" b="1" dirty="0">
              <a:latin typeface="Times New Roman" pitchFamily="18" charset="0"/>
              <a:cs typeface="Times New Roman" pitchFamily="18" charset="0"/>
            </a:endParaRPr>
          </a:p>
        </p:txBody>
      </p:sp>
      <p:sp>
        <p:nvSpPr>
          <p:cNvPr id="4" name="TextBox 3"/>
          <p:cNvSpPr txBox="1"/>
          <p:nvPr/>
        </p:nvSpPr>
        <p:spPr>
          <a:xfrm>
            <a:off x="958850" y="6517501"/>
            <a:ext cx="32766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BC547 TRANSISTOR DIAGRAM :</a:t>
            </a:r>
            <a:endParaRPr lang="en-US" sz="1200" b="1"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a:stretch>
            <a:fillRect/>
          </a:stretch>
        </p:blipFill>
        <p:spPr bwMode="auto">
          <a:xfrm>
            <a:off x="1368846" y="6870700"/>
            <a:ext cx="4704929" cy="2819400"/>
          </a:xfrm>
          <a:prstGeom prst="rect">
            <a:avLst/>
          </a:prstGeom>
          <a:noFill/>
          <a:ln w="9525">
            <a:noFill/>
            <a:miter lim="800000"/>
            <a:headEnd/>
            <a:tailEnd/>
          </a:ln>
          <a:effectLst/>
        </p:spPr>
      </p:pic>
      <p:sp>
        <p:nvSpPr>
          <p:cNvPr id="7" name="TextBox 6"/>
          <p:cNvSpPr txBox="1"/>
          <p:nvPr/>
        </p:nvSpPr>
        <p:spPr>
          <a:xfrm>
            <a:off x="3473450" y="2908300"/>
            <a:ext cx="36576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Table 7</a:t>
            </a:r>
            <a:endParaRPr lang="en-US" sz="1200" dirty="0">
              <a:latin typeface="Times New Roman" pitchFamily="18" charset="0"/>
              <a:cs typeface="Times New Roman" pitchFamily="18" charset="0"/>
            </a:endParaRPr>
          </a:p>
        </p:txBody>
      </p:sp>
      <p:sp>
        <p:nvSpPr>
          <p:cNvPr id="8" name="TextBox 7"/>
          <p:cNvSpPr txBox="1"/>
          <p:nvPr/>
        </p:nvSpPr>
        <p:spPr>
          <a:xfrm>
            <a:off x="3473450" y="9766300"/>
            <a:ext cx="28956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Transistor 3.5</a:t>
            </a:r>
            <a:endParaRPr lang="en-US" sz="1200" dirty="0">
              <a:latin typeface="Times New Roman" pitchFamily="18" charset="0"/>
              <a:cs typeface="Times New Roman" pitchFamily="18" charset="0"/>
            </a:endParaRPr>
          </a:p>
        </p:txBody>
      </p:sp>
      <p:sp>
        <p:nvSpPr>
          <p:cNvPr id="9" name="Footer Placeholder 8"/>
          <p:cNvSpPr>
            <a:spLocks noGrp="1"/>
          </p:cNvSpPr>
          <p:nvPr>
            <p:ph type="ftr" sz="quarter" idx="5"/>
          </p:nvPr>
        </p:nvSpPr>
        <p:spPr>
          <a:xfrm>
            <a:off x="2571369" y="10191234"/>
            <a:ext cx="2420112" cy="184666"/>
          </a:xfrm>
        </p:spPr>
        <p:txBody>
          <a:bodyPr/>
          <a:lstStyle/>
          <a:p>
            <a:r>
              <a:rPr lang="en-IN" sz="1200" dirty="0" smtClean="0"/>
              <a:t>12</a:t>
            </a:r>
            <a:endParaRPr lang="en-US" sz="1200" dirty="0"/>
          </a:p>
        </p:txBody>
      </p:sp>
      <p:graphicFrame>
        <p:nvGraphicFramePr>
          <p:cNvPr id="10" name="Table 9"/>
          <p:cNvGraphicFramePr>
            <a:graphicFrameLocks noGrp="1"/>
          </p:cNvGraphicFramePr>
          <p:nvPr/>
        </p:nvGraphicFramePr>
        <p:xfrm>
          <a:off x="1035050" y="3162994"/>
          <a:ext cx="5715000" cy="3250506"/>
        </p:xfrm>
        <a:graphic>
          <a:graphicData uri="http://schemas.openxmlformats.org/drawingml/2006/table">
            <a:tbl>
              <a:tblPr/>
              <a:tblGrid>
                <a:gridCol w="827671"/>
                <a:gridCol w="2279487"/>
                <a:gridCol w="1115320"/>
                <a:gridCol w="841240"/>
                <a:gridCol w="651282"/>
              </a:tblGrid>
              <a:tr h="252462">
                <a:tc>
                  <a:txBody>
                    <a:bodyPr/>
                    <a:lstStyle/>
                    <a:p>
                      <a:pPr algn="ctr" fontAlgn="ctr"/>
                      <a:r>
                        <a:rPr lang="en-US" sz="900" b="1" i="0" u="none" strike="noStrike">
                          <a:solidFill>
                            <a:srgbClr val="000000"/>
                          </a:solidFill>
                          <a:latin typeface="Times New Roman"/>
                        </a:rPr>
                        <a:t>SYMBOL</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b"/>
                      <a:r>
                        <a:rPr lang="en-US" sz="900" b="1" i="0" u="none" strike="noStrike">
                          <a:solidFill>
                            <a:srgbClr val="000000"/>
                          </a:solidFill>
                          <a:latin typeface="Times New Roman"/>
                        </a:rPr>
                        <a:t>PARAMETER</a:t>
                      </a:r>
                    </a:p>
                  </a:txBody>
                  <a:tcPr marL="6245" marR="6245" marT="624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900" b="1" i="0" u="none" strike="noStrike">
                          <a:solidFill>
                            <a:srgbClr val="000000"/>
                          </a:solidFill>
                          <a:latin typeface="Times New Roman"/>
                        </a:rPr>
                        <a:t>VALUE</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latin typeface="Times New Roman"/>
                        </a:rPr>
                        <a:t>UNIT</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2467">
                <a:tc rowSpan="3">
                  <a:txBody>
                    <a:bodyPr/>
                    <a:lstStyle/>
                    <a:p>
                      <a:pPr algn="ctr" fontAlgn="ctr"/>
                      <a:r>
                        <a:rPr lang="en-US" sz="900" b="0" i="0" u="none" strike="noStrike">
                          <a:solidFill>
                            <a:srgbClr val="000000"/>
                          </a:solidFill>
                          <a:latin typeface="Times New Roman"/>
                        </a:rPr>
                        <a:t>VCBO</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t"/>
                      <a:r>
                        <a:rPr lang="en-US" sz="900" b="0" i="0" u="none" strike="noStrike">
                          <a:solidFill>
                            <a:srgbClr val="000000"/>
                          </a:solidFill>
                          <a:latin typeface="Times New Roman"/>
                        </a:rPr>
                        <a:t>COLLECTOR-BASE VOLTAGE</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latin typeface="Times New Roman"/>
                        </a:rPr>
                        <a:t>BC546</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80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900" b="0" i="0" u="none" strike="noStrike">
                          <a:solidFill>
                            <a:srgbClr val="000000"/>
                          </a:solidFill>
                          <a:latin typeface="Times New Roman"/>
                        </a:rPr>
                        <a:t>V</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2467">
                <a:tc vMerge="1">
                  <a:txBody>
                    <a:bodyPr/>
                    <a:lstStyle/>
                    <a:p>
                      <a:endParaRPr lang="en-US"/>
                    </a:p>
                  </a:txBody>
                  <a:tcPr/>
                </a:tc>
                <a:tc vMerge="1">
                  <a:txBody>
                    <a:bodyPr/>
                    <a:lstStyle/>
                    <a:p>
                      <a:endParaRPr lang="en-US"/>
                    </a:p>
                  </a:txBody>
                  <a:tcPr/>
                </a:tc>
                <a:tc>
                  <a:txBody>
                    <a:bodyPr/>
                    <a:lstStyle/>
                    <a:p>
                      <a:pPr algn="l" fontAlgn="t"/>
                      <a:r>
                        <a:rPr lang="en-US" sz="900" b="0" i="0" u="none" strike="noStrike">
                          <a:solidFill>
                            <a:srgbClr val="000000"/>
                          </a:solidFill>
                          <a:latin typeface="Times New Roman"/>
                        </a:rPr>
                        <a:t>BC547/BC550</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50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r>
              <a:tr h="252467">
                <a:tc vMerge="1">
                  <a:txBody>
                    <a:bodyPr/>
                    <a:lstStyle/>
                    <a:p>
                      <a:endParaRPr lang="en-US"/>
                    </a:p>
                  </a:txBody>
                  <a:tcPr/>
                </a:tc>
                <a:tc vMerge="1">
                  <a:txBody>
                    <a:bodyPr/>
                    <a:lstStyle/>
                    <a:p>
                      <a:endParaRPr lang="en-US"/>
                    </a:p>
                  </a:txBody>
                  <a:tcPr/>
                </a:tc>
                <a:tc>
                  <a:txBody>
                    <a:bodyPr/>
                    <a:lstStyle/>
                    <a:p>
                      <a:pPr algn="l" fontAlgn="t"/>
                      <a:r>
                        <a:rPr lang="en-US" sz="900" b="0" i="0" u="none" strike="noStrike">
                          <a:solidFill>
                            <a:srgbClr val="000000"/>
                          </a:solidFill>
                          <a:latin typeface="Times New Roman"/>
                        </a:rPr>
                        <a:t>BC548/BC549</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30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r>
              <a:tr h="252467">
                <a:tc rowSpan="3">
                  <a:txBody>
                    <a:bodyPr/>
                    <a:lstStyle/>
                    <a:p>
                      <a:pPr algn="ctr" fontAlgn="ctr"/>
                      <a:r>
                        <a:rPr lang="en-US" sz="900" b="0" i="0" u="none" strike="noStrike">
                          <a:solidFill>
                            <a:srgbClr val="000000"/>
                          </a:solidFill>
                          <a:latin typeface="Times New Roman"/>
                        </a:rPr>
                        <a:t>VCEO</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l" fontAlgn="t"/>
                      <a:r>
                        <a:rPr lang="en-US" sz="900" b="0" i="0" u="none" strike="noStrike">
                          <a:solidFill>
                            <a:srgbClr val="000000"/>
                          </a:solidFill>
                          <a:latin typeface="Times New Roman"/>
                        </a:rPr>
                        <a:t>COLLECTOR-EMITTER VOLTAGE</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latin typeface="Times New Roman"/>
                        </a:rPr>
                        <a:t>BC546</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65</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r>
                        <a:rPr lang="en-US" sz="900" b="0" i="0" u="none" strike="noStrike">
                          <a:solidFill>
                            <a:srgbClr val="000000"/>
                          </a:solidFill>
                          <a:latin typeface="Times New Roman"/>
                        </a:rPr>
                        <a:t>V</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2467">
                <a:tc vMerge="1">
                  <a:txBody>
                    <a:bodyPr/>
                    <a:lstStyle/>
                    <a:p>
                      <a:endParaRPr lang="en-US"/>
                    </a:p>
                  </a:txBody>
                  <a:tcPr/>
                </a:tc>
                <a:tc vMerge="1">
                  <a:txBody>
                    <a:bodyPr/>
                    <a:lstStyle/>
                    <a:p>
                      <a:endParaRPr lang="en-US"/>
                    </a:p>
                  </a:txBody>
                  <a:tcPr/>
                </a:tc>
                <a:tc>
                  <a:txBody>
                    <a:bodyPr/>
                    <a:lstStyle/>
                    <a:p>
                      <a:pPr algn="l" fontAlgn="t"/>
                      <a:r>
                        <a:rPr lang="en-US" sz="900" b="0" i="0" u="none" strike="noStrike">
                          <a:solidFill>
                            <a:srgbClr val="000000"/>
                          </a:solidFill>
                          <a:latin typeface="Times New Roman"/>
                        </a:rPr>
                        <a:t>BC547/BC550</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45</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r>
              <a:tr h="252467">
                <a:tc vMerge="1">
                  <a:txBody>
                    <a:bodyPr/>
                    <a:lstStyle/>
                    <a:p>
                      <a:endParaRPr lang="en-US"/>
                    </a:p>
                  </a:txBody>
                  <a:tcPr/>
                </a:tc>
                <a:tc vMerge="1">
                  <a:txBody>
                    <a:bodyPr/>
                    <a:lstStyle/>
                    <a:p>
                      <a:endParaRPr lang="en-US"/>
                    </a:p>
                  </a:txBody>
                  <a:tcPr/>
                </a:tc>
                <a:tc>
                  <a:txBody>
                    <a:bodyPr/>
                    <a:lstStyle/>
                    <a:p>
                      <a:pPr algn="l" fontAlgn="t"/>
                      <a:r>
                        <a:rPr lang="en-US" sz="900" b="0" i="0" u="none" strike="noStrike">
                          <a:solidFill>
                            <a:srgbClr val="000000"/>
                          </a:solidFill>
                          <a:latin typeface="Times New Roman"/>
                        </a:rPr>
                        <a:t>BC548/BC547</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30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r>
              <a:tr h="252467">
                <a:tc rowSpan="2">
                  <a:txBody>
                    <a:bodyPr/>
                    <a:lstStyle/>
                    <a:p>
                      <a:pPr algn="ctr" fontAlgn="ctr"/>
                      <a:r>
                        <a:rPr lang="en-US" sz="900" b="0" i="0" u="none" strike="noStrike">
                          <a:solidFill>
                            <a:srgbClr val="000000"/>
                          </a:solidFill>
                          <a:latin typeface="Times New Roman"/>
                        </a:rPr>
                        <a:t>VEBO</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t"/>
                      <a:r>
                        <a:rPr lang="en-US" sz="900" b="0" i="0" u="none" strike="noStrike">
                          <a:solidFill>
                            <a:srgbClr val="000000"/>
                          </a:solidFill>
                          <a:latin typeface="Times New Roman"/>
                        </a:rPr>
                        <a:t>EMITTER BASE VOLTAGE</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900" b="0" i="0" u="none" strike="noStrike">
                          <a:solidFill>
                            <a:srgbClr val="000000"/>
                          </a:solidFill>
                          <a:latin typeface="Times New Roman"/>
                        </a:rPr>
                        <a:t>BC546/BC547</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6</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900" b="0" i="0" u="none" strike="noStrike">
                          <a:solidFill>
                            <a:srgbClr val="000000"/>
                          </a:solidFill>
                          <a:latin typeface="Times New Roman"/>
                        </a:rPr>
                        <a:t>V</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3374">
                <a:tc vMerge="1">
                  <a:txBody>
                    <a:bodyPr/>
                    <a:lstStyle/>
                    <a:p>
                      <a:endParaRPr lang="en-US"/>
                    </a:p>
                  </a:txBody>
                  <a:tcPr/>
                </a:tc>
                <a:tc vMerge="1">
                  <a:txBody>
                    <a:bodyPr/>
                    <a:lstStyle/>
                    <a:p>
                      <a:endParaRPr lang="en-US"/>
                    </a:p>
                  </a:txBody>
                  <a:tcPr/>
                </a:tc>
                <a:tc>
                  <a:txBody>
                    <a:bodyPr/>
                    <a:lstStyle/>
                    <a:p>
                      <a:pPr algn="l" fontAlgn="t"/>
                      <a:r>
                        <a:rPr lang="en-US" sz="900" b="0" i="0" u="none" strike="noStrike">
                          <a:solidFill>
                            <a:srgbClr val="000000"/>
                          </a:solidFill>
                          <a:latin typeface="Times New Roman"/>
                        </a:rPr>
                        <a:t>BC548/BC549/BC550</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5</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tr>
              <a:tr h="252467">
                <a:tc>
                  <a:txBody>
                    <a:bodyPr/>
                    <a:lstStyle/>
                    <a:p>
                      <a:pPr algn="ctr" fontAlgn="ctr"/>
                      <a:r>
                        <a:rPr lang="en-US" sz="900" b="0" i="0" u="none" strike="noStrike">
                          <a:solidFill>
                            <a:srgbClr val="000000"/>
                          </a:solidFill>
                          <a:latin typeface="Times New Roman"/>
                        </a:rPr>
                        <a:t>IC</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t"/>
                      <a:r>
                        <a:rPr lang="en-US" sz="900" b="0" i="0" u="none" strike="noStrike">
                          <a:solidFill>
                            <a:srgbClr val="000000"/>
                          </a:solidFill>
                          <a:latin typeface="Times New Roman"/>
                        </a:rPr>
                        <a:t>COLLECTOR CURRENT(DC)</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900" b="0" i="0" u="none" strike="noStrike">
                          <a:solidFill>
                            <a:srgbClr val="000000"/>
                          </a:solidFill>
                          <a:latin typeface="Times New Roman"/>
                        </a:rPr>
                        <a:t>100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mA</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2467">
                <a:tc>
                  <a:txBody>
                    <a:bodyPr/>
                    <a:lstStyle/>
                    <a:p>
                      <a:pPr algn="ctr" fontAlgn="ctr"/>
                      <a:r>
                        <a:rPr lang="en-US" sz="900" b="0" i="0" u="none" strike="noStrike">
                          <a:solidFill>
                            <a:srgbClr val="000000"/>
                          </a:solidFill>
                          <a:latin typeface="Times New Roman"/>
                        </a:rPr>
                        <a:t>PC</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t"/>
                      <a:r>
                        <a:rPr lang="en-US" sz="900" b="0" i="0" u="none" strike="noStrike">
                          <a:solidFill>
                            <a:srgbClr val="000000"/>
                          </a:solidFill>
                          <a:latin typeface="Times New Roman"/>
                        </a:rPr>
                        <a:t>COLLECTOR POWER DISSIPATION</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900" b="0" i="0" u="none" strike="noStrike">
                          <a:solidFill>
                            <a:srgbClr val="000000"/>
                          </a:solidFill>
                          <a:latin typeface="Times New Roman"/>
                        </a:rPr>
                        <a:t>500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latin typeface="Times New Roman"/>
                        </a:rPr>
                        <a:t>mW</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2467">
                <a:tc>
                  <a:txBody>
                    <a:bodyPr/>
                    <a:lstStyle/>
                    <a:p>
                      <a:pPr algn="ctr" fontAlgn="ctr"/>
                      <a:r>
                        <a:rPr lang="en-US" sz="900" b="0" i="0" u="none" strike="noStrike">
                          <a:solidFill>
                            <a:srgbClr val="000000"/>
                          </a:solidFill>
                          <a:latin typeface="Times New Roman"/>
                        </a:rPr>
                        <a:t>TJ</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t"/>
                      <a:r>
                        <a:rPr lang="en-US" sz="900" b="0" i="0" u="none" strike="noStrike">
                          <a:solidFill>
                            <a:srgbClr val="000000"/>
                          </a:solidFill>
                          <a:latin typeface="Times New Roman"/>
                        </a:rPr>
                        <a:t>JUNCTION TEMPERATURE</a:t>
                      </a:r>
                    </a:p>
                  </a:txBody>
                  <a:tcPr marL="6245" marR="6245" marT="62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900" b="0" i="0" u="none" strike="noStrike">
                          <a:solidFill>
                            <a:srgbClr val="000000"/>
                          </a:solidFill>
                          <a:latin typeface="Times New Roman"/>
                        </a:rPr>
                        <a:t>150</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Times New Roman"/>
                        </a:rPr>
                        <a:t>C</a:t>
                      </a:r>
                    </a:p>
                  </a:txBody>
                  <a:tcPr marL="6245" marR="6245" marT="62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2650" y="1003300"/>
            <a:ext cx="5867400" cy="2123658"/>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3.1.6  BUZZER</a:t>
            </a:r>
          </a:p>
          <a:p>
            <a:pPr algn="just"/>
            <a:endParaRPr lang="en-IN" sz="1200" dirty="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A buzzer is an electrical device that produces a sound when energized by an electrical signal. It works through the conversion of electrical energy into mechanical energy by a vibrating diaphragm or piezoelectric element. It is widely used in alarms, indicators, and other notification systems. There are various types of buzzers, such as piezoelectric and electromagnetic, which emit different sound frequencies and volumes. Buzzers are utilized in security systems, timers, and home appliances for the purpose of signaling an event or warning.</a:t>
            </a:r>
          </a:p>
          <a:p>
            <a:pPr algn="just"/>
            <a:endParaRPr lang="en-IN" sz="1200" b="1" dirty="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SPECIFICATIONS :</a:t>
            </a:r>
            <a:endParaRPr lang="en-US" sz="1200" b="1" dirty="0">
              <a:latin typeface="Times New Roman" pitchFamily="18" charset="0"/>
              <a:cs typeface="Times New Roman" pitchFamily="18" charset="0"/>
            </a:endParaRPr>
          </a:p>
        </p:txBody>
      </p:sp>
      <p:sp>
        <p:nvSpPr>
          <p:cNvPr id="4" name="TextBox 3"/>
          <p:cNvSpPr txBox="1"/>
          <p:nvPr/>
        </p:nvSpPr>
        <p:spPr>
          <a:xfrm>
            <a:off x="1035050" y="6261100"/>
            <a:ext cx="56388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BUZZER DIAGRAM  :</a:t>
            </a:r>
            <a:endParaRPr lang="en-US" sz="1200" b="1"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srcRect/>
          <a:stretch>
            <a:fillRect/>
          </a:stretch>
        </p:blipFill>
        <p:spPr bwMode="auto">
          <a:xfrm>
            <a:off x="1240790" y="6794500"/>
            <a:ext cx="5052060" cy="2590800"/>
          </a:xfrm>
          <a:prstGeom prst="rect">
            <a:avLst/>
          </a:prstGeom>
          <a:noFill/>
          <a:ln w="9525">
            <a:noFill/>
            <a:miter lim="800000"/>
            <a:headEnd/>
            <a:tailEnd/>
          </a:ln>
          <a:effectLst/>
        </p:spPr>
      </p:pic>
      <p:graphicFrame>
        <p:nvGraphicFramePr>
          <p:cNvPr id="6" name="Table 5"/>
          <p:cNvGraphicFramePr>
            <a:graphicFrameLocks noGrp="1"/>
          </p:cNvGraphicFramePr>
          <p:nvPr/>
        </p:nvGraphicFramePr>
        <p:xfrm>
          <a:off x="1259416" y="3731260"/>
          <a:ext cx="5037668" cy="2225040"/>
        </p:xfrm>
        <a:graphic>
          <a:graphicData uri="http://schemas.openxmlformats.org/drawingml/2006/table">
            <a:tbl>
              <a:tblPr firstRow="1" bandRow="1">
                <a:tableStyleId>{5940675A-B579-460E-94D1-54222C63F5DA}</a:tableStyleId>
              </a:tblPr>
              <a:tblGrid>
                <a:gridCol w="2518834"/>
                <a:gridCol w="2518834"/>
              </a:tblGrid>
              <a:tr h="370840">
                <a:tc>
                  <a:txBody>
                    <a:bodyPr/>
                    <a:lstStyle/>
                    <a:p>
                      <a:r>
                        <a:rPr lang="en-IN" sz="1200" b="1" dirty="0" smtClean="0">
                          <a:latin typeface="Times New Roman" pitchFamily="18" charset="0"/>
                          <a:cs typeface="Times New Roman" pitchFamily="18" charset="0"/>
                        </a:rPr>
                        <a:t>Specifications </a:t>
                      </a:r>
                      <a:endParaRPr lang="en-US" sz="1200" b="1" dirty="0">
                        <a:latin typeface="Times New Roman" pitchFamily="18" charset="0"/>
                        <a:cs typeface="Times New Roman" pitchFamily="18" charset="0"/>
                      </a:endParaRPr>
                    </a:p>
                  </a:txBody>
                  <a:tcPr/>
                </a:tc>
                <a:tc>
                  <a:txBody>
                    <a:bodyPr/>
                    <a:lstStyle/>
                    <a:p>
                      <a:r>
                        <a:rPr lang="en-IN" sz="1200" b="1" smtClean="0">
                          <a:latin typeface="Times New Roman" pitchFamily="18" charset="0"/>
                          <a:cs typeface="Times New Roman" pitchFamily="18" charset="0"/>
                        </a:rPr>
                        <a:t>Details</a:t>
                      </a:r>
                      <a:endParaRPr lang="en-US" sz="1200" b="1"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Operating Voltage</a:t>
                      </a:r>
                      <a:endParaRPr lang="en-US" sz="1200" dirty="0">
                        <a:latin typeface="Times New Roman" pitchFamily="18" charset="0"/>
                        <a:cs typeface="Times New Roman" pitchFamily="18" charset="0"/>
                      </a:endParaRPr>
                    </a:p>
                  </a:txBody>
                  <a:tcPr/>
                </a:tc>
                <a:tc>
                  <a:txBody>
                    <a:bodyPr/>
                    <a:lstStyle/>
                    <a:p>
                      <a:r>
                        <a:rPr lang="en-US" sz="1200" b="1" dirty="0" smtClean="0">
                          <a:latin typeface="Times New Roman" pitchFamily="18" charset="0"/>
                          <a:cs typeface="Times New Roman" pitchFamily="18" charset="0"/>
                        </a:rPr>
                        <a:t>3V to 12V</a:t>
                      </a:r>
                      <a:r>
                        <a:rPr lang="en-US" sz="1200" dirty="0" smtClean="0">
                          <a:latin typeface="Times New Roman" pitchFamily="18" charset="0"/>
                          <a:cs typeface="Times New Roman" pitchFamily="18" charset="0"/>
                        </a:rPr>
                        <a:t> (common: 5V)</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Operating Current</a:t>
                      </a:r>
                      <a:endParaRPr lang="en-US" sz="1200" dirty="0">
                        <a:latin typeface="Times New Roman" pitchFamily="18" charset="0"/>
                        <a:cs typeface="Times New Roman" pitchFamily="18" charset="0"/>
                      </a:endParaRPr>
                    </a:p>
                  </a:txBody>
                  <a:tcPr/>
                </a:tc>
                <a:tc>
                  <a:txBody>
                    <a:bodyPr/>
                    <a:lstStyle/>
                    <a:p>
                      <a:r>
                        <a:rPr lang="en-US" sz="1200" b="1" dirty="0" smtClean="0">
                          <a:latin typeface="Times New Roman" pitchFamily="18" charset="0"/>
                          <a:cs typeface="Times New Roman" pitchFamily="18" charset="0"/>
                        </a:rPr>
                        <a:t>20mA to 50mA</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Sound Output Level</a:t>
                      </a:r>
                      <a:endParaRPr lang="en-US" sz="1200" dirty="0">
                        <a:latin typeface="Times New Roman" pitchFamily="18" charset="0"/>
                        <a:cs typeface="Times New Roman" pitchFamily="18" charset="0"/>
                      </a:endParaRPr>
                    </a:p>
                  </a:txBody>
                  <a:tcPr/>
                </a:tc>
                <a:tc>
                  <a:txBody>
                    <a:bodyPr/>
                    <a:lstStyle/>
                    <a:p>
                      <a:r>
                        <a:rPr lang="en-US" sz="1200" b="1" dirty="0" smtClean="0">
                          <a:latin typeface="Times New Roman" pitchFamily="18" charset="0"/>
                          <a:cs typeface="Times New Roman" pitchFamily="18" charset="0"/>
                        </a:rPr>
                        <a:t>85 dB to 100 dB</a:t>
                      </a:r>
                      <a:r>
                        <a:rPr lang="en-US" sz="1200" dirty="0" smtClean="0">
                          <a:latin typeface="Times New Roman" pitchFamily="18" charset="0"/>
                          <a:cs typeface="Times New Roman" pitchFamily="18" charset="0"/>
                        </a:rPr>
                        <a:t> (at 10 cm distance)</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Frequency Range</a:t>
                      </a:r>
                      <a:endParaRPr lang="en-US" sz="1200" dirty="0">
                        <a:latin typeface="Times New Roman" pitchFamily="18" charset="0"/>
                        <a:cs typeface="Times New Roman" pitchFamily="18" charset="0"/>
                      </a:endParaRPr>
                    </a:p>
                  </a:txBody>
                  <a:tcPr/>
                </a:tc>
                <a:tc>
                  <a:txBody>
                    <a:bodyPr/>
                    <a:lstStyle/>
                    <a:p>
                      <a:r>
                        <a:rPr lang="en-US" sz="1200" b="1" dirty="0" smtClean="0">
                          <a:latin typeface="Times New Roman" pitchFamily="18" charset="0"/>
                          <a:cs typeface="Times New Roman" pitchFamily="18" charset="0"/>
                        </a:rPr>
                        <a:t>2 kHz to 4 kHz</a:t>
                      </a:r>
                      <a:r>
                        <a:rPr lang="en-US" sz="1200" dirty="0" smtClean="0">
                          <a:latin typeface="Times New Roman" pitchFamily="18" charset="0"/>
                          <a:cs typeface="Times New Roman" pitchFamily="18" charset="0"/>
                        </a:rPr>
                        <a:t> (common: 2.5 kHz)</a:t>
                      </a:r>
                      <a:endParaRPr lang="en-US" sz="1200" dirty="0">
                        <a:latin typeface="Times New Roman" pitchFamily="18" charset="0"/>
                        <a:cs typeface="Times New Roman" pitchFamily="18" charset="0"/>
                      </a:endParaRPr>
                    </a:p>
                  </a:txBody>
                  <a:tcPr/>
                </a:tc>
              </a:tr>
              <a:tr h="370840">
                <a:tc>
                  <a:txBody>
                    <a:bodyPr/>
                    <a:lstStyle/>
                    <a:p>
                      <a:r>
                        <a:rPr lang="en-US" sz="1200" dirty="0" smtClean="0">
                          <a:latin typeface="Times New Roman" pitchFamily="18" charset="0"/>
                          <a:cs typeface="Times New Roman" pitchFamily="18" charset="0"/>
                        </a:rPr>
                        <a:t>Type</a:t>
                      </a:r>
                      <a:endParaRPr lang="en-US" sz="1200" dirty="0">
                        <a:latin typeface="Times New Roman" pitchFamily="18" charset="0"/>
                        <a:cs typeface="Times New Roman" pitchFamily="18" charset="0"/>
                      </a:endParaRPr>
                    </a:p>
                  </a:txBody>
                  <a:tcPr/>
                </a:tc>
                <a:tc>
                  <a:txBody>
                    <a:bodyPr/>
                    <a:lstStyle/>
                    <a:p>
                      <a:r>
                        <a:rPr lang="en-US" sz="1200" dirty="0" smtClean="0">
                          <a:latin typeface="Times New Roman" pitchFamily="18" charset="0"/>
                          <a:cs typeface="Times New Roman" pitchFamily="18" charset="0"/>
                        </a:rPr>
                        <a:t>Piezoelectric</a:t>
                      </a:r>
                      <a:endParaRPr lang="en-US" sz="1200" dirty="0">
                        <a:latin typeface="Times New Roman" pitchFamily="18" charset="0"/>
                        <a:cs typeface="Times New Roman" pitchFamily="18" charset="0"/>
                      </a:endParaRPr>
                    </a:p>
                  </a:txBody>
                  <a:tcPr/>
                </a:tc>
              </a:tr>
            </a:tbl>
          </a:graphicData>
        </a:graphic>
      </p:graphicFrame>
      <p:sp>
        <p:nvSpPr>
          <p:cNvPr id="7" name="TextBox 6"/>
          <p:cNvSpPr txBox="1"/>
          <p:nvPr/>
        </p:nvSpPr>
        <p:spPr>
          <a:xfrm>
            <a:off x="3397250" y="3317101"/>
            <a:ext cx="41148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Table 6</a:t>
            </a:r>
            <a:endParaRPr lang="en-US" sz="1200" dirty="0">
              <a:latin typeface="Times New Roman" pitchFamily="18" charset="0"/>
              <a:cs typeface="Times New Roman" pitchFamily="18" charset="0"/>
            </a:endParaRPr>
          </a:p>
        </p:txBody>
      </p:sp>
      <p:sp>
        <p:nvSpPr>
          <p:cNvPr id="8" name="TextBox 7"/>
          <p:cNvSpPr txBox="1"/>
          <p:nvPr/>
        </p:nvSpPr>
        <p:spPr>
          <a:xfrm>
            <a:off x="3321050" y="9537700"/>
            <a:ext cx="33528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Buzzer 3.6</a:t>
            </a:r>
            <a:endParaRPr lang="en-US" sz="1200" dirty="0">
              <a:latin typeface="Times New Roman" pitchFamily="18" charset="0"/>
              <a:cs typeface="Times New Roman" pitchFamily="18" charset="0"/>
            </a:endParaRPr>
          </a:p>
        </p:txBody>
      </p:sp>
      <p:sp>
        <p:nvSpPr>
          <p:cNvPr id="9" name="Footer Placeholder 8"/>
          <p:cNvSpPr>
            <a:spLocks noGrp="1"/>
          </p:cNvSpPr>
          <p:nvPr>
            <p:ph type="ftr" sz="quarter" idx="5"/>
          </p:nvPr>
        </p:nvSpPr>
        <p:spPr>
          <a:xfrm>
            <a:off x="2571369" y="10191234"/>
            <a:ext cx="2420112" cy="184666"/>
          </a:xfrm>
        </p:spPr>
        <p:txBody>
          <a:bodyPr/>
          <a:lstStyle/>
          <a:p>
            <a:r>
              <a:rPr lang="en-IN" sz="1200" dirty="0" smtClean="0"/>
              <a:t>13</a:t>
            </a:r>
            <a:endParaRPr lang="en-US" sz="1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35050" y="698500"/>
            <a:ext cx="5638800" cy="1569660"/>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3.1.7  10K OHM RESISTOR </a:t>
            </a:r>
          </a:p>
          <a:p>
            <a:endParaRPr lang="en-IN" sz="1200" b="1" dirty="0">
              <a:latin typeface="Times New Roman" pitchFamily="18" charset="0"/>
              <a:cs typeface="Times New Roman" pitchFamily="18" charset="0"/>
            </a:endParaRPr>
          </a:p>
          <a:p>
            <a:r>
              <a:rPr lang="en-US" sz="1200" dirty="0" smtClean="0">
                <a:latin typeface="Times New Roman" pitchFamily="18" charset="0"/>
                <a:cs typeface="Times New Roman" pitchFamily="18" charset="0"/>
              </a:rPr>
              <a:t>The component that limits or regulates flow in an electric circuit, converting electrical energy into heat, is a resistor that follows Ohm's law. Their values vary and are placed in electronic devices to handle a controlled voltage level and serve in keeping sensitive components protected.</a:t>
            </a:r>
          </a:p>
          <a:p>
            <a:endParaRPr lang="en-IN" sz="1200" dirty="0">
              <a:latin typeface="Times New Roman" pitchFamily="18" charset="0"/>
              <a:cs typeface="Times New Roman" pitchFamily="18" charset="0"/>
            </a:endParaRPr>
          </a:p>
          <a:p>
            <a:r>
              <a:rPr lang="en-IN" sz="1200" b="1" dirty="0" smtClean="0">
                <a:latin typeface="Times New Roman" pitchFamily="18" charset="0"/>
                <a:cs typeface="Times New Roman" pitchFamily="18" charset="0"/>
              </a:rPr>
              <a:t>10K OHM RESISTOR DIAGRAM :</a:t>
            </a:r>
            <a:endParaRPr lang="en-US" sz="1200" b="1" dirty="0">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srcRect/>
          <a:stretch>
            <a:fillRect/>
          </a:stretch>
        </p:blipFill>
        <p:spPr bwMode="auto">
          <a:xfrm>
            <a:off x="1597025" y="2603500"/>
            <a:ext cx="4362450" cy="2895600"/>
          </a:xfrm>
          <a:prstGeom prst="rect">
            <a:avLst/>
          </a:prstGeom>
          <a:noFill/>
          <a:ln w="9525">
            <a:noFill/>
            <a:miter lim="800000"/>
            <a:headEnd/>
            <a:tailEnd/>
          </a:ln>
          <a:effectLst/>
        </p:spPr>
      </p:pic>
      <p:sp>
        <p:nvSpPr>
          <p:cNvPr id="5" name="TextBox 4"/>
          <p:cNvSpPr txBox="1"/>
          <p:nvPr/>
        </p:nvSpPr>
        <p:spPr>
          <a:xfrm>
            <a:off x="3321050" y="5803900"/>
            <a:ext cx="2895600" cy="276999"/>
          </a:xfrm>
          <a:prstGeom prst="rect">
            <a:avLst/>
          </a:prstGeom>
          <a:noFill/>
        </p:spPr>
        <p:txBody>
          <a:bodyPr wrap="square" rtlCol="0">
            <a:spAutoFit/>
          </a:bodyPr>
          <a:lstStyle/>
          <a:p>
            <a:r>
              <a:rPr lang="en-IN" sz="1200" dirty="0" smtClean="0">
                <a:latin typeface="Times New Roman" pitchFamily="18" charset="0"/>
                <a:cs typeface="Times New Roman" pitchFamily="18" charset="0"/>
              </a:rPr>
              <a:t>Fig 3.7</a:t>
            </a:r>
            <a:endParaRPr lang="en-US" sz="1200" dirty="0">
              <a:latin typeface="Times New Roman" pitchFamily="18" charset="0"/>
              <a:cs typeface="Times New Roman" pitchFamily="18" charset="0"/>
            </a:endParaRPr>
          </a:p>
        </p:txBody>
      </p:sp>
      <p:sp>
        <p:nvSpPr>
          <p:cNvPr id="6" name="Footer Placeholder 5"/>
          <p:cNvSpPr>
            <a:spLocks noGrp="1"/>
          </p:cNvSpPr>
          <p:nvPr>
            <p:ph type="ftr" sz="quarter" idx="5"/>
          </p:nvPr>
        </p:nvSpPr>
        <p:spPr>
          <a:xfrm>
            <a:off x="2571369" y="10147300"/>
            <a:ext cx="2420112" cy="184666"/>
          </a:xfrm>
        </p:spPr>
        <p:txBody>
          <a:bodyPr/>
          <a:lstStyle/>
          <a:p>
            <a:r>
              <a:rPr lang="en-IN" sz="1200" dirty="0" smtClean="0"/>
              <a:t>14</a:t>
            </a:r>
            <a:endParaRPr lang="en-US" sz="1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5"/>
          </p:nvPr>
        </p:nvSpPr>
        <p:spPr>
          <a:xfrm>
            <a:off x="2571369" y="10160456"/>
            <a:ext cx="2420112" cy="215444"/>
          </a:xfrm>
        </p:spPr>
        <p:txBody>
          <a:bodyPr/>
          <a:lstStyle/>
          <a:p>
            <a:r>
              <a:rPr lang="en-US" sz="1400" dirty="0" smtClean="0"/>
              <a:t>15</a:t>
            </a:r>
            <a:endParaRPr lang="en-US" sz="1400" dirty="0"/>
          </a:p>
        </p:txBody>
      </p:sp>
      <p:graphicFrame>
        <p:nvGraphicFramePr>
          <p:cNvPr id="6" name="Diagram 5"/>
          <p:cNvGraphicFramePr/>
          <p:nvPr/>
        </p:nvGraphicFramePr>
        <p:xfrm>
          <a:off x="1035050" y="1460500"/>
          <a:ext cx="58674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p:cNvGraphicFramePr/>
          <p:nvPr/>
        </p:nvGraphicFramePr>
        <p:xfrm>
          <a:off x="958850" y="5194300"/>
          <a:ext cx="6019800" cy="22098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TextBox 8"/>
          <p:cNvSpPr txBox="1"/>
          <p:nvPr/>
        </p:nvSpPr>
        <p:spPr>
          <a:xfrm>
            <a:off x="1096010" y="850900"/>
            <a:ext cx="5410200" cy="338554"/>
          </a:xfrm>
          <a:prstGeom prst="rect">
            <a:avLst/>
          </a:prstGeom>
          <a:noFill/>
        </p:spPr>
        <p:txBody>
          <a:bodyPr wrap="square" rtlCol="0">
            <a:spAutoFit/>
          </a:bodyPr>
          <a:lstStyle/>
          <a:p>
            <a:r>
              <a:rPr lang="en-US" sz="1600" b="1" dirty="0" smtClean="0">
                <a:latin typeface="Times New Roman" pitchFamily="18" charset="0"/>
                <a:cs typeface="Times New Roman" pitchFamily="18" charset="0"/>
              </a:rPr>
              <a:t>BLOCK  DIAGRAM :</a:t>
            </a:r>
            <a:endParaRPr lang="en-US" sz="16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7450" y="774700"/>
            <a:ext cx="5428651" cy="899605"/>
          </a:xfrm>
          <a:prstGeom prst="rect">
            <a:avLst/>
          </a:prstGeom>
        </p:spPr>
        <p:txBody>
          <a:bodyPr vert="horz" wrap="square" lIns="0" tIns="12065" rIns="0" bIns="0" rtlCol="0">
            <a:spAutoFit/>
          </a:bodyPr>
          <a:lstStyle/>
          <a:p>
            <a:pPr marL="1769745" algn="just">
              <a:lnSpc>
                <a:spcPct val="100000"/>
              </a:lnSpc>
              <a:spcBef>
                <a:spcPts val="95"/>
              </a:spcBef>
            </a:pPr>
            <a:r>
              <a:rPr lang="en-IN" sz="2000" b="1" dirty="0" smtClean="0">
                <a:latin typeface="Times New Roman"/>
                <a:cs typeface="Times New Roman"/>
              </a:rPr>
              <a:t>      </a:t>
            </a:r>
            <a:r>
              <a:rPr sz="2000" b="1" smtClean="0">
                <a:latin typeface="Times New Roman"/>
                <a:cs typeface="Times New Roman"/>
              </a:rPr>
              <a:t>CHAPTER</a:t>
            </a:r>
            <a:r>
              <a:rPr sz="2000" b="1" spc="-35" smtClean="0">
                <a:latin typeface="Times New Roman"/>
                <a:cs typeface="Times New Roman"/>
              </a:rPr>
              <a:t> </a:t>
            </a:r>
            <a:r>
              <a:rPr sz="2000" b="1" spc="-50" smtClean="0">
                <a:latin typeface="Times New Roman"/>
                <a:cs typeface="Times New Roman"/>
              </a:rPr>
              <a:t>4</a:t>
            </a:r>
            <a:endParaRPr lang="en-IN" sz="2000" b="1" spc="-50" dirty="0">
              <a:latin typeface="Times New Roman"/>
              <a:cs typeface="Times New Roman"/>
            </a:endParaRPr>
          </a:p>
          <a:p>
            <a:pPr marL="1769745" algn="just">
              <a:lnSpc>
                <a:spcPct val="100000"/>
              </a:lnSpc>
              <a:spcBef>
                <a:spcPts val="95"/>
              </a:spcBef>
            </a:pPr>
            <a:endParaRPr lang="en-IN" sz="1600" b="1" spc="-50" dirty="0">
              <a:latin typeface="Times New Roman"/>
              <a:cs typeface="Times New Roman"/>
            </a:endParaRPr>
          </a:p>
          <a:p>
            <a:pPr marL="1769745" algn="just">
              <a:lnSpc>
                <a:spcPct val="100000"/>
              </a:lnSpc>
              <a:spcBef>
                <a:spcPts val="95"/>
              </a:spcBef>
            </a:pPr>
            <a:r>
              <a:rPr sz="2000" b="1" smtClean="0">
                <a:latin typeface="Times New Roman"/>
                <a:cs typeface="Times New Roman"/>
              </a:rPr>
              <a:t>CIRCUIT</a:t>
            </a:r>
            <a:r>
              <a:rPr sz="2000" b="1" spc="10" smtClean="0">
                <a:latin typeface="Times New Roman"/>
                <a:cs typeface="Times New Roman"/>
              </a:rPr>
              <a:t> </a:t>
            </a:r>
            <a:r>
              <a:rPr sz="2000" b="1" spc="-10" smtClean="0">
                <a:latin typeface="Times New Roman"/>
                <a:cs typeface="Times New Roman"/>
              </a:rPr>
              <a:t>DIAGRAM</a:t>
            </a:r>
            <a:endParaRPr sz="2000">
              <a:latin typeface="Times New Roman"/>
              <a:cs typeface="Times New Roman"/>
            </a:endParaRPr>
          </a:p>
        </p:txBody>
      </p:sp>
      <p:sp>
        <p:nvSpPr>
          <p:cNvPr id="7" name="TextBox 6"/>
          <p:cNvSpPr txBox="1"/>
          <p:nvPr/>
        </p:nvSpPr>
        <p:spPr>
          <a:xfrm>
            <a:off x="2711450" y="5880100"/>
            <a:ext cx="2362200" cy="276999"/>
          </a:xfrm>
          <a:prstGeom prst="rect">
            <a:avLst/>
          </a:prstGeom>
          <a:noFill/>
        </p:spPr>
        <p:txBody>
          <a:bodyPr wrap="square" rtlCol="0">
            <a:spAutoFit/>
          </a:bodyPr>
          <a:lstStyle/>
          <a:p>
            <a:pPr algn="ctr"/>
            <a:r>
              <a:rPr lang="en-IN" sz="1200" dirty="0" smtClean="0">
                <a:latin typeface="Times New Roman" pitchFamily="18" charset="0"/>
                <a:cs typeface="Times New Roman" pitchFamily="18" charset="0"/>
              </a:rPr>
              <a:t>Fig .4.1</a:t>
            </a:r>
            <a:endParaRPr lang="en-US" sz="1200" dirty="0">
              <a:latin typeface="Times New Roman" pitchFamily="18" charset="0"/>
              <a:cs typeface="Times New Roman" pitchFamily="18" charset="0"/>
            </a:endParaRPr>
          </a:p>
        </p:txBody>
      </p:sp>
      <p:sp>
        <p:nvSpPr>
          <p:cNvPr id="8" name="TextBox 7"/>
          <p:cNvSpPr txBox="1"/>
          <p:nvPr/>
        </p:nvSpPr>
        <p:spPr>
          <a:xfrm>
            <a:off x="654050" y="6261100"/>
            <a:ext cx="63246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2.  Working :</a:t>
            </a:r>
            <a:endParaRPr lang="en-US" sz="1200" b="1" dirty="0">
              <a:latin typeface="Times New Roman" pitchFamily="18" charset="0"/>
              <a:cs typeface="Times New Roman" pitchFamily="18" charset="0"/>
            </a:endParaRPr>
          </a:p>
        </p:txBody>
      </p:sp>
      <p:sp>
        <p:nvSpPr>
          <p:cNvPr id="9" name="TextBox 8"/>
          <p:cNvSpPr txBox="1"/>
          <p:nvPr/>
        </p:nvSpPr>
        <p:spPr>
          <a:xfrm>
            <a:off x="654050" y="1765300"/>
            <a:ext cx="5181600" cy="276999"/>
          </a:xfrm>
          <a:prstGeom prst="rect">
            <a:avLst/>
          </a:prstGeom>
          <a:noFill/>
        </p:spPr>
        <p:txBody>
          <a:bodyPr wrap="square" rtlCol="0">
            <a:spAutoFit/>
          </a:bodyPr>
          <a:lstStyle/>
          <a:p>
            <a:r>
              <a:rPr lang="en-IN" sz="1200" b="1" dirty="0" smtClean="0">
                <a:latin typeface="Times New Roman" pitchFamily="18" charset="0"/>
                <a:cs typeface="Times New Roman" pitchFamily="18" charset="0"/>
              </a:rPr>
              <a:t>1.  Actual Circuit Diagram :</a:t>
            </a:r>
            <a:endParaRPr lang="en-US" sz="1200" b="1" dirty="0">
              <a:latin typeface="Times New Roman" pitchFamily="18" charset="0"/>
              <a:cs typeface="Times New Roman" pitchFamily="18" charset="0"/>
            </a:endParaRPr>
          </a:p>
        </p:txBody>
      </p:sp>
      <p:sp>
        <p:nvSpPr>
          <p:cNvPr id="10" name="TextBox 9"/>
          <p:cNvSpPr txBox="1"/>
          <p:nvPr/>
        </p:nvSpPr>
        <p:spPr>
          <a:xfrm>
            <a:off x="654050" y="6565900"/>
            <a:ext cx="6248400" cy="3416320"/>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The project integrates two circuits: a </a:t>
            </a:r>
            <a:r>
              <a:rPr lang="en-US" sz="1200" b="1" dirty="0" smtClean="0">
                <a:latin typeface="Times New Roman" pitchFamily="18" charset="0"/>
                <a:cs typeface="Times New Roman" pitchFamily="18" charset="0"/>
              </a:rPr>
              <a:t>laser security system</a:t>
            </a:r>
            <a:r>
              <a:rPr lang="en-US" sz="1200" dirty="0" smtClean="0">
                <a:latin typeface="Times New Roman" pitchFamily="18" charset="0"/>
                <a:cs typeface="Times New Roman" pitchFamily="18" charset="0"/>
              </a:rPr>
              <a:t> and a </a:t>
            </a:r>
            <a:r>
              <a:rPr lang="en-US" sz="1200" b="1" dirty="0" smtClean="0">
                <a:latin typeface="Times New Roman" pitchFamily="18" charset="0"/>
                <a:cs typeface="Times New Roman" pitchFamily="18" charset="0"/>
              </a:rPr>
              <a:t>fingerprint recognition system</a:t>
            </a:r>
            <a:r>
              <a:rPr lang="en-US" sz="1200" dirty="0" smtClean="0">
                <a:latin typeface="Times New Roman" pitchFamily="18" charset="0"/>
                <a:cs typeface="Times New Roman" pitchFamily="18" charset="0"/>
              </a:rPr>
              <a:t>. Only a person with a registered fingerprint can deactivate the laser security system and cross safely. The fingerprint sensor serves as the input for the entire circuit.</a:t>
            </a:r>
          </a:p>
          <a:p>
            <a:pPr algn="just"/>
            <a:r>
              <a:rPr lang="en-US" sz="1200" dirty="0" smtClean="0">
                <a:latin typeface="Times New Roman" pitchFamily="18" charset="0"/>
                <a:cs typeface="Times New Roman" pitchFamily="18" charset="0"/>
              </a:rPr>
              <a:t>When a person provides their fingerprint, the </a:t>
            </a:r>
            <a:r>
              <a:rPr lang="en-US" sz="1200" b="1" dirty="0" smtClean="0">
                <a:latin typeface="Times New Roman" pitchFamily="18" charset="0"/>
                <a:cs typeface="Times New Roman" pitchFamily="18" charset="0"/>
              </a:rPr>
              <a:t>fingerprint sensor</a:t>
            </a:r>
            <a:r>
              <a:rPr lang="en-US" sz="1200" dirty="0" smtClean="0">
                <a:latin typeface="Times New Roman" pitchFamily="18" charset="0"/>
                <a:cs typeface="Times New Roman" pitchFamily="18" charset="0"/>
              </a:rPr>
              <a:t> transmits the data through its </a:t>
            </a:r>
            <a:r>
              <a:rPr lang="en-US" sz="1200" b="1" dirty="0" smtClean="0">
                <a:latin typeface="Times New Roman" pitchFamily="18" charset="0"/>
                <a:cs typeface="Times New Roman" pitchFamily="18" charset="0"/>
              </a:rPr>
              <a:t>Transmit Pin (TXD)</a:t>
            </a:r>
            <a:r>
              <a:rPr lang="en-US" sz="1200" dirty="0" smtClean="0">
                <a:latin typeface="Times New Roman" pitchFamily="18" charset="0"/>
                <a:cs typeface="Times New Roman" pitchFamily="18" charset="0"/>
              </a:rPr>
              <a:t> to 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Uno, which verifies the input against the previously stored fingerprint data.</a:t>
            </a:r>
          </a:p>
          <a:p>
            <a:pPr algn="just"/>
            <a:endParaRPr lang="en-IN" sz="1200" dirty="0">
              <a:latin typeface="Times New Roman" pitchFamily="18" charset="0"/>
              <a:cs typeface="Times New Roman" pitchFamily="18" charset="0"/>
            </a:endParaRPr>
          </a:p>
          <a:p>
            <a:pPr algn="just">
              <a:buFont typeface="Wingdings" pitchFamily="2" charset="2"/>
              <a:buChar char="Ø"/>
            </a:pPr>
            <a:r>
              <a:rPr lang="en-US" sz="1200" b="1" dirty="0">
                <a:latin typeface="Times New Roman" pitchFamily="18" charset="0"/>
                <a:cs typeface="Times New Roman" pitchFamily="18" charset="0"/>
              </a:rPr>
              <a:t> </a:t>
            </a:r>
            <a:r>
              <a:rPr lang="en-US" sz="1200" b="1" dirty="0" smtClean="0">
                <a:latin typeface="Times New Roman" pitchFamily="18" charset="0"/>
                <a:cs typeface="Times New Roman" pitchFamily="18" charset="0"/>
              </a:rPr>
              <a:t> If the fingerprint matches the stored data</a:t>
            </a:r>
            <a:r>
              <a:rPr lang="en-US" sz="1200" dirty="0" smtClean="0">
                <a:latin typeface="Times New Roman" pitchFamily="18" charset="0"/>
                <a:cs typeface="Times New Roman" pitchFamily="18" charset="0"/>
              </a:rPr>
              <a:t>:</a:t>
            </a:r>
          </a:p>
          <a:p>
            <a:pPr algn="just"/>
            <a:r>
              <a:rPr lang="en-US" sz="1200" dirty="0" smtClean="0">
                <a:latin typeface="Times New Roman" pitchFamily="18" charset="0"/>
                <a:cs typeface="Times New Roman" pitchFamily="18" charset="0"/>
              </a:rPr>
              <a:t>       1. 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sends a </a:t>
            </a:r>
            <a:r>
              <a:rPr lang="en-US" sz="1200" b="1" dirty="0" smtClean="0">
                <a:latin typeface="Times New Roman" pitchFamily="18" charset="0"/>
                <a:cs typeface="Times New Roman" pitchFamily="18" charset="0"/>
              </a:rPr>
              <a:t>HIGH</a:t>
            </a:r>
            <a:r>
              <a:rPr lang="en-US" sz="1200" dirty="0" smtClean="0">
                <a:latin typeface="Times New Roman" pitchFamily="18" charset="0"/>
                <a:cs typeface="Times New Roman" pitchFamily="18" charset="0"/>
              </a:rPr>
              <a:t> signal to digital output </a:t>
            </a:r>
            <a:r>
              <a:rPr lang="en-US" sz="1200" b="1" dirty="0" smtClean="0">
                <a:latin typeface="Times New Roman" pitchFamily="18" charset="0"/>
                <a:cs typeface="Times New Roman" pitchFamily="18" charset="0"/>
              </a:rPr>
              <a:t>Pin 8</a:t>
            </a:r>
            <a:r>
              <a:rPr lang="en-US" sz="1200" dirty="0" smtClean="0">
                <a:latin typeface="Times New Roman" pitchFamily="18" charset="0"/>
                <a:cs typeface="Times New Roman" pitchFamily="18" charset="0"/>
              </a:rPr>
              <a:t>, which is connected to a </a:t>
            </a:r>
            <a:r>
              <a:rPr lang="en-US" sz="1200" b="1" dirty="0" smtClean="0">
                <a:latin typeface="Times New Roman" pitchFamily="18" charset="0"/>
                <a:cs typeface="Times New Roman" pitchFamily="18" charset="0"/>
              </a:rPr>
              <a:t>relay   module</a:t>
            </a:r>
            <a:r>
              <a:rPr lang="en-US" sz="1200" dirty="0" smtClean="0">
                <a:latin typeface="Times New Roman" pitchFamily="18" charset="0"/>
                <a:cs typeface="Times New Roman" pitchFamily="18" charset="0"/>
              </a:rPr>
              <a:t>.</a:t>
            </a:r>
          </a:p>
          <a:p>
            <a:pPr algn="just"/>
            <a:r>
              <a:rPr lang="en-US" sz="1200" dirty="0" smtClean="0">
                <a:latin typeface="Times New Roman" pitchFamily="18" charset="0"/>
                <a:cs typeface="Times New Roman" pitchFamily="18" charset="0"/>
              </a:rPr>
              <a:t>       2.The relay temporarily deactivates the </a:t>
            </a:r>
            <a:r>
              <a:rPr lang="en-US" sz="1200" b="1" dirty="0" smtClean="0">
                <a:latin typeface="Times New Roman" pitchFamily="18" charset="0"/>
                <a:cs typeface="Times New Roman" pitchFamily="18" charset="0"/>
              </a:rPr>
              <a:t>laser module</a:t>
            </a:r>
            <a:r>
              <a:rPr lang="en-US" sz="1200" dirty="0" smtClean="0">
                <a:latin typeface="Times New Roman" pitchFamily="18" charset="0"/>
                <a:cs typeface="Times New Roman" pitchFamily="18" charset="0"/>
              </a:rPr>
              <a:t>, causing the laser beam to disappear for a few seconds, allowing the person to pass.</a:t>
            </a:r>
          </a:p>
          <a:p>
            <a:pPr algn="just"/>
            <a:r>
              <a:rPr lang="en-US" sz="1200" dirty="0" smtClean="0">
                <a:latin typeface="Times New Roman" pitchFamily="18" charset="0"/>
                <a:cs typeface="Times New Roman" pitchFamily="18" charset="0"/>
              </a:rPr>
              <a:t>       3.After the delay, the laser system automatically returns to its normal active state.</a:t>
            </a:r>
          </a:p>
          <a:p>
            <a:pPr algn="just"/>
            <a:endParaRPr lang="en-US" sz="1200" dirty="0" smtClean="0">
              <a:latin typeface="Times New Roman" pitchFamily="18" charset="0"/>
              <a:cs typeface="Times New Roman" pitchFamily="18" charset="0"/>
            </a:endParaRPr>
          </a:p>
          <a:p>
            <a:pPr algn="just">
              <a:buFont typeface="Wingdings" pitchFamily="2" charset="2"/>
              <a:buChar char="Ø"/>
            </a:pPr>
            <a:r>
              <a:rPr lang="en-US" sz="1200" b="1" dirty="0" smtClean="0">
                <a:latin typeface="Times New Roman" pitchFamily="18" charset="0"/>
                <a:cs typeface="Times New Roman" pitchFamily="18" charset="0"/>
              </a:rPr>
              <a:t>  If the fingerprint does not match the stored data</a:t>
            </a:r>
            <a:r>
              <a:rPr lang="en-US" sz="1200" dirty="0" smtClean="0">
                <a:latin typeface="Times New Roman" pitchFamily="18" charset="0"/>
                <a:cs typeface="Times New Roman" pitchFamily="18" charset="0"/>
              </a:rPr>
              <a:t>:</a:t>
            </a:r>
          </a:p>
          <a:p>
            <a:pPr algn="just"/>
            <a:r>
              <a:rPr lang="en-US" sz="1200" dirty="0" smtClean="0">
                <a:latin typeface="Times New Roman" pitchFamily="18" charset="0"/>
                <a:cs typeface="Times New Roman" pitchFamily="18" charset="0"/>
              </a:rPr>
              <a:t>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does not trigger the relay, and the laser remains active without any interruption.</a:t>
            </a:r>
          </a:p>
          <a:p>
            <a:endParaRPr lang="en-US" sz="1200" dirty="0" smtClean="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501650" y="2384425"/>
            <a:ext cx="6483928" cy="3495675"/>
          </a:xfrm>
          <a:prstGeom prst="rect">
            <a:avLst/>
          </a:prstGeom>
          <a:noFill/>
          <a:ln w="9525">
            <a:noFill/>
            <a:miter lim="800000"/>
            <a:headEnd/>
            <a:tailEnd/>
          </a:ln>
          <a:effectLst/>
        </p:spPr>
      </p:pic>
      <p:sp>
        <p:nvSpPr>
          <p:cNvPr id="11" name="Footer Placeholder 10"/>
          <p:cNvSpPr>
            <a:spLocks noGrp="1"/>
          </p:cNvSpPr>
          <p:nvPr>
            <p:ph type="ftr" sz="quarter" idx="5"/>
          </p:nvPr>
        </p:nvSpPr>
        <p:spPr>
          <a:xfrm>
            <a:off x="2571369" y="10191234"/>
            <a:ext cx="2420112" cy="184666"/>
          </a:xfrm>
        </p:spPr>
        <p:txBody>
          <a:bodyPr/>
          <a:lstStyle/>
          <a:p>
            <a:r>
              <a:rPr lang="en-IN" sz="1200" dirty="0" smtClean="0"/>
              <a:t>16</a:t>
            </a:r>
            <a:endParaRPr lang="en-US" sz="12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6450" y="698500"/>
            <a:ext cx="6248400" cy="8586966"/>
          </a:xfrm>
          <a:prstGeom prst="rect">
            <a:avLst/>
          </a:prstGeom>
          <a:noFill/>
        </p:spPr>
        <p:txBody>
          <a:bodyPr wrap="square" rtlCol="0">
            <a:spAutoFit/>
          </a:bodyPr>
          <a:lstStyle/>
          <a:p>
            <a:endParaRPr lang="en-IN" sz="1200" dirty="0" smtClean="0">
              <a:latin typeface="Times New Roman" pitchFamily="18" charset="0"/>
              <a:cs typeface="Times New Roman" pitchFamily="18" charset="0"/>
            </a:endParaRPr>
          </a:p>
          <a:p>
            <a:r>
              <a:rPr lang="en-US" sz="1200" dirty="0" smtClean="0">
                <a:latin typeface="Times New Roman" pitchFamily="18" charset="0"/>
                <a:cs typeface="Times New Roman" pitchFamily="18" charset="0"/>
              </a:rPr>
              <a:t>Additionally, if a person disturbs the laser beam without providing valid input to the fingerprint sensor, a </a:t>
            </a:r>
            <a:r>
              <a:rPr lang="en-US" sz="1200" b="1" dirty="0" smtClean="0">
                <a:latin typeface="Times New Roman" pitchFamily="18" charset="0"/>
                <a:cs typeface="Times New Roman" pitchFamily="18" charset="0"/>
              </a:rPr>
              <a:t>buzzer is activated</a:t>
            </a:r>
            <a:r>
              <a:rPr lang="en-US" sz="1200" dirty="0" smtClean="0">
                <a:latin typeface="Times New Roman" pitchFamily="18" charset="0"/>
                <a:cs typeface="Times New Roman" pitchFamily="18" charset="0"/>
              </a:rPr>
              <a:t> to signal unauthorized access.</a:t>
            </a:r>
          </a:p>
          <a:p>
            <a:endParaRPr lang="en-IN" sz="1200" dirty="0">
              <a:latin typeface="Times New Roman" pitchFamily="18" charset="0"/>
              <a:cs typeface="Times New Roman" pitchFamily="18" charset="0"/>
            </a:endParaRPr>
          </a:p>
          <a:p>
            <a:r>
              <a:rPr lang="en-IN" sz="1200" dirty="0" smtClean="0">
                <a:latin typeface="Times New Roman" pitchFamily="18" charset="0"/>
                <a:cs typeface="Times New Roman" pitchFamily="18" charset="0"/>
              </a:rPr>
              <a:t>Let’s Elaborate the roles of  components  to run this circuit :</a:t>
            </a:r>
          </a:p>
          <a:p>
            <a:endParaRPr lang="en-IN" sz="1200" dirty="0" smtClean="0">
              <a:latin typeface="Times New Roman" pitchFamily="18" charset="0"/>
              <a:cs typeface="Times New Roman" pitchFamily="18" charset="0"/>
            </a:endParaRPr>
          </a:p>
          <a:p>
            <a:r>
              <a:rPr lang="en-IN" sz="1200" b="1" dirty="0" smtClean="0">
                <a:latin typeface="Times New Roman" pitchFamily="18" charset="0"/>
                <a:cs typeface="Times New Roman" pitchFamily="18" charset="0"/>
              </a:rPr>
              <a:t>Fingerprint sensor</a:t>
            </a:r>
            <a:r>
              <a:rPr lang="en-IN" sz="1200" b="1" dirty="0">
                <a:latin typeface="Times New Roman" pitchFamily="18" charset="0"/>
                <a:cs typeface="Times New Roman" pitchFamily="18" charset="0"/>
              </a:rPr>
              <a:t> </a:t>
            </a:r>
            <a:r>
              <a:rPr lang="en-IN" sz="1200" b="1" dirty="0" smtClean="0">
                <a:latin typeface="Times New Roman" pitchFamily="18" charset="0"/>
                <a:cs typeface="Times New Roman" pitchFamily="18" charset="0"/>
              </a:rPr>
              <a:t>role :</a:t>
            </a:r>
          </a:p>
          <a:p>
            <a:pPr algn="just">
              <a:buFont typeface="Arial" pitchFamily="34" charset="0"/>
              <a:buChar char="•"/>
            </a:pPr>
            <a:r>
              <a:rPr lang="en-IN" sz="1200" b="1"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The sensor captures the fingerprint image using its optical  technology</a:t>
            </a:r>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 it processes the captured image and extracts  </a:t>
            </a:r>
            <a:r>
              <a:rPr lang="en-US" sz="1200" b="1" dirty="0" smtClean="0">
                <a:latin typeface="Times New Roman" pitchFamily="18" charset="0"/>
                <a:cs typeface="Times New Roman" pitchFamily="18" charset="0"/>
              </a:rPr>
              <a:t>minutiae points</a:t>
            </a:r>
            <a:r>
              <a:rPr lang="en-US" sz="1200" dirty="0" smtClean="0">
                <a:latin typeface="Times New Roman" pitchFamily="18" charset="0"/>
                <a:cs typeface="Times New Roman" pitchFamily="18" charset="0"/>
              </a:rPr>
              <a:t> (unique features of the fingerprint) these minutiae points are converted into a </a:t>
            </a:r>
            <a:r>
              <a:rPr lang="en-US" sz="1200" b="1" dirty="0" smtClean="0">
                <a:latin typeface="Times New Roman" pitchFamily="18" charset="0"/>
                <a:cs typeface="Times New Roman" pitchFamily="18" charset="0"/>
              </a:rPr>
              <a:t>digital template</a:t>
            </a:r>
            <a:r>
              <a:rPr lang="en-US" sz="1200" dirty="0" smtClean="0">
                <a:latin typeface="Times New Roman" pitchFamily="18" charset="0"/>
                <a:cs typeface="Times New Roman" pitchFamily="18" charset="0"/>
              </a:rPr>
              <a:t> representing the fingerprint.</a:t>
            </a:r>
          </a:p>
          <a:p>
            <a:pPr algn="just">
              <a:buFont typeface="Arial" pitchFamily="34" charset="0"/>
              <a:buChar char="•"/>
            </a:pPr>
            <a:r>
              <a:rPr lang="en-US" sz="1200" dirty="0" smtClean="0">
                <a:latin typeface="Times New Roman" pitchFamily="18" charset="0"/>
                <a:cs typeface="Times New Roman" pitchFamily="18" charset="0"/>
              </a:rPr>
              <a:t>The digital template is then transmitted as a </a:t>
            </a:r>
            <a:r>
              <a:rPr lang="en-US" sz="1200" b="1" dirty="0" smtClean="0">
                <a:latin typeface="Times New Roman" pitchFamily="18" charset="0"/>
                <a:cs typeface="Times New Roman" pitchFamily="18" charset="0"/>
              </a:rPr>
              <a:t>digital signal</a:t>
            </a:r>
            <a:r>
              <a:rPr lang="en-US" sz="1200" dirty="0" smtClean="0">
                <a:latin typeface="Times New Roman" pitchFamily="18" charset="0"/>
                <a:cs typeface="Times New Roman" pitchFamily="18" charset="0"/>
              </a:rPr>
              <a:t> through the sensor's </a:t>
            </a:r>
            <a:r>
              <a:rPr lang="en-US" sz="1200" b="1" dirty="0" smtClean="0">
                <a:latin typeface="Times New Roman" pitchFamily="18" charset="0"/>
                <a:cs typeface="Times New Roman" pitchFamily="18" charset="0"/>
              </a:rPr>
              <a:t>TX pin (Transmit Pin)</a:t>
            </a:r>
            <a:r>
              <a:rPr lang="en-US" sz="1200" dirty="0" smtClean="0">
                <a:latin typeface="Times New Roman" pitchFamily="18" charset="0"/>
                <a:cs typeface="Times New Roman" pitchFamily="18" charset="0"/>
              </a:rPr>
              <a:t> to the connected device like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a:t>
            </a:r>
          </a:p>
          <a:p>
            <a:pPr algn="just">
              <a:buFont typeface="Arial" pitchFamily="34" charset="0"/>
              <a:buChar char="•"/>
            </a:pPr>
            <a:endParaRPr lang="en-IN" sz="1200" b="1" dirty="0">
              <a:latin typeface="Times New Roman" pitchFamily="18" charset="0"/>
              <a:cs typeface="Times New Roman" pitchFamily="18" charset="0"/>
            </a:endParaRPr>
          </a:p>
          <a:p>
            <a:pPr algn="just"/>
            <a:r>
              <a:rPr lang="en-IN" sz="1200" b="1" dirty="0" err="1" smtClean="0">
                <a:latin typeface="Times New Roman" pitchFamily="18" charset="0"/>
                <a:cs typeface="Times New Roman" pitchFamily="18" charset="0"/>
              </a:rPr>
              <a:t>Arduino</a:t>
            </a:r>
            <a:r>
              <a:rPr lang="en-IN" sz="1200" b="1" dirty="0" smtClean="0">
                <a:latin typeface="Times New Roman" pitchFamily="18" charset="0"/>
                <a:cs typeface="Times New Roman" pitchFamily="18" charset="0"/>
              </a:rPr>
              <a:t> role :</a:t>
            </a:r>
          </a:p>
          <a:p>
            <a:pPr algn="just">
              <a:buFont typeface="Arial" pitchFamily="34" charset="0"/>
              <a:buChar char="•"/>
            </a:pPr>
            <a:r>
              <a:rPr lang="en-IN" sz="1200" b="1" dirty="0">
                <a:latin typeface="Times New Roman" pitchFamily="18" charset="0"/>
                <a:cs typeface="Times New Roman" pitchFamily="18" charset="0"/>
              </a:rPr>
              <a:t> </a:t>
            </a:r>
            <a:r>
              <a:rPr lang="en-IN" sz="1200" dirty="0" err="1" smtClean="0">
                <a:latin typeface="Times New Roman" pitchFamily="18" charset="0"/>
                <a:cs typeface="Times New Roman" pitchFamily="18" charset="0"/>
              </a:rPr>
              <a:t>Arduino</a:t>
            </a:r>
            <a:r>
              <a:rPr lang="en-IN" sz="1200" dirty="0" smtClean="0">
                <a:latin typeface="Times New Roman" pitchFamily="18" charset="0"/>
                <a:cs typeface="Times New Roman" pitchFamily="18" charset="0"/>
              </a:rPr>
              <a:t> deals with the Relay module and the Fingerprint Sensor.</a:t>
            </a:r>
          </a:p>
          <a:p>
            <a:pPr algn="just">
              <a:buFont typeface="Arial" pitchFamily="34" charset="0"/>
              <a:buChar char="•"/>
            </a:pPr>
            <a:r>
              <a:rPr lang="en-IN" sz="1200" dirty="0" smtClean="0">
                <a:latin typeface="Times New Roman" pitchFamily="18" charset="0"/>
                <a:cs typeface="Times New Roman" pitchFamily="18" charset="0"/>
              </a:rPr>
              <a:t> It get input from the sensor and </a:t>
            </a:r>
            <a:r>
              <a:rPr lang="en-IN" sz="1200" dirty="0">
                <a:latin typeface="Times New Roman" pitchFamily="18" charset="0"/>
                <a:cs typeface="Times New Roman" pitchFamily="18" charset="0"/>
              </a:rPr>
              <a:t> </a:t>
            </a:r>
            <a:r>
              <a:rPr lang="en-IN" sz="1200" dirty="0" smtClean="0">
                <a:latin typeface="Times New Roman" pitchFamily="18" charset="0"/>
                <a:cs typeface="Times New Roman" pitchFamily="18" charset="0"/>
              </a:rPr>
              <a:t>it gives the output  which acts as the input for the relay module.</a:t>
            </a:r>
          </a:p>
          <a:p>
            <a:pPr algn="just">
              <a:buFont typeface="Arial" pitchFamily="34" charset="0"/>
              <a:buChar char="•"/>
            </a:pPr>
            <a:r>
              <a:rPr lang="en-US" sz="1200" dirty="0" smtClean="0">
                <a:latin typeface="Times New Roman" pitchFamily="18" charset="0"/>
                <a:cs typeface="Times New Roman" pitchFamily="18" charset="0"/>
              </a:rPr>
              <a:t>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manages the timing for how long the laser remains deactivated after a valid fingerprint is detected.</a:t>
            </a:r>
          </a:p>
          <a:p>
            <a:pPr algn="just">
              <a:buFont typeface="Arial" pitchFamily="34" charset="0"/>
              <a:buChar char="•"/>
            </a:pPr>
            <a:r>
              <a:rPr lang="en-US" sz="1200" dirty="0" smtClean="0">
                <a:latin typeface="Times New Roman" pitchFamily="18" charset="0"/>
                <a:cs typeface="Times New Roman" pitchFamily="18" charset="0"/>
              </a:rPr>
              <a:t>This is achieved using simple code functions like delay( )</a:t>
            </a:r>
            <a:r>
              <a:rPr lang="en-IN" sz="1200" dirty="0" smtClean="0">
                <a:latin typeface="Times New Roman" pitchFamily="18" charset="0"/>
                <a:cs typeface="Times New Roman" pitchFamily="18" charset="0"/>
              </a:rPr>
              <a:t>.</a:t>
            </a:r>
          </a:p>
          <a:p>
            <a:pPr algn="just">
              <a:buFont typeface="Arial" pitchFamily="34" charset="0"/>
              <a:buChar char="•"/>
            </a:pPr>
            <a:r>
              <a:rPr lang="en-IN" sz="1200" dirty="0" smtClean="0">
                <a:latin typeface="Times New Roman" pitchFamily="18" charset="0"/>
                <a:cs typeface="Times New Roman" pitchFamily="18" charset="0"/>
              </a:rPr>
              <a:t> We can  register </a:t>
            </a:r>
            <a:r>
              <a:rPr lang="en-IN" sz="1200" dirty="0" err="1" smtClean="0">
                <a:latin typeface="Times New Roman" pitchFamily="18" charset="0"/>
                <a:cs typeface="Times New Roman" pitchFamily="18" charset="0"/>
              </a:rPr>
              <a:t>upto</a:t>
            </a:r>
            <a:r>
              <a:rPr lang="en-IN" sz="1200" dirty="0" smtClean="0">
                <a:latin typeface="Times New Roman" pitchFamily="18" charset="0"/>
                <a:cs typeface="Times New Roman" pitchFamily="18" charset="0"/>
              </a:rPr>
              <a:t> 240+ fingerprints in this </a:t>
            </a:r>
            <a:r>
              <a:rPr lang="en-IN" sz="1200" dirty="0" err="1" smtClean="0">
                <a:latin typeface="Times New Roman" pitchFamily="18" charset="0"/>
                <a:cs typeface="Times New Roman" pitchFamily="18" charset="0"/>
              </a:rPr>
              <a:t>Arduino</a:t>
            </a:r>
            <a:r>
              <a:rPr lang="en-IN" sz="1200" dirty="0" smtClean="0">
                <a:latin typeface="Times New Roman" pitchFamily="18" charset="0"/>
                <a:cs typeface="Times New Roman" pitchFamily="18" charset="0"/>
              </a:rPr>
              <a:t>.</a:t>
            </a:r>
          </a:p>
          <a:p>
            <a:pPr algn="just"/>
            <a:endParaRPr lang="en-IN" sz="1200" dirty="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Relay Module role:</a:t>
            </a:r>
          </a:p>
          <a:p>
            <a:pPr algn="just">
              <a:buFont typeface="Arial" pitchFamily="34" charset="0"/>
              <a:buChar char="•"/>
            </a:pPr>
            <a:r>
              <a:rPr lang="en-US" sz="1200" dirty="0" smtClean="0">
                <a:latin typeface="Times New Roman" pitchFamily="18" charset="0"/>
                <a:cs typeface="Times New Roman" pitchFamily="18" charset="0"/>
              </a:rPr>
              <a:t> The relay module acts as an electronic switch that allows 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to control the power to the laser  module.</a:t>
            </a:r>
          </a:p>
          <a:p>
            <a:pPr algn="just">
              <a:buFont typeface="Arial" pitchFamily="34" charset="0"/>
              <a:buChar char="•"/>
            </a:pPr>
            <a:r>
              <a:rPr lang="en-US" sz="1200" dirty="0" smtClean="0">
                <a:latin typeface="Times New Roman" pitchFamily="18" charset="0"/>
                <a:cs typeface="Times New Roman" pitchFamily="18" charset="0"/>
              </a:rPr>
              <a:t> Prevents damage to 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by separating its low-power control circuit from the high-power laser circuit.</a:t>
            </a:r>
          </a:p>
          <a:p>
            <a:pPr algn="just">
              <a:buFont typeface="Arial" pitchFamily="34" charset="0"/>
              <a:buChar char="•"/>
            </a:pPr>
            <a:r>
              <a:rPr lang="en-IN" sz="1200" dirty="0" smtClean="0">
                <a:latin typeface="Times New Roman" pitchFamily="18" charset="0"/>
                <a:cs typeface="Times New Roman" pitchFamily="18" charset="0"/>
              </a:rPr>
              <a:t> When Relay gets the high signal it </a:t>
            </a:r>
            <a:r>
              <a:rPr lang="en-US" sz="1200" dirty="0" smtClean="0">
                <a:latin typeface="Times New Roman" pitchFamily="18" charset="0"/>
                <a:cs typeface="Times New Roman" pitchFamily="18" charset="0"/>
              </a:rPr>
              <a:t>disconnects the laser module from the power supply, turning it off  temporarily and when it gets low signal it restores power to the laser module, and the laser becomes active again.</a:t>
            </a:r>
          </a:p>
          <a:p>
            <a:pPr algn="just">
              <a:buFont typeface="Arial" pitchFamily="34" charset="0"/>
              <a:buChar char="•"/>
            </a:pPr>
            <a:endParaRPr lang="en-IN" sz="1200" dirty="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Transistor(BC547)  role :</a:t>
            </a:r>
          </a:p>
          <a:p>
            <a:pPr algn="just">
              <a:buFont typeface="Arial" pitchFamily="34" charset="0"/>
              <a:buChar char="•"/>
            </a:pPr>
            <a:r>
              <a:rPr lang="en-US" sz="1200" dirty="0" smtClean="0">
                <a:latin typeface="Times New Roman" pitchFamily="18" charset="0"/>
                <a:cs typeface="Times New Roman" pitchFamily="18" charset="0"/>
              </a:rPr>
              <a:t>The Base  receives a small current from the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turning the transistor  ON.</a:t>
            </a:r>
          </a:p>
          <a:p>
            <a:pPr algn="just">
              <a:buFont typeface="Arial" pitchFamily="34" charset="0"/>
              <a:buChar char="•"/>
            </a:pPr>
            <a:r>
              <a:rPr lang="en-US" sz="1200" dirty="0" smtClean="0">
                <a:latin typeface="Times New Roman" pitchFamily="18" charset="0"/>
                <a:cs typeface="Times New Roman" pitchFamily="18" charset="0"/>
              </a:rPr>
              <a:t>The Collector allows a larger current to flow from the power source to the laser module.</a:t>
            </a:r>
          </a:p>
          <a:p>
            <a:pPr algn="just">
              <a:buFont typeface="Arial" pitchFamily="34" charset="0"/>
              <a:buChar char="•"/>
            </a:pPr>
            <a:r>
              <a:rPr lang="en-US" sz="1200" dirty="0" smtClean="0">
                <a:latin typeface="Times New Roman" pitchFamily="18" charset="0"/>
                <a:cs typeface="Times New Roman" pitchFamily="18" charset="0"/>
              </a:rPr>
              <a:t>The Emitter sends the current to GND, completing the circuit and powering the laser.</a:t>
            </a:r>
          </a:p>
          <a:p>
            <a:pPr algn="just"/>
            <a:endParaRPr lang="en-IN" sz="1200" b="1" dirty="0" smtClean="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LDR role: </a:t>
            </a:r>
          </a:p>
          <a:p>
            <a:pPr algn="just">
              <a:buFont typeface="Arial" pitchFamily="34" charset="0"/>
              <a:buChar char="•"/>
            </a:pPr>
            <a:r>
              <a:rPr lang="en-IN" sz="1200" dirty="0" smtClean="0">
                <a:latin typeface="Times New Roman" pitchFamily="18" charset="0"/>
                <a:cs typeface="Times New Roman" pitchFamily="18" charset="0"/>
              </a:rPr>
              <a:t>When the laser falls on the </a:t>
            </a:r>
            <a:r>
              <a:rPr lang="en-IN" sz="1200" dirty="0" err="1" smtClean="0">
                <a:latin typeface="Times New Roman" pitchFamily="18" charset="0"/>
                <a:cs typeface="Times New Roman" pitchFamily="18" charset="0"/>
              </a:rPr>
              <a:t>ldr</a:t>
            </a:r>
            <a:r>
              <a:rPr lang="en-IN" sz="1200" dirty="0" smtClean="0">
                <a:latin typeface="Times New Roman" pitchFamily="18" charset="0"/>
                <a:cs typeface="Times New Roman" pitchFamily="18" charset="0"/>
              </a:rPr>
              <a:t> it will decrease it’s resistance when the laser does not falls on the </a:t>
            </a:r>
            <a:r>
              <a:rPr lang="en-IN" sz="1200" dirty="0" err="1" smtClean="0">
                <a:latin typeface="Times New Roman" pitchFamily="18" charset="0"/>
                <a:cs typeface="Times New Roman" pitchFamily="18" charset="0"/>
              </a:rPr>
              <a:t>ldr</a:t>
            </a:r>
            <a:r>
              <a:rPr lang="en-IN" sz="1200" dirty="0" smtClean="0">
                <a:latin typeface="Times New Roman" pitchFamily="18" charset="0"/>
                <a:cs typeface="Times New Roman" pitchFamily="18" charset="0"/>
              </a:rPr>
              <a:t> it eventually increases the resistance of it and makes the current to flow from the buzzer.</a:t>
            </a:r>
          </a:p>
          <a:p>
            <a:pPr algn="just"/>
            <a:endParaRPr lang="en-US" sz="1200" dirty="0" smtClean="0">
              <a:latin typeface="Times New Roman" pitchFamily="18" charset="0"/>
              <a:cs typeface="Times New Roman" pitchFamily="18" charset="0"/>
            </a:endParaRPr>
          </a:p>
          <a:p>
            <a:pPr>
              <a:buFont typeface="Arial" pitchFamily="34" charset="0"/>
              <a:buChar char="•"/>
            </a:pPr>
            <a:endParaRPr lang="en-US" sz="1200" dirty="0" smtClean="0">
              <a:latin typeface="Times New Roman" pitchFamily="18" charset="0"/>
              <a:cs typeface="Times New Roman" pitchFamily="18" charset="0"/>
            </a:endParaRPr>
          </a:p>
          <a:p>
            <a:pPr>
              <a:buFont typeface="Arial" pitchFamily="34" charset="0"/>
              <a:buChar char="•"/>
            </a:pPr>
            <a:endParaRPr lang="en-IN" sz="1200" dirty="0" smtClean="0">
              <a:latin typeface="Times New Roman" pitchFamily="18" charset="0"/>
              <a:cs typeface="Times New Roman" pitchFamily="18" charset="0"/>
            </a:endParaRPr>
          </a:p>
          <a:p>
            <a:endParaRPr lang="en-IN" sz="1200" dirty="0" smtClean="0">
              <a:latin typeface="Times New Roman" pitchFamily="18" charset="0"/>
              <a:cs typeface="Times New Roman" pitchFamily="18" charset="0"/>
            </a:endParaRPr>
          </a:p>
          <a:p>
            <a:pPr>
              <a:buFont typeface="Arial" pitchFamily="34" charset="0"/>
              <a:buChar char="•"/>
            </a:pPr>
            <a:endParaRPr lang="en-IN" sz="1200" b="1" dirty="0">
              <a:latin typeface="Times New Roman" pitchFamily="18" charset="0"/>
              <a:cs typeface="Times New Roman" pitchFamily="18" charset="0"/>
            </a:endParaRPr>
          </a:p>
          <a:p>
            <a:endParaRPr lang="en-US" sz="1200" dirty="0" smtClean="0">
              <a:latin typeface="Times New Roman" pitchFamily="18" charset="0"/>
              <a:cs typeface="Times New Roman" pitchFamily="18" charset="0"/>
            </a:endParaRPr>
          </a:p>
          <a:p>
            <a:endParaRPr lang="en-IN" sz="1200" dirty="0">
              <a:latin typeface="Times New Roman" pitchFamily="18" charset="0"/>
              <a:cs typeface="Times New Roman" pitchFamily="18" charset="0"/>
            </a:endParaRPr>
          </a:p>
          <a:p>
            <a:endParaRPr lang="en-IN" sz="1200" dirty="0" smtClean="0">
              <a:latin typeface="Times New Roman" pitchFamily="18" charset="0"/>
              <a:cs typeface="Times New Roman" pitchFamily="18" charset="0"/>
            </a:endParaRPr>
          </a:p>
        </p:txBody>
      </p:sp>
      <p:sp>
        <p:nvSpPr>
          <p:cNvPr id="4" name="Footer Placeholder 3"/>
          <p:cNvSpPr>
            <a:spLocks noGrp="1"/>
          </p:cNvSpPr>
          <p:nvPr>
            <p:ph type="ftr" sz="quarter" idx="5"/>
          </p:nvPr>
        </p:nvSpPr>
        <p:spPr>
          <a:xfrm>
            <a:off x="2571369" y="10191234"/>
            <a:ext cx="2420112" cy="184666"/>
          </a:xfrm>
        </p:spPr>
        <p:txBody>
          <a:bodyPr/>
          <a:lstStyle/>
          <a:p>
            <a:r>
              <a:rPr lang="en-IN" sz="1200" dirty="0" smtClean="0"/>
              <a:t>17</a:t>
            </a:r>
            <a:endParaRPr lang="en-US" sz="1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1650" y="944314"/>
            <a:ext cx="5168441" cy="1520288"/>
          </a:xfrm>
          <a:prstGeom prst="rect">
            <a:avLst/>
          </a:prstGeom>
        </p:spPr>
        <p:txBody>
          <a:bodyPr vert="horz" wrap="square" lIns="0" tIns="12065" rIns="0" bIns="0" rtlCol="0">
            <a:spAutoFit/>
          </a:bodyPr>
          <a:lstStyle/>
          <a:p>
            <a:pPr marL="1037590" algn="ctr">
              <a:lnSpc>
                <a:spcPct val="100000"/>
              </a:lnSpc>
              <a:spcBef>
                <a:spcPts val="95"/>
              </a:spcBef>
            </a:pPr>
            <a:r>
              <a:rPr lang="en-IN" sz="2000" b="1" dirty="0" smtClean="0">
                <a:latin typeface="Times New Roman"/>
                <a:cs typeface="Times New Roman"/>
              </a:rPr>
              <a:t>        </a:t>
            </a:r>
            <a:r>
              <a:rPr sz="2000" b="1" smtClean="0">
                <a:latin typeface="Times New Roman"/>
                <a:cs typeface="Times New Roman"/>
              </a:rPr>
              <a:t>CHAPTER</a:t>
            </a:r>
            <a:r>
              <a:rPr sz="2000" b="1" spc="-35" smtClean="0">
                <a:latin typeface="Times New Roman"/>
                <a:cs typeface="Times New Roman"/>
              </a:rPr>
              <a:t> </a:t>
            </a:r>
            <a:r>
              <a:rPr sz="2000" b="1" spc="-50" dirty="0">
                <a:latin typeface="Times New Roman"/>
                <a:cs typeface="Times New Roman"/>
              </a:rPr>
              <a:t>5</a:t>
            </a:r>
            <a:endParaRPr sz="2000">
              <a:latin typeface="Times New Roman"/>
              <a:cs typeface="Times New Roman"/>
            </a:endParaRPr>
          </a:p>
          <a:p>
            <a:pPr>
              <a:lnSpc>
                <a:spcPct val="100000"/>
              </a:lnSpc>
              <a:spcBef>
                <a:spcPts val="30"/>
              </a:spcBef>
            </a:pPr>
            <a:endParaRPr lang="en-IN" sz="1600" dirty="0" smtClean="0">
              <a:latin typeface="Times New Roman"/>
              <a:cs typeface="Times New Roman"/>
            </a:endParaRPr>
          </a:p>
          <a:p>
            <a:pPr>
              <a:lnSpc>
                <a:spcPct val="100000"/>
              </a:lnSpc>
              <a:spcBef>
                <a:spcPts val="30"/>
              </a:spcBef>
            </a:pPr>
            <a:endParaRPr lang="en-IN" sz="1600" dirty="0">
              <a:latin typeface="Times New Roman"/>
              <a:cs typeface="Times New Roman"/>
            </a:endParaRPr>
          </a:p>
          <a:p>
            <a:pPr>
              <a:lnSpc>
                <a:spcPct val="100000"/>
              </a:lnSpc>
              <a:spcBef>
                <a:spcPts val="30"/>
              </a:spcBef>
            </a:pPr>
            <a:endParaRPr lang="en-IN" sz="1600" dirty="0" smtClean="0">
              <a:latin typeface="Times New Roman"/>
              <a:cs typeface="Times New Roman"/>
            </a:endParaRPr>
          </a:p>
          <a:p>
            <a:pPr>
              <a:lnSpc>
                <a:spcPct val="100000"/>
              </a:lnSpc>
              <a:spcBef>
                <a:spcPts val="30"/>
              </a:spcBef>
            </a:pPr>
            <a:endParaRPr sz="1600">
              <a:latin typeface="Times New Roman"/>
              <a:cs typeface="Times New Roman"/>
            </a:endParaRPr>
          </a:p>
          <a:p>
            <a:pPr marL="12700">
              <a:lnSpc>
                <a:spcPct val="100000"/>
              </a:lnSpc>
              <a:tabLst>
                <a:tab pos="469265" algn="l"/>
              </a:tabLst>
            </a:pPr>
            <a:r>
              <a:rPr sz="1400" b="1" spc="-25" smtClean="0">
                <a:latin typeface="Times New Roman"/>
                <a:cs typeface="Times New Roman"/>
              </a:rPr>
              <a:t>5.1</a:t>
            </a:r>
            <a:r>
              <a:rPr lang="en-IN" sz="1400" b="1" spc="-25" dirty="0">
                <a:latin typeface="Times New Roman"/>
                <a:cs typeface="Times New Roman"/>
              </a:rPr>
              <a:t> </a:t>
            </a:r>
            <a:r>
              <a:rPr lang="en-IN" sz="1400" b="1" spc="-25" dirty="0" smtClean="0">
                <a:latin typeface="Times New Roman"/>
                <a:cs typeface="Times New Roman"/>
              </a:rPr>
              <a:t>  </a:t>
            </a:r>
            <a:r>
              <a:rPr sz="1400" b="1" smtClean="0">
                <a:latin typeface="Times New Roman"/>
                <a:cs typeface="Times New Roman"/>
              </a:rPr>
              <a:t>Software</a:t>
            </a:r>
            <a:r>
              <a:rPr sz="1400" b="1" spc="-30" smtClean="0">
                <a:latin typeface="Times New Roman"/>
                <a:cs typeface="Times New Roman"/>
              </a:rPr>
              <a:t> </a:t>
            </a:r>
            <a:r>
              <a:rPr sz="1400" b="1" spc="-10" smtClean="0">
                <a:latin typeface="Times New Roman"/>
                <a:cs typeface="Times New Roman"/>
              </a:rPr>
              <a:t>Implementation</a:t>
            </a:r>
            <a:endParaRPr sz="1400">
              <a:latin typeface="Times New Roman"/>
              <a:cs typeface="Times New Roman"/>
            </a:endParaRPr>
          </a:p>
        </p:txBody>
      </p:sp>
      <p:pic>
        <p:nvPicPr>
          <p:cNvPr id="2050" name="Picture 2"/>
          <p:cNvPicPr>
            <a:picLocks noChangeAspect="1" noChangeArrowheads="1"/>
          </p:cNvPicPr>
          <p:nvPr/>
        </p:nvPicPr>
        <p:blipFill>
          <a:blip r:embed="rId2"/>
          <a:srcRect/>
          <a:stretch>
            <a:fillRect/>
          </a:stretch>
        </p:blipFill>
        <p:spPr bwMode="auto">
          <a:xfrm>
            <a:off x="501650" y="2527300"/>
            <a:ext cx="3284269" cy="3236912"/>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159250" y="2527300"/>
            <a:ext cx="3000082" cy="3275012"/>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501650" y="6184900"/>
            <a:ext cx="6705600" cy="3457575"/>
          </a:xfrm>
          <a:prstGeom prst="rect">
            <a:avLst/>
          </a:prstGeom>
          <a:noFill/>
          <a:ln w="9525">
            <a:noFill/>
            <a:miter lim="800000"/>
            <a:headEnd/>
            <a:tailEnd/>
          </a:ln>
          <a:effectLst/>
        </p:spPr>
      </p:pic>
      <p:sp>
        <p:nvSpPr>
          <p:cNvPr id="8" name="TextBox 7"/>
          <p:cNvSpPr txBox="1"/>
          <p:nvPr/>
        </p:nvSpPr>
        <p:spPr>
          <a:xfrm>
            <a:off x="577850" y="5880100"/>
            <a:ext cx="3048000" cy="276999"/>
          </a:xfrm>
          <a:prstGeom prst="rect">
            <a:avLst/>
          </a:prstGeom>
          <a:noFill/>
        </p:spPr>
        <p:txBody>
          <a:bodyPr wrap="square" rtlCol="0">
            <a:spAutoFit/>
          </a:bodyPr>
          <a:lstStyle/>
          <a:p>
            <a:pPr algn="ctr"/>
            <a:r>
              <a:rPr lang="en-IN" sz="1200" dirty="0" smtClean="0">
                <a:latin typeface="Times New Roman" pitchFamily="18" charset="0"/>
                <a:cs typeface="Times New Roman" pitchFamily="18" charset="0"/>
              </a:rPr>
              <a:t>Fig .5.1 Disturbed Path</a:t>
            </a:r>
            <a:endParaRPr lang="en-US" sz="1200" dirty="0">
              <a:latin typeface="Times New Roman" pitchFamily="18" charset="0"/>
              <a:cs typeface="Times New Roman" pitchFamily="18" charset="0"/>
            </a:endParaRPr>
          </a:p>
        </p:txBody>
      </p:sp>
      <p:sp>
        <p:nvSpPr>
          <p:cNvPr id="9" name="TextBox 8"/>
          <p:cNvSpPr txBox="1"/>
          <p:nvPr/>
        </p:nvSpPr>
        <p:spPr>
          <a:xfrm>
            <a:off x="4464050" y="5880100"/>
            <a:ext cx="2667000" cy="276999"/>
          </a:xfrm>
          <a:prstGeom prst="rect">
            <a:avLst/>
          </a:prstGeom>
          <a:noFill/>
        </p:spPr>
        <p:txBody>
          <a:bodyPr wrap="square" rtlCol="0">
            <a:spAutoFit/>
          </a:bodyPr>
          <a:lstStyle/>
          <a:p>
            <a:pPr algn="ctr"/>
            <a:r>
              <a:rPr lang="en-IN" sz="1200" dirty="0" smtClean="0">
                <a:latin typeface="Times New Roman" pitchFamily="18" charset="0"/>
                <a:cs typeface="Times New Roman" pitchFamily="18" charset="0"/>
              </a:rPr>
              <a:t>Fig .5.2 Continuous Path</a:t>
            </a:r>
            <a:endParaRPr lang="en-US" sz="1200" dirty="0">
              <a:latin typeface="Times New Roman" pitchFamily="18" charset="0"/>
              <a:cs typeface="Times New Roman" pitchFamily="18" charset="0"/>
            </a:endParaRPr>
          </a:p>
        </p:txBody>
      </p:sp>
      <p:sp>
        <p:nvSpPr>
          <p:cNvPr id="10" name="TextBox 9"/>
          <p:cNvSpPr txBox="1"/>
          <p:nvPr/>
        </p:nvSpPr>
        <p:spPr>
          <a:xfrm>
            <a:off x="1644650" y="9766300"/>
            <a:ext cx="4495800" cy="276999"/>
          </a:xfrm>
          <a:prstGeom prst="rect">
            <a:avLst/>
          </a:prstGeom>
          <a:noFill/>
        </p:spPr>
        <p:txBody>
          <a:bodyPr wrap="square" rtlCol="0">
            <a:spAutoFit/>
          </a:bodyPr>
          <a:lstStyle/>
          <a:p>
            <a:pPr algn="ctr"/>
            <a:r>
              <a:rPr lang="en-IN" sz="1200" dirty="0" smtClean="0">
                <a:latin typeface="Times New Roman" pitchFamily="18" charset="0"/>
                <a:cs typeface="Times New Roman" pitchFamily="18" charset="0"/>
              </a:rPr>
              <a:t>Fig .5.3 Circuit with </a:t>
            </a:r>
            <a:r>
              <a:rPr lang="en-IN" sz="1200" dirty="0" err="1" smtClean="0">
                <a:latin typeface="Times New Roman" pitchFamily="18" charset="0"/>
                <a:cs typeface="Times New Roman" pitchFamily="18" charset="0"/>
              </a:rPr>
              <a:t>Arduino</a:t>
            </a:r>
            <a:r>
              <a:rPr lang="en-IN" sz="1200" dirty="0" smtClean="0">
                <a:latin typeface="Times New Roman" pitchFamily="18" charset="0"/>
                <a:cs typeface="Times New Roman" pitchFamily="18" charset="0"/>
              </a:rPr>
              <a:t> UNO</a:t>
            </a:r>
            <a:endParaRPr lang="en-US" sz="1200" dirty="0">
              <a:latin typeface="Times New Roman" pitchFamily="18" charset="0"/>
              <a:cs typeface="Times New Roman" pitchFamily="18" charset="0"/>
            </a:endParaRPr>
          </a:p>
        </p:txBody>
      </p:sp>
      <p:sp>
        <p:nvSpPr>
          <p:cNvPr id="12" name="TextBox 11"/>
          <p:cNvSpPr txBox="1"/>
          <p:nvPr/>
        </p:nvSpPr>
        <p:spPr>
          <a:xfrm>
            <a:off x="1492250" y="1079500"/>
            <a:ext cx="4876800" cy="923330"/>
          </a:xfrm>
          <a:prstGeom prst="rect">
            <a:avLst/>
          </a:prstGeom>
          <a:noFill/>
        </p:spPr>
        <p:txBody>
          <a:bodyPr wrap="square" rtlCol="0">
            <a:spAutoFit/>
          </a:bodyPr>
          <a:lstStyle/>
          <a:p>
            <a:pPr algn="ctr"/>
            <a:endParaRPr lang="en-US" sz="1600" b="1" dirty="0" smtClean="0">
              <a:latin typeface="Times New Roman"/>
              <a:cs typeface="Times New Roman"/>
            </a:endParaRPr>
          </a:p>
          <a:p>
            <a:pPr algn="ctr"/>
            <a:r>
              <a:rPr lang="en-US" sz="2000" b="1" dirty="0" smtClean="0">
                <a:latin typeface="Times New Roman"/>
                <a:cs typeface="Times New Roman"/>
              </a:rPr>
              <a:t>IMPLEMENTATION</a:t>
            </a:r>
            <a:r>
              <a:rPr lang="en-US" sz="2000" b="1" spc="-30" dirty="0" smtClean="0">
                <a:latin typeface="Times New Roman"/>
                <a:cs typeface="Times New Roman"/>
              </a:rPr>
              <a:t> </a:t>
            </a:r>
            <a:r>
              <a:rPr lang="en-US" sz="2000" b="1" dirty="0" smtClean="0">
                <a:latin typeface="Times New Roman"/>
                <a:cs typeface="Times New Roman"/>
              </a:rPr>
              <a:t>AND</a:t>
            </a:r>
            <a:r>
              <a:rPr lang="en-US" sz="2000" b="1" spc="-30" dirty="0" smtClean="0">
                <a:latin typeface="Times New Roman"/>
                <a:cs typeface="Times New Roman"/>
              </a:rPr>
              <a:t> </a:t>
            </a:r>
            <a:r>
              <a:rPr lang="en-US" sz="2000" b="1" spc="-10" dirty="0" smtClean="0">
                <a:latin typeface="Times New Roman"/>
                <a:cs typeface="Times New Roman"/>
              </a:rPr>
              <a:t>RESULTS</a:t>
            </a:r>
            <a:endParaRPr lang="en-US" sz="2000" dirty="0" smtClean="0">
              <a:latin typeface="Times New Roman"/>
              <a:cs typeface="Times New Roman"/>
            </a:endParaRPr>
          </a:p>
          <a:p>
            <a:endParaRPr lang="en-US" dirty="0"/>
          </a:p>
        </p:txBody>
      </p:sp>
      <p:sp>
        <p:nvSpPr>
          <p:cNvPr id="11" name="Footer Placeholder 10"/>
          <p:cNvSpPr>
            <a:spLocks noGrp="1"/>
          </p:cNvSpPr>
          <p:nvPr>
            <p:ph type="ftr" sz="quarter" idx="5"/>
          </p:nvPr>
        </p:nvSpPr>
        <p:spPr>
          <a:xfrm>
            <a:off x="2571369" y="10191234"/>
            <a:ext cx="2420112" cy="184666"/>
          </a:xfrm>
        </p:spPr>
        <p:txBody>
          <a:bodyPr/>
          <a:lstStyle/>
          <a:p>
            <a:r>
              <a:rPr lang="en-IN" sz="1200" dirty="0" smtClean="0"/>
              <a:t>18</a:t>
            </a:r>
            <a:endParaRPr lang="en-US" sz="12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650" y="2679700"/>
            <a:ext cx="6806565" cy="215444"/>
          </a:xfrm>
        </p:spPr>
        <p:txBody>
          <a:bodyPr/>
          <a:lstStyle/>
          <a:p>
            <a:pPr algn="l"/>
            <a:r>
              <a:rPr lang="en-IN" sz="1400" b="1" dirty="0" smtClean="0">
                <a:latin typeface="Times New Roman" pitchFamily="18" charset="0"/>
                <a:cs typeface="Times New Roman" pitchFamily="18" charset="0"/>
              </a:rPr>
              <a:t>5.2    Hardware Implementation</a:t>
            </a:r>
            <a:endParaRPr lang="en-US" sz="1400" b="1" dirty="0">
              <a:latin typeface="Times New Roman" pitchFamily="18" charset="0"/>
              <a:cs typeface="Times New Roman" pitchFamily="18" charset="0"/>
            </a:endParaRPr>
          </a:p>
        </p:txBody>
      </p:sp>
      <p:sp>
        <p:nvSpPr>
          <p:cNvPr id="3" name="Text Placeholder 2"/>
          <p:cNvSpPr>
            <a:spLocks noGrp="1"/>
          </p:cNvSpPr>
          <p:nvPr>
            <p:ph type="body" idx="1"/>
          </p:nvPr>
        </p:nvSpPr>
        <p:spPr>
          <a:xfrm>
            <a:off x="730250" y="3213100"/>
            <a:ext cx="6172200" cy="3508653"/>
          </a:xfrm>
        </p:spPr>
        <p:txBody>
          <a:bodyPr/>
          <a:lstStyle/>
          <a:p>
            <a:pPr algn="just"/>
            <a:r>
              <a:rPr lang="en-IN" sz="1200" b="1" dirty="0" smtClean="0">
                <a:latin typeface="Times New Roman" pitchFamily="18" charset="0"/>
                <a:cs typeface="Times New Roman" pitchFamily="18" charset="0"/>
              </a:rPr>
              <a:t>1. Laser module Connection:</a:t>
            </a:r>
          </a:p>
          <a:p>
            <a:pPr algn="just">
              <a:buFont typeface="Arial" pitchFamily="34" charset="0"/>
              <a:buChar char="•"/>
            </a:pPr>
            <a:r>
              <a:rPr lang="en-IN" sz="1200" b="1" dirty="0" smtClean="0">
                <a:latin typeface="Times New Roman" pitchFamily="18" charset="0"/>
                <a:cs typeface="Times New Roman" pitchFamily="18" charset="0"/>
              </a:rPr>
              <a:t>  </a:t>
            </a:r>
            <a:r>
              <a:rPr lang="en-US" sz="1200" b="1" dirty="0" smtClean="0">
                <a:latin typeface="Times New Roman" pitchFamily="18" charset="0"/>
                <a:cs typeface="Times New Roman" pitchFamily="18" charset="0"/>
              </a:rPr>
              <a:t>VCC</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5V</a:t>
            </a:r>
          </a:p>
          <a:p>
            <a:pPr algn="just">
              <a:buFont typeface="Arial" pitchFamily="34" charset="0"/>
              <a:buChar char="•"/>
            </a:pPr>
            <a:r>
              <a:rPr lang="en-US" sz="1200" b="1" dirty="0" smtClean="0">
                <a:latin typeface="Times New Roman" pitchFamily="18" charset="0"/>
                <a:cs typeface="Times New Roman" pitchFamily="18" charset="0"/>
              </a:rPr>
              <a:t>   GND  </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GND.</a:t>
            </a:r>
          </a:p>
          <a:p>
            <a:pPr algn="just">
              <a:buFont typeface="Arial" pitchFamily="34" charset="0"/>
              <a:buChar char="•"/>
            </a:pPr>
            <a:r>
              <a:rPr lang="en-US" sz="1200" dirty="0" smtClean="0">
                <a:latin typeface="Times New Roman" pitchFamily="18" charset="0"/>
                <a:cs typeface="Times New Roman" pitchFamily="18" charset="0"/>
              </a:rPr>
              <a:t>   Position the laser to shine directly on the LDR for normal operation.</a:t>
            </a:r>
          </a:p>
          <a:p>
            <a:pPr algn="just">
              <a:buFont typeface="Arial" pitchFamily="34" charset="0"/>
              <a:buChar char="•"/>
            </a:pPr>
            <a:endParaRPr lang="en-IN" sz="1200" b="1" dirty="0" smtClean="0">
              <a:latin typeface="Times New Roman" pitchFamily="18" charset="0"/>
              <a:cs typeface="Times New Roman" pitchFamily="18" charset="0"/>
            </a:endParaRPr>
          </a:p>
          <a:p>
            <a:pPr marL="228600" indent="-228600" algn="just"/>
            <a:r>
              <a:rPr lang="en-IN" sz="1200" b="1" dirty="0" smtClean="0">
                <a:latin typeface="Times New Roman" pitchFamily="18" charset="0"/>
                <a:cs typeface="Times New Roman" pitchFamily="18" charset="0"/>
              </a:rPr>
              <a:t>2. Finger Print Sensor Connection:</a:t>
            </a:r>
          </a:p>
          <a:p>
            <a:pPr algn="just">
              <a:buFont typeface="Arial" pitchFamily="34" charset="0"/>
              <a:buChar char="•"/>
            </a:pPr>
            <a:r>
              <a:rPr lang="en-US" sz="1200" b="1" dirty="0" smtClean="0">
                <a:latin typeface="Times New Roman" pitchFamily="18" charset="0"/>
                <a:cs typeface="Times New Roman" pitchFamily="18" charset="0"/>
              </a:rPr>
              <a:t>   VCC  </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5V.</a:t>
            </a:r>
          </a:p>
          <a:p>
            <a:pPr algn="just">
              <a:buFont typeface="Arial" pitchFamily="34" charset="0"/>
              <a:buChar char="•"/>
            </a:pPr>
            <a:r>
              <a:rPr lang="en-US" sz="1200" b="1" dirty="0" smtClean="0">
                <a:latin typeface="Times New Roman" pitchFamily="18" charset="0"/>
                <a:cs typeface="Times New Roman" pitchFamily="18" charset="0"/>
              </a:rPr>
              <a:t>   GND  </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GND.</a:t>
            </a:r>
          </a:p>
          <a:p>
            <a:pPr algn="just">
              <a:buFont typeface="Arial" pitchFamily="34" charset="0"/>
              <a:buChar char="•"/>
            </a:pPr>
            <a:r>
              <a:rPr lang="en-US" sz="1200" b="1" dirty="0" smtClean="0">
                <a:latin typeface="Times New Roman" pitchFamily="18" charset="0"/>
                <a:cs typeface="Times New Roman" pitchFamily="18" charset="0"/>
              </a:rPr>
              <a:t>   TX    </a:t>
            </a:r>
            <a:r>
              <a:rPr lang="en-US" sz="1200" dirty="0" smtClean="0">
                <a:latin typeface="Times New Roman" pitchFamily="18" charset="0"/>
                <a:cs typeface="Times New Roman" pitchFamily="18" charset="0"/>
              </a:rPr>
              <a:t>→   RX on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(Pin 2).</a:t>
            </a:r>
          </a:p>
          <a:p>
            <a:pPr algn="just">
              <a:buFont typeface="Arial" pitchFamily="34" charset="0"/>
              <a:buChar char="•"/>
            </a:pPr>
            <a:r>
              <a:rPr lang="en-US" sz="1200" b="1" dirty="0" smtClean="0">
                <a:latin typeface="Times New Roman" pitchFamily="18" charset="0"/>
                <a:cs typeface="Times New Roman" pitchFamily="18" charset="0"/>
              </a:rPr>
              <a:t>   RX    </a:t>
            </a:r>
            <a:r>
              <a:rPr lang="en-US" sz="1200" dirty="0" smtClean="0">
                <a:latin typeface="Times New Roman" pitchFamily="18" charset="0"/>
                <a:cs typeface="Times New Roman" pitchFamily="18" charset="0"/>
              </a:rPr>
              <a:t>→  TX on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(Pin 3).</a:t>
            </a:r>
          </a:p>
          <a:p>
            <a:pPr algn="just">
              <a:buFont typeface="Arial" pitchFamily="34" charset="0"/>
              <a:buChar char="•"/>
            </a:pPr>
            <a:endParaRPr lang="en-IN" sz="1200" dirty="0" smtClean="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3.  5V  Relay Module Connection:</a:t>
            </a:r>
          </a:p>
          <a:p>
            <a:pPr algn="just"/>
            <a:endParaRPr lang="en-IN" sz="1200" dirty="0" smtClean="0">
              <a:latin typeface="Times New Roman" pitchFamily="18" charset="0"/>
              <a:cs typeface="Times New Roman" pitchFamily="18" charset="0"/>
            </a:endParaRPr>
          </a:p>
          <a:p>
            <a:pPr algn="just">
              <a:buFont typeface="Arial" pitchFamily="34" charset="0"/>
              <a:buChar char="•"/>
            </a:pPr>
            <a:r>
              <a:rPr lang="en-US" sz="1200" b="1" dirty="0" smtClean="0">
                <a:latin typeface="Times New Roman" pitchFamily="18" charset="0"/>
                <a:cs typeface="Times New Roman" pitchFamily="18" charset="0"/>
              </a:rPr>
              <a:t>  VCC (Relay)</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5V.</a:t>
            </a:r>
          </a:p>
          <a:p>
            <a:pPr algn="just">
              <a:buFont typeface="Arial" pitchFamily="34" charset="0"/>
              <a:buChar char="•"/>
            </a:pPr>
            <a:r>
              <a:rPr lang="en-US" sz="1200" b="1" dirty="0" smtClean="0">
                <a:latin typeface="Times New Roman" pitchFamily="18" charset="0"/>
                <a:cs typeface="Times New Roman" pitchFamily="18" charset="0"/>
              </a:rPr>
              <a:t>  GND (Relay)</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GND.</a:t>
            </a:r>
            <a:endParaRPr lang="en-US" sz="1200" b="1" dirty="0" smtClean="0">
              <a:latin typeface="Times New Roman" pitchFamily="18" charset="0"/>
              <a:cs typeface="Times New Roman" pitchFamily="18" charset="0"/>
            </a:endParaRPr>
          </a:p>
          <a:p>
            <a:pPr algn="just">
              <a:buFont typeface="Arial" pitchFamily="34" charset="0"/>
              <a:buChar char="•"/>
            </a:pPr>
            <a:r>
              <a:rPr lang="en-US" sz="1200" b="1" dirty="0" smtClean="0">
                <a:latin typeface="Times New Roman" pitchFamily="18" charset="0"/>
                <a:cs typeface="Times New Roman" pitchFamily="18" charset="0"/>
              </a:rPr>
              <a:t>  Signal (IN)</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digital pin (Pin 8).</a:t>
            </a:r>
          </a:p>
          <a:p>
            <a:pPr marL="228600" indent="-228600" algn="just"/>
            <a:endParaRPr lang="en-IN" sz="1200" dirty="0" smtClean="0">
              <a:latin typeface="Times New Roman" pitchFamily="18" charset="0"/>
              <a:cs typeface="Times New Roman" pitchFamily="18" charset="0"/>
            </a:endParaRPr>
          </a:p>
          <a:p>
            <a:pPr marL="228600" indent="-228600"/>
            <a:endParaRPr lang="en-IN" sz="1200" b="1" dirty="0" smtClean="0">
              <a:latin typeface="Times New Roman" pitchFamily="18" charset="0"/>
              <a:cs typeface="Times New Roman" pitchFamily="18" charset="0"/>
            </a:endParaRPr>
          </a:p>
          <a:p>
            <a:pPr marL="228600" indent="-228600"/>
            <a:endParaRPr lang="en-IN" sz="1200" b="1" dirty="0" smtClean="0">
              <a:latin typeface="Times New Roman" pitchFamily="18" charset="0"/>
              <a:cs typeface="Times New Roman" pitchFamily="18" charset="0"/>
            </a:endParaRPr>
          </a:p>
        </p:txBody>
      </p:sp>
      <p:sp>
        <p:nvSpPr>
          <p:cNvPr id="5" name="TextBox 4"/>
          <p:cNvSpPr txBox="1"/>
          <p:nvPr/>
        </p:nvSpPr>
        <p:spPr>
          <a:xfrm>
            <a:off x="806450" y="774700"/>
            <a:ext cx="6172200" cy="1754326"/>
          </a:xfrm>
          <a:prstGeom prst="rect">
            <a:avLst/>
          </a:prstGeom>
          <a:noFill/>
        </p:spPr>
        <p:txBody>
          <a:bodyPr wrap="square" rtlCol="0">
            <a:spAutoFit/>
          </a:bodyPr>
          <a:lstStyle/>
          <a:p>
            <a:pPr algn="just"/>
            <a:r>
              <a:rPr lang="en-US" sz="1200" dirty="0" smtClean="0">
                <a:latin typeface="Times New Roman" pitchFamily="18" charset="0"/>
                <a:cs typeface="Times New Roman" pitchFamily="18" charset="0"/>
              </a:rPr>
              <a:t>Software implementation was done in the Proteus, a popular software where it is used for circuit design simulation, Microcontroller simulation, </a:t>
            </a:r>
            <a:r>
              <a:rPr lang="en-US" sz="1200" dirty="0" err="1">
                <a:latin typeface="Times New Roman" pitchFamily="18" charset="0"/>
                <a:cs typeface="Times New Roman" pitchFamily="18" charset="0"/>
              </a:rPr>
              <a:t>I</a:t>
            </a:r>
            <a:r>
              <a:rPr lang="en-US" sz="1200" dirty="0" err="1" smtClean="0">
                <a:latin typeface="Times New Roman" pitchFamily="18" charset="0"/>
                <a:cs typeface="Times New Roman" pitchFamily="18" charset="0"/>
              </a:rPr>
              <a:t>ot</a:t>
            </a:r>
            <a:r>
              <a:rPr lang="en-US" sz="1200" dirty="0" smtClean="0">
                <a:latin typeface="Times New Roman" pitchFamily="18" charset="0"/>
                <a:cs typeface="Times New Roman" pitchFamily="18" charset="0"/>
              </a:rPr>
              <a:t> prototypes and error detection etc. To model this project, components for laser security system are present in </a:t>
            </a:r>
            <a:r>
              <a:rPr lang="en-US" sz="1200" dirty="0" err="1" smtClean="0">
                <a:latin typeface="Times New Roman" pitchFamily="18" charset="0"/>
                <a:cs typeface="Times New Roman" pitchFamily="18" charset="0"/>
              </a:rPr>
              <a:t>proteus</a:t>
            </a:r>
            <a:r>
              <a:rPr lang="en-US" sz="1200" dirty="0" smtClean="0">
                <a:latin typeface="Times New Roman" pitchFamily="18" charset="0"/>
                <a:cs typeface="Times New Roman" pitchFamily="18" charset="0"/>
              </a:rPr>
              <a:t> but for components like </a:t>
            </a:r>
            <a:r>
              <a:rPr lang="en-US" sz="1200" dirty="0" err="1" smtClean="0">
                <a:latin typeface="Times New Roman" pitchFamily="18" charset="0"/>
                <a:cs typeface="Times New Roman" pitchFamily="18" charset="0"/>
              </a:rPr>
              <a:t>arduino</a:t>
            </a:r>
            <a:r>
              <a:rPr lang="en-US" sz="1200" dirty="0" smtClean="0">
                <a:latin typeface="Times New Roman" pitchFamily="18" charset="0"/>
                <a:cs typeface="Times New Roman" pitchFamily="18" charset="0"/>
              </a:rPr>
              <a:t>, Fingerprint sensor and relay module we need to install library from external </a:t>
            </a:r>
            <a:r>
              <a:rPr lang="en-US" sz="1200" dirty="0" err="1" smtClean="0">
                <a:latin typeface="Times New Roman" pitchFamily="18" charset="0"/>
                <a:cs typeface="Times New Roman" pitchFamily="18" charset="0"/>
              </a:rPr>
              <a:t>souces</a:t>
            </a:r>
            <a:r>
              <a:rPr lang="en-US" sz="1200" dirty="0" smtClean="0">
                <a:latin typeface="Times New Roman" pitchFamily="18" charset="0"/>
                <a:cs typeface="Times New Roman" pitchFamily="18" charset="0"/>
              </a:rPr>
              <a:t>[6]. The Proteus environment allows us to design and test the circuit before implementing it physically, ensuring the functionality of the system is verified. Here the input is given to the sensor through </a:t>
            </a:r>
            <a:r>
              <a:rPr lang="en-US" sz="1200" dirty="0" err="1" smtClean="0">
                <a:latin typeface="Times New Roman" pitchFamily="18" charset="0"/>
                <a:cs typeface="Times New Roman" pitchFamily="18" charset="0"/>
              </a:rPr>
              <a:t>Ascii</a:t>
            </a:r>
            <a:r>
              <a:rPr lang="en-US" sz="1200" dirty="0">
                <a:latin typeface="Times New Roman" pitchFamily="18" charset="0"/>
                <a:cs typeface="Times New Roman" pitchFamily="18" charset="0"/>
              </a:rPr>
              <a:t> </a:t>
            </a:r>
            <a:r>
              <a:rPr lang="en-US" sz="1200" dirty="0" smtClean="0">
                <a:latin typeface="Times New Roman" pitchFamily="18" charset="0"/>
                <a:cs typeface="Times New Roman" pitchFamily="18" charset="0"/>
              </a:rPr>
              <a:t>file [7] if the file is matched with the stored data the system will work step by step. This software implementation in Proteus helps visualize the entire process, identify potential issues, and refine the design before physical assembly.</a:t>
            </a:r>
          </a:p>
        </p:txBody>
      </p:sp>
      <p:sp>
        <p:nvSpPr>
          <p:cNvPr id="6" name="Footer Placeholder 5"/>
          <p:cNvSpPr>
            <a:spLocks noGrp="1"/>
          </p:cNvSpPr>
          <p:nvPr>
            <p:ph type="ftr" sz="quarter" idx="5"/>
          </p:nvPr>
        </p:nvSpPr>
        <p:spPr>
          <a:xfrm>
            <a:off x="2571369" y="10191234"/>
            <a:ext cx="2420112" cy="184666"/>
          </a:xfrm>
        </p:spPr>
        <p:txBody>
          <a:bodyPr/>
          <a:lstStyle/>
          <a:p>
            <a:r>
              <a:rPr lang="en-IN" sz="1200" dirty="0" smtClean="0"/>
              <a:t>19</a:t>
            </a:r>
            <a:endParaRPr lang="en-US" sz="1200" dirty="0"/>
          </a:p>
        </p:txBody>
      </p:sp>
      <p:pic>
        <p:nvPicPr>
          <p:cNvPr id="4098" name="Picture 2"/>
          <p:cNvPicPr>
            <a:picLocks noChangeAspect="1" noChangeArrowheads="1"/>
          </p:cNvPicPr>
          <p:nvPr/>
        </p:nvPicPr>
        <p:blipFill>
          <a:blip r:embed="rId2"/>
          <a:srcRect/>
          <a:stretch>
            <a:fillRect/>
          </a:stretch>
        </p:blipFill>
        <p:spPr bwMode="auto">
          <a:xfrm>
            <a:off x="1111250" y="6184901"/>
            <a:ext cx="5638800" cy="3657600"/>
          </a:xfrm>
          <a:prstGeom prst="rect">
            <a:avLst/>
          </a:prstGeom>
          <a:noFill/>
          <a:ln w="9525">
            <a:noFill/>
            <a:miter lim="800000"/>
            <a:headEnd/>
            <a:tailEnd/>
          </a:ln>
          <a:effectLst/>
        </p:spPr>
      </p:pic>
      <p:sp>
        <p:nvSpPr>
          <p:cNvPr id="9" name="TextBox 8"/>
          <p:cNvSpPr txBox="1"/>
          <p:nvPr/>
        </p:nvSpPr>
        <p:spPr>
          <a:xfrm>
            <a:off x="3549650" y="9842500"/>
            <a:ext cx="3581400" cy="276999"/>
          </a:xfrm>
          <a:prstGeom prst="rect">
            <a:avLst/>
          </a:prstGeom>
          <a:noFill/>
        </p:spPr>
        <p:txBody>
          <a:bodyPr wrap="square" rtlCol="0">
            <a:spAutoFit/>
          </a:bodyPr>
          <a:lstStyle/>
          <a:p>
            <a:r>
              <a:rPr lang="en-US" sz="1200" dirty="0" smtClean="0">
                <a:latin typeface="Times New Roman" pitchFamily="18" charset="0"/>
                <a:cs typeface="Times New Roman" pitchFamily="18" charset="0"/>
              </a:rPr>
              <a:t>Fig 5.2.1</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18204" y="944314"/>
            <a:ext cx="3163976" cy="319959"/>
          </a:xfrm>
          <a:prstGeom prst="rect">
            <a:avLst/>
          </a:prstGeom>
        </p:spPr>
        <p:txBody>
          <a:bodyPr vert="horz" wrap="square" lIns="0" tIns="12065" rIns="0" bIns="0" rtlCol="0">
            <a:spAutoFit/>
          </a:bodyPr>
          <a:lstStyle/>
          <a:p>
            <a:pPr algn="ctr">
              <a:lnSpc>
                <a:spcPct val="100000"/>
              </a:lnSpc>
              <a:spcBef>
                <a:spcPts val="95"/>
              </a:spcBef>
            </a:pPr>
            <a:r>
              <a:rPr sz="2000" b="1">
                <a:latin typeface="Times New Roman"/>
                <a:cs typeface="Times New Roman"/>
              </a:rPr>
              <a:t>CHAPTER</a:t>
            </a:r>
            <a:r>
              <a:rPr sz="2000" b="1" spc="-35">
                <a:latin typeface="Times New Roman"/>
                <a:cs typeface="Times New Roman"/>
              </a:rPr>
              <a:t> </a:t>
            </a:r>
            <a:r>
              <a:rPr sz="2000" b="1" spc="-50" smtClean="0">
                <a:latin typeface="Times New Roman"/>
                <a:cs typeface="Times New Roman"/>
              </a:rPr>
              <a:t>6</a:t>
            </a:r>
            <a:endParaRPr sz="2000">
              <a:latin typeface="Times New Roman"/>
              <a:cs typeface="Times New Roman"/>
            </a:endParaRPr>
          </a:p>
        </p:txBody>
      </p:sp>
      <p:sp>
        <p:nvSpPr>
          <p:cNvPr id="5" name="TextBox 4"/>
          <p:cNvSpPr txBox="1"/>
          <p:nvPr/>
        </p:nvSpPr>
        <p:spPr>
          <a:xfrm>
            <a:off x="958850" y="1384300"/>
            <a:ext cx="6019800" cy="6678751"/>
          </a:xfrm>
          <a:prstGeom prst="rect">
            <a:avLst/>
          </a:prstGeom>
          <a:noFill/>
        </p:spPr>
        <p:txBody>
          <a:bodyPr wrap="square" rtlCol="0">
            <a:spAutoFit/>
          </a:bodyPr>
          <a:lstStyle/>
          <a:p>
            <a:pPr algn="ctr"/>
            <a:r>
              <a:rPr lang="en-IN" sz="2000" b="1" dirty="0" smtClean="0">
                <a:latin typeface="Times New Roman" pitchFamily="18" charset="0"/>
                <a:cs typeface="Times New Roman" pitchFamily="18" charset="0"/>
              </a:rPr>
              <a:t>ADVANTAGES &amp;  APLICATIONS</a:t>
            </a:r>
          </a:p>
          <a:p>
            <a:pPr algn="just"/>
            <a:endParaRPr lang="en-IN" sz="1200" b="1" dirty="0" smtClean="0">
              <a:latin typeface="Times New Roman" pitchFamily="18" charset="0"/>
              <a:cs typeface="Times New Roman" pitchFamily="18" charset="0"/>
            </a:endParaRPr>
          </a:p>
          <a:p>
            <a:pPr algn="just"/>
            <a:r>
              <a:rPr lang="en-IN" sz="1200" b="1" dirty="0" smtClean="0">
                <a:latin typeface="Times New Roman" pitchFamily="18" charset="0"/>
                <a:cs typeface="Times New Roman" pitchFamily="18" charset="0"/>
              </a:rPr>
              <a:t>Some advantages of this project :</a:t>
            </a:r>
          </a:p>
          <a:p>
            <a:pPr algn="just"/>
            <a:endParaRPr lang="en-US" sz="1200" b="1" dirty="0" smtClean="0">
              <a:latin typeface="Times New Roman" pitchFamily="18" charset="0"/>
              <a:cs typeface="Times New Roman" pitchFamily="18" charset="0"/>
            </a:endParaRPr>
          </a:p>
          <a:p>
            <a:pPr lvl="1" algn="just">
              <a:buFont typeface="Arial" pitchFamily="34" charset="0"/>
              <a:buChar char="•"/>
            </a:pPr>
            <a:r>
              <a:rPr lang="en-US" sz="1200" dirty="0" smtClean="0">
                <a:latin typeface="Times New Roman" pitchFamily="18" charset="0"/>
                <a:cs typeface="Times New Roman" pitchFamily="18" charset="0"/>
              </a:rPr>
              <a:t>  Combines biometric authentication with laser-based intrusion detection, providing dual-layered protection.</a:t>
            </a:r>
          </a:p>
          <a:p>
            <a:pPr lvl="1" algn="just">
              <a:buFont typeface="Arial" pitchFamily="34" charset="0"/>
              <a:buChar char="•"/>
            </a:pPr>
            <a:r>
              <a:rPr lang="en-US" sz="1200" dirty="0" smtClean="0">
                <a:latin typeface="Times New Roman" pitchFamily="18" charset="0"/>
                <a:cs typeface="Times New Roman" pitchFamily="18" charset="0"/>
              </a:rPr>
              <a:t>  The laser and LDR setup can detect any physical tampering or obstruction, triggering alarms for immediate action.</a:t>
            </a:r>
          </a:p>
          <a:p>
            <a:pPr lvl="1" algn="just">
              <a:buFont typeface="Arial" pitchFamily="34" charset="0"/>
              <a:buChar char="•"/>
            </a:pPr>
            <a:r>
              <a:rPr lang="en-US" sz="1200" dirty="0" smtClean="0">
                <a:latin typeface="Times New Roman" pitchFamily="18" charset="0"/>
                <a:cs typeface="Times New Roman" pitchFamily="18" charset="0"/>
              </a:rPr>
              <a:t>  Uses affordable components like LDRs, transistors, and microcontrollers, making the system accessible for various budgets.</a:t>
            </a:r>
          </a:p>
          <a:p>
            <a:pPr lvl="1" algn="just">
              <a:buFont typeface="Arial" pitchFamily="34" charset="0"/>
              <a:buChar char="•"/>
            </a:pPr>
            <a:r>
              <a:rPr lang="en-US" sz="1200" dirty="0" smtClean="0">
                <a:latin typeface="Times New Roman" pitchFamily="18" charset="0"/>
                <a:cs typeface="Times New Roman" pitchFamily="18" charset="0"/>
              </a:rPr>
              <a:t>  The system operates on low power, with components like lasers and sensors optimized for minimal energy consumption.</a:t>
            </a:r>
          </a:p>
          <a:p>
            <a:pPr lvl="1" algn="just">
              <a:buFont typeface="Arial" pitchFamily="34" charset="0"/>
              <a:buChar char="•"/>
            </a:pPr>
            <a:r>
              <a:rPr lang="en-US" sz="1200" dirty="0" smtClean="0">
                <a:latin typeface="Times New Roman" pitchFamily="18" charset="0"/>
                <a:cs typeface="Times New Roman" pitchFamily="18" charset="0"/>
              </a:rPr>
              <a:t>  User-friendly operation through biometric authentication eliminates the need for keys or passwords, which can be lost or forgotten.</a:t>
            </a:r>
          </a:p>
          <a:p>
            <a:pPr lvl="1" algn="just">
              <a:buFont typeface="Arial" pitchFamily="34" charset="0"/>
              <a:buChar char="•"/>
            </a:pPr>
            <a:r>
              <a:rPr lang="en-US" sz="1200" dirty="0" smtClean="0">
                <a:latin typeface="Times New Roman" pitchFamily="18" charset="0"/>
                <a:cs typeface="Times New Roman" pitchFamily="18" charset="0"/>
              </a:rPr>
              <a:t>  The design can be expanded to include additional sensors, cameras, or alarms for larger-scale applications.</a:t>
            </a:r>
          </a:p>
          <a:p>
            <a:pPr lvl="1" algn="just">
              <a:buFont typeface="Arial" pitchFamily="34" charset="0"/>
              <a:buChar char="•"/>
            </a:pPr>
            <a:r>
              <a:rPr lang="en-US" sz="1200" dirty="0" smtClean="0">
                <a:latin typeface="Times New Roman" pitchFamily="18" charset="0"/>
                <a:cs typeface="Times New Roman" pitchFamily="18" charset="0"/>
              </a:rPr>
              <a:t>  Alerts can be configured and expanded as SMS notifications or </a:t>
            </a:r>
            <a:r>
              <a:rPr lang="en-US" sz="1200" dirty="0" err="1" smtClean="0">
                <a:latin typeface="Times New Roman" pitchFamily="18" charset="0"/>
                <a:cs typeface="Times New Roman" pitchFamily="18" charset="0"/>
              </a:rPr>
              <a:t>IoT</a:t>
            </a:r>
            <a:r>
              <a:rPr lang="en-US" sz="1200" dirty="0" smtClean="0">
                <a:latin typeface="Times New Roman" pitchFamily="18" charset="0"/>
                <a:cs typeface="Times New Roman" pitchFamily="18" charset="0"/>
              </a:rPr>
              <a:t>-enabled responses for real-time monitoring</a:t>
            </a:r>
          </a:p>
          <a:p>
            <a:pPr lvl="1" algn="just"/>
            <a:endParaRPr lang="en-US" sz="1200" dirty="0">
              <a:latin typeface="Times New Roman" pitchFamily="18" charset="0"/>
              <a:cs typeface="Times New Roman" pitchFamily="18" charset="0"/>
            </a:endParaRPr>
          </a:p>
          <a:p>
            <a:pPr lvl="1" algn="just"/>
            <a:r>
              <a:rPr lang="en-US" sz="1200" b="1" dirty="0" smtClean="0">
                <a:latin typeface="Times New Roman" pitchFamily="18" charset="0"/>
                <a:cs typeface="Times New Roman" pitchFamily="18" charset="0"/>
              </a:rPr>
              <a:t>Some Applications of this project :</a:t>
            </a:r>
            <a:r>
              <a:rPr lang="en-US" sz="1600" dirty="0" smtClean="0">
                <a:latin typeface="Times New Roman" pitchFamily="18" charset="0"/>
                <a:cs typeface="Times New Roman" pitchFamily="18" charset="0"/>
              </a:rPr>
              <a:t> </a:t>
            </a:r>
          </a:p>
          <a:p>
            <a:pPr lvl="1" algn="just"/>
            <a:endParaRPr lang="en-US" sz="1200" dirty="0" smtClean="0">
              <a:latin typeface="Times New Roman" pitchFamily="18" charset="0"/>
              <a:cs typeface="Times New Roman" pitchFamily="18" charset="0"/>
            </a:endParaRPr>
          </a:p>
          <a:p>
            <a:pPr lvl="1" algn="just">
              <a:buFont typeface="Arial" pitchFamily="34" charset="0"/>
              <a:buChar char="•"/>
            </a:pPr>
            <a:r>
              <a:rPr lang="en-US" sz="1200" dirty="0" smtClean="0">
                <a:latin typeface="Times New Roman" pitchFamily="18" charset="0"/>
                <a:cs typeface="Times New Roman" pitchFamily="18" charset="0"/>
              </a:rPr>
              <a:t>  Ideal for offices, retail stores, and warehouses to safeguard against theft and unauthorized entry.</a:t>
            </a:r>
          </a:p>
          <a:p>
            <a:pPr lvl="1" algn="just">
              <a:buFont typeface="Arial" pitchFamily="34" charset="0"/>
              <a:buChar char="•"/>
            </a:pPr>
            <a:r>
              <a:rPr lang="en-US" sz="1200" dirty="0" smtClean="0">
                <a:latin typeface="Times New Roman" pitchFamily="18" charset="0"/>
                <a:cs typeface="Times New Roman" pitchFamily="18" charset="0"/>
              </a:rPr>
              <a:t>  Effective in protecting sensitive areas like data centers, research labs, and government facilities.</a:t>
            </a:r>
          </a:p>
          <a:p>
            <a:pPr lvl="1" algn="just">
              <a:buFont typeface="Arial" pitchFamily="34" charset="0"/>
              <a:buChar char="•"/>
            </a:pPr>
            <a:r>
              <a:rPr lang="en-US" sz="1200" dirty="0" smtClean="0">
                <a:latin typeface="Times New Roman" pitchFamily="18" charset="0"/>
                <a:cs typeface="Times New Roman" pitchFamily="18" charset="0"/>
              </a:rPr>
              <a:t>  Can be used to restrict access to vaults or ATMs, ensuring that only authorized staff can gain entry.</a:t>
            </a:r>
          </a:p>
          <a:p>
            <a:pPr lvl="1" algn="just">
              <a:buFont typeface="Arial" pitchFamily="34" charset="0"/>
              <a:buChar char="•"/>
            </a:pPr>
            <a:r>
              <a:rPr lang="en-US" sz="1200" dirty="0" smtClean="0">
                <a:latin typeface="Times New Roman" pitchFamily="18" charset="0"/>
                <a:cs typeface="Times New Roman" pitchFamily="18" charset="0"/>
              </a:rPr>
              <a:t>  Useful in securing examination halls, libraries, or restricted campus areas.</a:t>
            </a:r>
          </a:p>
          <a:p>
            <a:pPr lvl="1" algn="just">
              <a:buFont typeface="Arial" pitchFamily="34" charset="0"/>
              <a:buChar char="•"/>
            </a:pPr>
            <a:r>
              <a:rPr lang="en-US" sz="1200" dirty="0" smtClean="0">
                <a:latin typeface="Times New Roman" pitchFamily="18" charset="0"/>
                <a:cs typeface="Times New Roman" pitchFamily="18" charset="0"/>
              </a:rPr>
              <a:t>  Protects inventory and sensitive equipment by restricting access to authorized personnel in factories and plants.</a:t>
            </a:r>
          </a:p>
          <a:p>
            <a:pPr lvl="1" algn="just">
              <a:buFont typeface="Arial" pitchFamily="34" charset="0"/>
              <a:buChar char="•"/>
            </a:pPr>
            <a:r>
              <a:rPr lang="en-US" sz="1200" dirty="0" smtClean="0">
                <a:latin typeface="Times New Roman" pitchFamily="18" charset="0"/>
                <a:cs typeface="Times New Roman" pitchFamily="18" charset="0"/>
              </a:rPr>
              <a:t>  Ensures secure access to restricted areas such as drug storage rooms, operating theaters, or record rooms.</a:t>
            </a:r>
          </a:p>
          <a:p>
            <a:pPr algn="just">
              <a:buFont typeface="Arial" pitchFamily="34" charset="0"/>
              <a:buChar char="•"/>
            </a:pPr>
            <a:r>
              <a:rPr lang="en-US" sz="1200" dirty="0" smtClean="0">
                <a:latin typeface="Times New Roman" pitchFamily="18" charset="0"/>
                <a:cs typeface="Times New Roman" pitchFamily="18" charset="0"/>
              </a:rPr>
              <a:t>  Can be adapted for personal lockers, safes, or private storage units.</a:t>
            </a:r>
          </a:p>
          <a:p>
            <a:pPr lvl="1" algn="just"/>
            <a:endParaRPr lang="en-IN" sz="1200" dirty="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p:txBody>
      </p:sp>
      <p:sp>
        <p:nvSpPr>
          <p:cNvPr id="6" name="Footer Placeholder 5"/>
          <p:cNvSpPr>
            <a:spLocks noGrp="1"/>
          </p:cNvSpPr>
          <p:nvPr>
            <p:ph type="ftr" sz="quarter" idx="5"/>
          </p:nvPr>
        </p:nvSpPr>
        <p:spPr>
          <a:xfrm>
            <a:off x="2571369" y="10191234"/>
            <a:ext cx="2420112" cy="184666"/>
          </a:xfrm>
        </p:spPr>
        <p:txBody>
          <a:bodyPr/>
          <a:lstStyle/>
          <a:p>
            <a:r>
              <a:rPr lang="en-IN" sz="1200" dirty="0" smtClean="0"/>
              <a:t>20</a:t>
            </a:r>
            <a:endParaRPr lang="en-US" sz="12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27094" y="944314"/>
            <a:ext cx="3145455" cy="566181"/>
          </a:xfrm>
          <a:prstGeom prst="rect">
            <a:avLst/>
          </a:prstGeom>
        </p:spPr>
        <p:txBody>
          <a:bodyPr vert="horz" wrap="square" lIns="0" tIns="12065" rIns="0" bIns="0" rtlCol="0">
            <a:spAutoFit/>
          </a:bodyPr>
          <a:lstStyle/>
          <a:p>
            <a:pPr algn="ctr">
              <a:lnSpc>
                <a:spcPct val="100000"/>
              </a:lnSpc>
              <a:spcBef>
                <a:spcPts val="95"/>
              </a:spcBef>
            </a:pPr>
            <a:r>
              <a:rPr sz="2000" b="1" dirty="0">
                <a:latin typeface="Times New Roman"/>
                <a:cs typeface="Times New Roman"/>
              </a:rPr>
              <a:t>CHAPTER</a:t>
            </a:r>
            <a:r>
              <a:rPr sz="2000" b="1" spc="-35" dirty="0">
                <a:latin typeface="Times New Roman"/>
                <a:cs typeface="Times New Roman"/>
              </a:rPr>
              <a:t> </a:t>
            </a:r>
            <a:r>
              <a:rPr sz="2000" b="1" spc="-50" dirty="0">
                <a:latin typeface="Times New Roman"/>
                <a:cs typeface="Times New Roman"/>
              </a:rPr>
              <a:t>7</a:t>
            </a:r>
            <a:endParaRPr sz="2000">
              <a:latin typeface="Times New Roman"/>
              <a:cs typeface="Times New Roman"/>
            </a:endParaRPr>
          </a:p>
          <a:p>
            <a:pPr>
              <a:lnSpc>
                <a:spcPct val="100000"/>
              </a:lnSpc>
              <a:spcBef>
                <a:spcPts val="5"/>
              </a:spcBef>
            </a:pPr>
            <a:endParaRPr sz="1600">
              <a:latin typeface="Times New Roman"/>
              <a:cs typeface="Times New Roman"/>
            </a:endParaRPr>
          </a:p>
        </p:txBody>
      </p:sp>
      <p:sp>
        <p:nvSpPr>
          <p:cNvPr id="4" name="TextBox 3"/>
          <p:cNvSpPr txBox="1"/>
          <p:nvPr/>
        </p:nvSpPr>
        <p:spPr>
          <a:xfrm>
            <a:off x="1263650" y="1384300"/>
            <a:ext cx="5638800" cy="5016758"/>
          </a:xfrm>
          <a:prstGeom prst="rect">
            <a:avLst/>
          </a:prstGeom>
          <a:noFill/>
        </p:spPr>
        <p:txBody>
          <a:bodyPr wrap="square" rtlCol="0">
            <a:spAutoFit/>
          </a:bodyPr>
          <a:lstStyle/>
          <a:p>
            <a:pPr algn="ctr"/>
            <a:r>
              <a:rPr lang="en-IN" sz="2000" b="1" dirty="0" smtClean="0">
                <a:latin typeface="Times New Roman" pitchFamily="18" charset="0"/>
                <a:cs typeface="Times New Roman" pitchFamily="18" charset="0"/>
              </a:rPr>
              <a:t>CONCLUSION &amp;  FUTURE SCOPE</a:t>
            </a:r>
            <a:endParaRPr lang="en-IN" sz="2000" dirty="0" smtClean="0">
              <a:latin typeface="Times New Roman" pitchFamily="18" charset="0"/>
              <a:cs typeface="Times New Roman" pitchFamily="18" charset="0"/>
            </a:endParaRPr>
          </a:p>
          <a:p>
            <a:pPr algn="ctr"/>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Laser security systems are one of the most integral parts of modern security strategies. They offer better protection to residential and commercial properties. These systems provide a high degree of accuracy in detecting unauthorized entry or movement using laser beams that create an invisible barrier. The key benefits of laser security systems include large area coverage, minimal installation requirements, and rapid intruder detection, which can trigger alarms or alert security personnel. They are effective in high-security zones, warehouses, and the periphery of buildings in terms of additional protection from theft, vandalism, and unauthorized access. </a:t>
            </a:r>
          </a:p>
          <a:p>
            <a:pPr algn="just"/>
            <a:endParaRPr lang="en-US" sz="1200" dirty="0" smtClean="0">
              <a:latin typeface="Times New Roman" pitchFamily="18" charset="0"/>
              <a:cs typeface="Times New Roman" pitchFamily="18" charset="0"/>
            </a:endParaRPr>
          </a:p>
          <a:p>
            <a:pPr algn="just"/>
            <a:r>
              <a:rPr lang="en-US" sz="1200" dirty="0" smtClean="0">
                <a:latin typeface="Times New Roman" pitchFamily="18" charset="0"/>
                <a:cs typeface="Times New Roman" pitchFamily="18" charset="0"/>
              </a:rPr>
              <a:t>Automatic operation and low maintenance needs ensure that they are efficient and cost-effective in the long run. Laser security systems have become vital in safeguarding assets and properties and should be encouraged to increase their spread. The future for laser security systems is looking positive, as it continues its rapid growth with developments and increasing demand for smart solutions in security. This smart security system will grow much more intelligent, employing both AI and IOT technology, to achieve precise detection along with the reduction of false alarms. Laser security devices will also be integrated into other security devices, thus creating a more cohesive reaction. Future innovations are going to make laser beams more efficient, thereby ensuring greater coverage and better accuracy in detection. Wireless technology will make installation and subsequent maintenance much easier, including in older or remote buildings. The next generation laser security system will be much more energy-efficient and focused on the use of eco-friendly material, smarter, cost-effective and environmentally friendly without compromising protection. </a:t>
            </a:r>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endParaRPr lang="en-US" sz="1200" dirty="0">
              <a:latin typeface="Times New Roman" pitchFamily="18" charset="0"/>
              <a:cs typeface="Times New Roman" pitchFamily="18" charset="0"/>
            </a:endParaRPr>
          </a:p>
        </p:txBody>
      </p:sp>
      <p:sp>
        <p:nvSpPr>
          <p:cNvPr id="5" name="Footer Placeholder 4"/>
          <p:cNvSpPr>
            <a:spLocks noGrp="1"/>
          </p:cNvSpPr>
          <p:nvPr>
            <p:ph type="ftr" sz="quarter" idx="5"/>
          </p:nvPr>
        </p:nvSpPr>
        <p:spPr>
          <a:xfrm>
            <a:off x="2571369" y="10191234"/>
            <a:ext cx="2420112" cy="184666"/>
          </a:xfrm>
        </p:spPr>
        <p:txBody>
          <a:bodyPr/>
          <a:lstStyle/>
          <a:p>
            <a:r>
              <a:rPr lang="en-IN" sz="1200" dirty="0" smtClean="0"/>
              <a:t>21</a:t>
            </a:r>
            <a:endParaRPr lang="en-US" sz="12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91608" y="945934"/>
            <a:ext cx="2005842" cy="319959"/>
          </a:xfrm>
          <a:prstGeom prst="rect">
            <a:avLst/>
          </a:prstGeom>
        </p:spPr>
        <p:txBody>
          <a:bodyPr vert="horz" wrap="square" lIns="0" tIns="12065" rIns="0" bIns="0" rtlCol="0">
            <a:spAutoFit/>
          </a:bodyPr>
          <a:lstStyle/>
          <a:p>
            <a:pPr marL="12700" algn="l">
              <a:lnSpc>
                <a:spcPct val="100000"/>
              </a:lnSpc>
              <a:spcBef>
                <a:spcPts val="95"/>
              </a:spcBef>
            </a:pPr>
            <a:r>
              <a:rPr sz="2000" b="1" spc="-10" smtClean="0">
                <a:latin typeface="Times New Roman"/>
                <a:cs typeface="Times New Roman"/>
              </a:rPr>
              <a:t>REFERENCES</a:t>
            </a:r>
            <a:endParaRPr sz="2000">
              <a:latin typeface="Times New Roman"/>
              <a:cs typeface="Times New Roman"/>
            </a:endParaRPr>
          </a:p>
        </p:txBody>
      </p:sp>
      <p:sp>
        <p:nvSpPr>
          <p:cNvPr id="5" name="TextBox 4"/>
          <p:cNvSpPr txBox="1"/>
          <p:nvPr/>
        </p:nvSpPr>
        <p:spPr>
          <a:xfrm>
            <a:off x="1263650" y="1612900"/>
            <a:ext cx="5334000" cy="6022161"/>
          </a:xfrm>
          <a:prstGeom prst="rect">
            <a:avLst/>
          </a:prstGeom>
          <a:noFill/>
        </p:spPr>
        <p:txBody>
          <a:bodyPr wrap="square" rtlCol="0">
            <a:spAutoFit/>
          </a:bodyPr>
          <a:lstStyle/>
          <a:p>
            <a:pPr marL="12700">
              <a:lnSpc>
                <a:spcPct val="100000"/>
              </a:lnSpc>
              <a:spcBef>
                <a:spcPts val="100"/>
              </a:spcBef>
            </a:pPr>
            <a:r>
              <a:rPr lang="en-IN" sz="1200" dirty="0" smtClean="0">
                <a:latin typeface="Times New Roman" pitchFamily="18" charset="0"/>
                <a:cs typeface="Times New Roman" pitchFamily="18" charset="0"/>
              </a:rPr>
              <a:t>[1] </a:t>
            </a:r>
            <a:r>
              <a:rPr lang="en-US" sz="1200" spc="-25" dirty="0" smtClean="0">
                <a:latin typeface="Times New Roman"/>
                <a:cs typeface="Times New Roman"/>
              </a:rPr>
              <a:t>B. </a:t>
            </a:r>
            <a:r>
              <a:rPr lang="en-US" sz="1200" spc="-25" dirty="0" err="1" smtClean="0">
                <a:latin typeface="Times New Roman"/>
                <a:cs typeface="Times New Roman"/>
              </a:rPr>
              <a:t>Giri</a:t>
            </a:r>
            <a:r>
              <a:rPr lang="en-US" sz="1200" spc="-25" dirty="0" smtClean="0">
                <a:latin typeface="Times New Roman"/>
                <a:cs typeface="Times New Roman"/>
              </a:rPr>
              <a:t> </a:t>
            </a:r>
            <a:r>
              <a:rPr lang="en-US" sz="1200" spc="-25" dirty="0" err="1" smtClean="0">
                <a:latin typeface="Times New Roman"/>
                <a:cs typeface="Times New Roman"/>
              </a:rPr>
              <a:t>raju</a:t>
            </a:r>
            <a:r>
              <a:rPr lang="en-US" sz="1200" spc="-25" dirty="0" smtClean="0">
                <a:latin typeface="Times New Roman"/>
                <a:cs typeface="Times New Roman"/>
              </a:rPr>
              <a:t>, T. </a:t>
            </a:r>
            <a:r>
              <a:rPr lang="en-US" sz="1200" spc="-25" dirty="0" err="1" smtClean="0">
                <a:latin typeface="Times New Roman"/>
                <a:cs typeface="Times New Roman"/>
              </a:rPr>
              <a:t>Snehitha</a:t>
            </a:r>
            <a:r>
              <a:rPr lang="en-US" sz="1200" spc="-25" dirty="0" smtClean="0">
                <a:latin typeface="Times New Roman"/>
                <a:cs typeface="Times New Roman"/>
              </a:rPr>
              <a:t>, P. </a:t>
            </a:r>
            <a:r>
              <a:rPr lang="en-US" sz="1200" spc="-25" dirty="0" err="1" smtClean="0">
                <a:latin typeface="Times New Roman"/>
                <a:cs typeface="Times New Roman"/>
              </a:rPr>
              <a:t>Keerthana</a:t>
            </a:r>
            <a:r>
              <a:rPr lang="en-US" sz="1200" spc="-25" dirty="0" smtClean="0">
                <a:latin typeface="Times New Roman"/>
                <a:cs typeface="Times New Roman"/>
              </a:rPr>
              <a:t>,  K . </a:t>
            </a:r>
            <a:r>
              <a:rPr lang="en-US" sz="1200" spc="-25" dirty="0" err="1" smtClean="0">
                <a:latin typeface="Times New Roman"/>
                <a:cs typeface="Times New Roman"/>
              </a:rPr>
              <a:t>Bayapu</a:t>
            </a:r>
            <a:r>
              <a:rPr lang="en-US" sz="1200" spc="-25" dirty="0" smtClean="0">
                <a:latin typeface="Times New Roman"/>
                <a:cs typeface="Times New Roman"/>
              </a:rPr>
              <a:t> Reddy; Laser Light Security System; International Research Journal of Modernization in Engineering Technology  and Science; Published Date : June – 2022</a:t>
            </a:r>
          </a:p>
          <a:p>
            <a:pPr marL="12700">
              <a:lnSpc>
                <a:spcPct val="100000"/>
              </a:lnSpc>
              <a:spcBef>
                <a:spcPts val="100"/>
              </a:spcBef>
            </a:pPr>
            <a:endParaRPr lang="en-IN" sz="1200" spc="-25" dirty="0">
              <a:latin typeface="Times New Roman"/>
              <a:cs typeface="Times New Roman"/>
            </a:endParaRPr>
          </a:p>
          <a:p>
            <a:pPr marL="12700">
              <a:lnSpc>
                <a:spcPct val="100000"/>
              </a:lnSpc>
              <a:spcBef>
                <a:spcPts val="100"/>
              </a:spcBef>
            </a:pPr>
            <a:r>
              <a:rPr lang="en-IN" sz="1200" spc="-25" dirty="0" smtClean="0">
                <a:latin typeface="Times New Roman"/>
                <a:cs typeface="Times New Roman"/>
              </a:rPr>
              <a:t>[2] </a:t>
            </a:r>
            <a:r>
              <a:rPr lang="en-US" sz="1200" dirty="0" err="1" smtClean="0">
                <a:latin typeface="Times New Roman" pitchFamily="18" charset="0"/>
                <a:cs typeface="Times New Roman" pitchFamily="18" charset="0"/>
              </a:rPr>
              <a:t>Tatya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Bhimrao</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Shingate</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Vijaya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Ramdas</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Umap</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Abhijeet</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Abhiman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Rathod</a:t>
            </a:r>
            <a:r>
              <a:rPr lang="en-US" sz="1200" dirty="0" smtClean="0">
                <a:latin typeface="Times New Roman" pitchFamily="18" charset="0"/>
                <a:cs typeface="Times New Roman" pitchFamily="18" charset="0"/>
              </a:rPr>
              <a:t>, Prof. </a:t>
            </a:r>
            <a:r>
              <a:rPr lang="en-US" sz="1200" dirty="0" err="1" smtClean="0">
                <a:latin typeface="Times New Roman" pitchFamily="18" charset="0"/>
                <a:cs typeface="Times New Roman" pitchFamily="18" charset="0"/>
              </a:rPr>
              <a:t>Santosh</a:t>
            </a:r>
            <a:r>
              <a:rPr lang="en-US" sz="1200" dirty="0" smtClean="0">
                <a:latin typeface="Times New Roman" pitchFamily="18" charset="0"/>
                <a:cs typeface="Times New Roman" pitchFamily="18" charset="0"/>
              </a:rPr>
              <a:t> H </a:t>
            </a:r>
            <a:r>
              <a:rPr lang="en-US" sz="1200" dirty="0" err="1" smtClean="0">
                <a:latin typeface="Times New Roman" pitchFamily="18" charset="0"/>
                <a:cs typeface="Times New Roman" pitchFamily="18" charset="0"/>
              </a:rPr>
              <a:t>Lavate</a:t>
            </a:r>
            <a:r>
              <a:rPr lang="en-US" sz="1200" dirty="0" smtClean="0">
                <a:latin typeface="Times New Roman" pitchFamily="18" charset="0"/>
                <a:cs typeface="Times New Roman" pitchFamily="18" charset="0"/>
              </a:rPr>
              <a:t>; A Laser and Computer Vision-Based Security System;  International Engineering Research Journal (IERJ) ; </a:t>
            </a:r>
            <a:r>
              <a:rPr lang="en-US" sz="1200" dirty="0" err="1" smtClean="0">
                <a:latin typeface="Times New Roman" pitchFamily="18" charset="0"/>
                <a:cs typeface="Times New Roman" pitchFamily="18" charset="0"/>
              </a:rPr>
              <a:t>Publishedd</a:t>
            </a:r>
            <a:r>
              <a:rPr lang="en-US" sz="1200" dirty="0" smtClean="0">
                <a:latin typeface="Times New Roman" pitchFamily="18" charset="0"/>
                <a:cs typeface="Times New Roman" pitchFamily="18" charset="0"/>
              </a:rPr>
              <a:t> Date : 11/03/ 2020</a:t>
            </a:r>
            <a:endParaRPr lang="en-US" sz="1200" spc="-25" dirty="0" smtClean="0">
              <a:latin typeface="Times New Roman" pitchFamily="18" charset="0"/>
              <a:cs typeface="Times New Roman" pitchFamily="18" charset="0"/>
            </a:endParaRPr>
          </a:p>
          <a:p>
            <a:pPr marL="12700">
              <a:lnSpc>
                <a:spcPct val="100000"/>
              </a:lnSpc>
              <a:spcBef>
                <a:spcPts val="100"/>
              </a:spcBef>
            </a:pPr>
            <a:endParaRPr lang="en-IN" sz="1200" spc="-25" dirty="0" smtClean="0">
              <a:latin typeface="Times New Roman"/>
              <a:cs typeface="Times New Roman"/>
            </a:endParaRPr>
          </a:p>
          <a:p>
            <a:pPr marL="12700">
              <a:lnSpc>
                <a:spcPct val="100000"/>
              </a:lnSpc>
              <a:spcBef>
                <a:spcPts val="100"/>
              </a:spcBef>
            </a:pPr>
            <a:r>
              <a:rPr lang="en-IN" sz="1200" spc="-25" dirty="0" smtClean="0">
                <a:latin typeface="Times New Roman"/>
                <a:cs typeface="Times New Roman"/>
              </a:rPr>
              <a:t>[3]</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Sudarshan</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Harshitha</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Janhavi</a:t>
            </a:r>
            <a:r>
              <a:rPr lang="en-US" sz="1200" dirty="0" smtClean="0">
                <a:latin typeface="Times New Roman" pitchFamily="18" charset="0"/>
                <a:cs typeface="Times New Roman" pitchFamily="18" charset="0"/>
              </a:rPr>
              <a:t> ;</a:t>
            </a:r>
            <a:r>
              <a:rPr lang="en-US" sz="1200" dirty="0" smtClean="0"/>
              <a:t> </a:t>
            </a:r>
            <a:r>
              <a:rPr lang="en-US" sz="1200" dirty="0" smtClean="0">
                <a:latin typeface="Times New Roman" pitchFamily="18" charset="0"/>
                <a:cs typeface="Times New Roman" pitchFamily="18" charset="0"/>
              </a:rPr>
              <a:t>Laser Based Security System</a:t>
            </a:r>
            <a:r>
              <a:rPr lang="en-IN" sz="1200" spc="-25" dirty="0" smtClean="0">
                <a:latin typeface="Times New Roman"/>
                <a:cs typeface="Times New Roman"/>
              </a:rPr>
              <a:t> ; </a:t>
            </a:r>
            <a:r>
              <a:rPr lang="en-US" sz="1200" dirty="0" smtClean="0">
                <a:latin typeface="Times New Roman" pitchFamily="18" charset="0"/>
                <a:cs typeface="Times New Roman" pitchFamily="18" charset="0"/>
              </a:rPr>
              <a:t>International Advanced Research Journal in Science, Engineering and Technology </a:t>
            </a:r>
            <a:r>
              <a:rPr lang="en-US" sz="1200" dirty="0">
                <a:latin typeface="Times New Roman" pitchFamily="18" charset="0"/>
                <a:cs typeface="Times New Roman" pitchFamily="18" charset="0"/>
              </a:rPr>
              <a:t>;</a:t>
            </a:r>
            <a:r>
              <a:rPr lang="en-US" sz="1200" dirty="0" smtClean="0">
                <a:latin typeface="Times New Roman" pitchFamily="18" charset="0"/>
                <a:cs typeface="Times New Roman" pitchFamily="18" charset="0"/>
              </a:rPr>
              <a:t>Published Date: July – 2021</a:t>
            </a:r>
          </a:p>
          <a:p>
            <a:pPr marL="12700">
              <a:lnSpc>
                <a:spcPct val="100000"/>
              </a:lnSpc>
              <a:spcBef>
                <a:spcPts val="100"/>
              </a:spcBef>
            </a:pPr>
            <a:endParaRPr lang="en-IN" sz="1200" spc="-25" dirty="0">
              <a:latin typeface="Times New Roman" pitchFamily="18" charset="0"/>
              <a:cs typeface="Times New Roman" pitchFamily="18" charset="0"/>
            </a:endParaRPr>
          </a:p>
          <a:p>
            <a:pPr marL="12700">
              <a:lnSpc>
                <a:spcPct val="100000"/>
              </a:lnSpc>
              <a:spcBef>
                <a:spcPts val="100"/>
              </a:spcBef>
            </a:pPr>
            <a:r>
              <a:rPr lang="en-IN" sz="1200" spc="-25" dirty="0" smtClean="0">
                <a:latin typeface="Times New Roman" pitchFamily="18" charset="0"/>
                <a:cs typeface="Times New Roman" pitchFamily="18" charset="0"/>
              </a:rPr>
              <a:t>[4] </a:t>
            </a:r>
            <a:r>
              <a:rPr lang="en-US" sz="1200" dirty="0" smtClean="0">
                <a:latin typeface="Times New Roman" pitchFamily="18" charset="0"/>
                <a:cs typeface="Times New Roman" pitchFamily="18" charset="0"/>
              </a:rPr>
              <a:t>Ravi </a:t>
            </a:r>
            <a:r>
              <a:rPr lang="en-US" sz="1200" dirty="0" err="1" smtClean="0">
                <a:latin typeface="Times New Roman" pitchFamily="18" charset="0"/>
                <a:cs typeface="Times New Roman" pitchFamily="18" charset="0"/>
              </a:rPr>
              <a:t>shankar</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Sudha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Manjesh</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Sudarshan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Subhash</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Surendra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kumar</a:t>
            </a:r>
            <a:r>
              <a:rPr lang="en-IN" sz="1200" spc="-25" dirty="0" smtClean="0">
                <a:latin typeface="Times New Roman" pitchFamily="18" charset="0"/>
                <a:cs typeface="Times New Roman" pitchFamily="18" charset="0"/>
              </a:rPr>
              <a:t>;  Implementation of  Laser Security System; </a:t>
            </a:r>
            <a:r>
              <a:rPr lang="en-US" sz="1200" dirty="0" smtClean="0">
                <a:latin typeface="Times New Roman" pitchFamily="18" charset="0"/>
                <a:cs typeface="Times New Roman" pitchFamily="18" charset="0"/>
              </a:rPr>
              <a:t>International </a:t>
            </a:r>
            <a:r>
              <a:rPr lang="en-US" sz="1200" dirty="0">
                <a:latin typeface="Times New Roman" pitchFamily="18" charset="0"/>
                <a:cs typeface="Times New Roman" pitchFamily="18" charset="0"/>
              </a:rPr>
              <a:t>Journal of Advance Research and Innovative Ideas in </a:t>
            </a:r>
            <a:r>
              <a:rPr lang="en-US" sz="1200" dirty="0" smtClean="0">
                <a:latin typeface="Times New Roman" pitchFamily="18" charset="0"/>
                <a:cs typeface="Times New Roman" pitchFamily="18" charset="0"/>
              </a:rPr>
              <a:t>Education; </a:t>
            </a:r>
          </a:p>
          <a:p>
            <a:pPr marL="12700">
              <a:lnSpc>
                <a:spcPct val="100000"/>
              </a:lnSpc>
              <a:spcBef>
                <a:spcPts val="100"/>
              </a:spcBef>
            </a:pPr>
            <a:r>
              <a:rPr lang="en-IN" sz="1200" spc="-25" dirty="0" smtClean="0">
                <a:latin typeface="Times New Roman" pitchFamily="18" charset="0"/>
                <a:cs typeface="Times New Roman" pitchFamily="18" charset="0"/>
              </a:rPr>
              <a:t>Published Date: March  - 2024</a:t>
            </a:r>
          </a:p>
          <a:p>
            <a:pPr marL="12700">
              <a:lnSpc>
                <a:spcPct val="100000"/>
              </a:lnSpc>
              <a:spcBef>
                <a:spcPts val="100"/>
              </a:spcBef>
            </a:pPr>
            <a:endParaRPr lang="en-IN" sz="1200" spc="-25" dirty="0">
              <a:latin typeface="Times New Roman" pitchFamily="18" charset="0"/>
              <a:cs typeface="Times New Roman" pitchFamily="18" charset="0"/>
            </a:endParaRPr>
          </a:p>
          <a:p>
            <a:pPr marL="12700">
              <a:lnSpc>
                <a:spcPct val="100000"/>
              </a:lnSpc>
              <a:spcBef>
                <a:spcPts val="100"/>
              </a:spcBef>
            </a:pPr>
            <a:r>
              <a:rPr lang="en-IN" sz="1200" spc="-25" dirty="0" smtClean="0">
                <a:latin typeface="Times New Roman" pitchFamily="18" charset="0"/>
                <a:cs typeface="Times New Roman" pitchFamily="18" charset="0"/>
              </a:rPr>
              <a:t>[5]</a:t>
            </a:r>
            <a:r>
              <a:rPr lang="en-US" sz="1200" spc="-25" dirty="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Ajit</a:t>
            </a:r>
            <a:r>
              <a:rPr lang="en-US" sz="1200" dirty="0" smtClean="0">
                <a:latin typeface="Times New Roman" pitchFamily="18" charset="0"/>
                <a:cs typeface="Times New Roman" pitchFamily="18" charset="0"/>
              </a:rPr>
              <a:t> Kumar Patro1, </a:t>
            </a:r>
            <a:r>
              <a:rPr lang="en-US" sz="1200" dirty="0" err="1" smtClean="0">
                <a:latin typeface="Times New Roman" pitchFamily="18" charset="0"/>
                <a:cs typeface="Times New Roman" pitchFamily="18" charset="0"/>
              </a:rPr>
              <a:t>Kanha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Mirdha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Subha</a:t>
            </a:r>
            <a:r>
              <a:rPr lang="en-US" sz="1200" dirty="0" smtClean="0">
                <a:latin typeface="Times New Roman" pitchFamily="18" charset="0"/>
                <a:cs typeface="Times New Roman" pitchFamily="18" charset="0"/>
              </a:rPr>
              <a:t> Prasad </a:t>
            </a:r>
            <a:r>
              <a:rPr lang="en-US" sz="1200" dirty="0" err="1" smtClean="0">
                <a:latin typeface="Times New Roman" pitchFamily="18" charset="0"/>
                <a:cs typeface="Times New Roman" pitchFamily="18" charset="0"/>
              </a:rPr>
              <a:t>Behera</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Piyush</a:t>
            </a:r>
            <a:r>
              <a:rPr lang="en-US" sz="1200" dirty="0" smtClean="0">
                <a:latin typeface="Times New Roman" pitchFamily="18" charset="0"/>
                <a:cs typeface="Times New Roman" pitchFamily="18" charset="0"/>
              </a:rPr>
              <a:t> Patel , </a:t>
            </a:r>
            <a:r>
              <a:rPr lang="en-US" sz="1200" dirty="0" err="1" smtClean="0">
                <a:latin typeface="Times New Roman" pitchFamily="18" charset="0"/>
                <a:cs typeface="Times New Roman" pitchFamily="18" charset="0"/>
              </a:rPr>
              <a:t>Abhishek</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Tripathy</a:t>
            </a:r>
            <a:r>
              <a:rPr lang="en-IN" sz="1200" spc="-25" dirty="0" smtClean="0">
                <a:latin typeface="Times New Roman" pitchFamily="18" charset="0"/>
                <a:cs typeface="Times New Roman" pitchFamily="18" charset="0"/>
              </a:rPr>
              <a:t>; Design and Analysis of LDR Based Laser Security System;</a:t>
            </a:r>
            <a:r>
              <a:rPr lang="en-US" sz="1200" dirty="0" smtClean="0"/>
              <a:t> </a:t>
            </a:r>
            <a:r>
              <a:rPr lang="en-US" sz="1200" dirty="0" smtClean="0">
                <a:latin typeface="Times New Roman" pitchFamily="18" charset="0"/>
                <a:cs typeface="Times New Roman" pitchFamily="18" charset="0"/>
              </a:rPr>
              <a:t>International Research Journal of Engineering and Technology (IRJET); </a:t>
            </a:r>
            <a:r>
              <a:rPr lang="en-IN" sz="1200" spc="-25" dirty="0" smtClean="0">
                <a:latin typeface="Times New Roman" pitchFamily="18" charset="0"/>
                <a:cs typeface="Times New Roman" pitchFamily="18" charset="0"/>
                <a:hlinkClick r:id="rId2"/>
              </a:rPr>
              <a:t>www.irjet.net</a:t>
            </a:r>
            <a:r>
              <a:rPr lang="en-IN" sz="1200" spc="-25" dirty="0" smtClean="0">
                <a:latin typeface="Times New Roman" pitchFamily="18" charset="0"/>
                <a:cs typeface="Times New Roman" pitchFamily="18" charset="0"/>
              </a:rPr>
              <a:t>; Published Date : April – 2024</a:t>
            </a:r>
          </a:p>
          <a:p>
            <a:pPr marL="12700">
              <a:lnSpc>
                <a:spcPct val="100000"/>
              </a:lnSpc>
              <a:spcBef>
                <a:spcPts val="100"/>
              </a:spcBef>
            </a:pPr>
            <a:endParaRPr lang="en-IN" sz="1200" spc="-25" dirty="0">
              <a:latin typeface="Times New Roman" pitchFamily="18" charset="0"/>
              <a:cs typeface="Times New Roman" pitchFamily="18" charset="0"/>
            </a:endParaRPr>
          </a:p>
          <a:p>
            <a:pPr marL="12700">
              <a:lnSpc>
                <a:spcPct val="100000"/>
              </a:lnSpc>
              <a:spcBef>
                <a:spcPts val="100"/>
              </a:spcBef>
            </a:pPr>
            <a:r>
              <a:rPr lang="en-IN" sz="1200" spc="-25" dirty="0" smtClean="0">
                <a:latin typeface="Times New Roman" pitchFamily="18" charset="0"/>
                <a:cs typeface="Times New Roman" pitchFamily="18" charset="0"/>
              </a:rPr>
              <a:t>[6]  </a:t>
            </a:r>
            <a:r>
              <a:rPr lang="en-IN" sz="1200" spc="-25" dirty="0" err="1" smtClean="0">
                <a:latin typeface="Times New Roman" pitchFamily="18" charset="0"/>
                <a:cs typeface="Times New Roman" pitchFamily="18" charset="0"/>
              </a:rPr>
              <a:t>Arduino</a:t>
            </a:r>
            <a:r>
              <a:rPr lang="en-IN" sz="1200" spc="-25" dirty="0" smtClean="0">
                <a:latin typeface="Times New Roman" pitchFamily="18" charset="0"/>
                <a:cs typeface="Times New Roman" pitchFamily="18" charset="0"/>
              </a:rPr>
              <a:t> Library  - https://electronicstree.com/new-arduino-uno-r3-free-proteus-library/</a:t>
            </a:r>
          </a:p>
          <a:p>
            <a:pPr marL="12700">
              <a:lnSpc>
                <a:spcPct val="100000"/>
              </a:lnSpc>
              <a:spcBef>
                <a:spcPts val="100"/>
              </a:spcBef>
            </a:pPr>
            <a:r>
              <a:rPr lang="en-IN" sz="1200" spc="-25" dirty="0">
                <a:latin typeface="Times New Roman" pitchFamily="18" charset="0"/>
                <a:cs typeface="Times New Roman" pitchFamily="18" charset="0"/>
              </a:rPr>
              <a:t> </a:t>
            </a:r>
            <a:r>
              <a:rPr lang="en-IN" sz="1200" spc="-25" dirty="0" smtClean="0">
                <a:latin typeface="Times New Roman" pitchFamily="18" charset="0"/>
                <a:cs typeface="Times New Roman" pitchFamily="18" charset="0"/>
              </a:rPr>
              <a:t>       Relay Library - </a:t>
            </a:r>
            <a:r>
              <a:rPr lang="en-IN" sz="1200" spc="-25" dirty="0" smtClean="0">
                <a:latin typeface="Times New Roman" pitchFamily="18" charset="0"/>
                <a:cs typeface="Times New Roman" pitchFamily="18" charset="0"/>
                <a:hlinkClick r:id="rId3"/>
              </a:rPr>
              <a:t>https://electronicstree.com/arduino-relay-modules-for-proteus/</a:t>
            </a:r>
            <a:endParaRPr lang="en-IN" sz="1200" spc="-25" dirty="0" smtClean="0">
              <a:latin typeface="Times New Roman" pitchFamily="18" charset="0"/>
              <a:cs typeface="Times New Roman" pitchFamily="18" charset="0"/>
            </a:endParaRPr>
          </a:p>
          <a:p>
            <a:pPr marL="12700">
              <a:lnSpc>
                <a:spcPct val="100000"/>
              </a:lnSpc>
              <a:spcBef>
                <a:spcPts val="100"/>
              </a:spcBef>
            </a:pPr>
            <a:r>
              <a:rPr lang="en-IN" sz="1200" spc="-25" dirty="0">
                <a:latin typeface="Times New Roman" pitchFamily="18" charset="0"/>
                <a:cs typeface="Times New Roman" pitchFamily="18" charset="0"/>
              </a:rPr>
              <a:t> </a:t>
            </a:r>
            <a:r>
              <a:rPr lang="en-IN" sz="1200" spc="-25" dirty="0" smtClean="0">
                <a:latin typeface="Times New Roman" pitchFamily="18" charset="0"/>
                <a:cs typeface="Times New Roman" pitchFamily="18" charset="0"/>
              </a:rPr>
              <a:t>       Fingerprint sensor Library - </a:t>
            </a:r>
            <a:r>
              <a:rPr lang="en-IN" sz="1200" spc="-25" dirty="0" smtClean="0">
                <a:latin typeface="Times New Roman" pitchFamily="18" charset="0"/>
                <a:cs typeface="Times New Roman" pitchFamily="18" charset="0"/>
                <a:hlinkClick r:id="rId4"/>
              </a:rPr>
              <a:t>https://www.arduinolibraries.info/libraries/adafruit-fingerprint-sensor-library</a:t>
            </a:r>
            <a:endParaRPr lang="en-IN" sz="1200" spc="-25" dirty="0" smtClean="0">
              <a:latin typeface="Times New Roman" pitchFamily="18" charset="0"/>
              <a:cs typeface="Times New Roman" pitchFamily="18" charset="0"/>
            </a:endParaRPr>
          </a:p>
          <a:p>
            <a:pPr marL="12700">
              <a:lnSpc>
                <a:spcPct val="100000"/>
              </a:lnSpc>
              <a:spcBef>
                <a:spcPts val="100"/>
              </a:spcBef>
            </a:pPr>
            <a:endParaRPr lang="en-IN" sz="1200" spc="-25" dirty="0">
              <a:latin typeface="Times New Roman" pitchFamily="18" charset="0"/>
              <a:cs typeface="Times New Roman" pitchFamily="18" charset="0"/>
            </a:endParaRPr>
          </a:p>
          <a:p>
            <a:pPr marL="12700">
              <a:lnSpc>
                <a:spcPct val="100000"/>
              </a:lnSpc>
              <a:spcBef>
                <a:spcPts val="100"/>
              </a:spcBef>
            </a:pPr>
            <a:r>
              <a:rPr lang="en-IN" sz="1200" spc="-25" dirty="0" smtClean="0">
                <a:latin typeface="Times New Roman" pitchFamily="18" charset="0"/>
                <a:cs typeface="Times New Roman" pitchFamily="18" charset="0"/>
              </a:rPr>
              <a:t>[7]  </a:t>
            </a:r>
            <a:endParaRPr lang="en-US" sz="1200" spc="-25" dirty="0" smtClean="0">
              <a:latin typeface="Times New Roman" pitchFamily="18" charset="0"/>
              <a:cs typeface="Times New Roman" pitchFamily="18" charset="0"/>
            </a:endParaRPr>
          </a:p>
          <a:p>
            <a:pPr marL="12700">
              <a:lnSpc>
                <a:spcPct val="100000"/>
              </a:lnSpc>
              <a:spcBef>
                <a:spcPts val="100"/>
              </a:spcBef>
            </a:pPr>
            <a:r>
              <a:rPr lang="en-US" sz="1200" spc="-25" dirty="0" smtClean="0">
                <a:latin typeface="Times New Roman"/>
                <a:cs typeface="Times New Roman"/>
              </a:rPr>
              <a:t>        </a:t>
            </a:r>
            <a:endParaRPr lang="en-US" sz="1200" dirty="0" smtClean="0">
              <a:latin typeface="Times New Roman"/>
              <a:cs typeface="Times New Roman"/>
            </a:endParaRPr>
          </a:p>
          <a:p>
            <a:endParaRPr lang="en-US" sz="1200"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5"/>
          <a:srcRect/>
          <a:stretch>
            <a:fillRect/>
          </a:stretch>
        </p:blipFill>
        <p:spPr bwMode="auto">
          <a:xfrm>
            <a:off x="1720850" y="6946900"/>
            <a:ext cx="1935249" cy="2209800"/>
          </a:xfrm>
          <a:prstGeom prst="rect">
            <a:avLst/>
          </a:prstGeom>
          <a:noFill/>
          <a:ln w="9525">
            <a:noFill/>
            <a:miter lim="800000"/>
            <a:headEnd/>
            <a:tailEnd/>
          </a:ln>
          <a:effectLst/>
        </p:spPr>
      </p:pic>
      <p:sp>
        <p:nvSpPr>
          <p:cNvPr id="6" name="Footer Placeholder 5"/>
          <p:cNvSpPr>
            <a:spLocks noGrp="1"/>
          </p:cNvSpPr>
          <p:nvPr>
            <p:ph type="ftr" sz="quarter" idx="5"/>
          </p:nvPr>
        </p:nvSpPr>
        <p:spPr>
          <a:xfrm>
            <a:off x="2571369" y="10191234"/>
            <a:ext cx="2420112" cy="184666"/>
          </a:xfrm>
        </p:spPr>
        <p:txBody>
          <a:bodyPr/>
          <a:lstStyle/>
          <a:p>
            <a:r>
              <a:rPr lang="en-IN" sz="1200" dirty="0" smtClean="0"/>
              <a:t>22</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1867</TotalTime>
  <Words>4688</Words>
  <Application>Microsoft Office PowerPoint</Application>
  <PresentationFormat>Custom</PresentationFormat>
  <Paragraphs>488</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5.2    Hardware Implementation</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ECE DEPT</dc:creator>
  <cp:lastModifiedBy>Rishwanth Sai Singirikonda</cp:lastModifiedBy>
  <cp:revision>128</cp:revision>
  <dcterms:created xsi:type="dcterms:W3CDTF">2024-11-16T16:10:38Z</dcterms:created>
  <dcterms:modified xsi:type="dcterms:W3CDTF">2024-12-18T04:59:54Z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2024-11-06T00:00:00Z</vt:filetime>
  </property>
  <property fmtid="{D5CDD505-2E9C-101B-9397-08002B2CF9AE}" pid="3" name="Creator">
    <vt:lpwstr>Microsoft® Word 2021</vt:lpwstr>
  </property>
  <property fmtid="{D5CDD505-2E9C-101B-9397-08002B2CF9AE}" pid="4" name="LastSaved">
    <vt:filetime>2024-11-16T00:00:00Z</vt:filetime>
  </property>
  <property fmtid="{D5CDD505-2E9C-101B-9397-08002B2CF9AE}" pid="5" name="Producer">
    <vt:lpwstr>3-Heights(TM) PDF Security Shell 4.8.25.2 (http://www.pdf-tools.com)</vt:lpwstr>
  </property>
</Properties>
</file>